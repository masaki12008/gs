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これからの若穂の学校を考える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子どもたちの未来と、地域のこれからを一緒に考えるために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学校の数を決める前に、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どんな学びを残したいか。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41248" y="50292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若穂地区小中学校再編検討委員会／長野市教育委員会事務局 学校教育課（表記は要確認）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今日の説明会で共有したいこと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64008" cy="169164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6276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現状を知る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2688" y="2121408"/>
            <a:ext cx="49194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児童生徒数・施設の状況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463040"/>
            <a:ext cx="64008" cy="169164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6276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課題を共有する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01968" y="2121408"/>
            <a:ext cx="49194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教育環境・通学・地域への影響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520440"/>
            <a:ext cx="64008" cy="169164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6850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選択肢を比べる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" y="4178808"/>
            <a:ext cx="49194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現状維持から再編まで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352044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520440"/>
            <a:ext cx="64008" cy="169164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36850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意見を寄せる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01968" y="4178808"/>
            <a:ext cx="49194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大切にしたいこと・懸念点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599846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本資料は検討用の案です。再編方式・校地・実施時期が決定したことを示すものではありません。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検討の出発点｜誰のための学校再編か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664208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554480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最優先は、子どもたちの学びと育ち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313432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小規模校の良さを残し、課題を丁寧に考える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68680" y="3182112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072384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通学の安全と、地域のつながりを守る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68680" y="3941064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831336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結論を急がず、比較可能な情報をそろえる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若穂地区の3小学校｜児童数の見通し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令和8年度 → 令和14年度（教育委員会推計）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綿内小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377440" y="1627632"/>
            <a:ext cx="6949440" cy="301752"/>
          </a:xfrm>
          <a:prstGeom prst="rect">
            <a:avLst/>
          </a:prstGeom>
          <a:solidFill>
            <a:srgbClr val="246B91"/>
          </a:solidFill>
          <a:ln w="12700">
            <a:solidFill>
              <a:srgbClr val="246B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2002536"/>
            <a:ext cx="5218444" cy="301752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273 → 205人  （-25%）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川田小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2377440" y="2953512"/>
            <a:ext cx="3996564" cy="301752"/>
          </a:xfrm>
          <a:prstGeom prst="rect">
            <a:avLst/>
          </a:prstGeom>
          <a:solidFill>
            <a:srgbClr val="246B91"/>
          </a:solidFill>
          <a:ln w="12700">
            <a:solidFill>
              <a:srgbClr val="246B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3328416"/>
            <a:ext cx="2112833" cy="301752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157 → 83人  （-47%）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保科小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2377440" y="4279392"/>
            <a:ext cx="1374615" cy="301752"/>
          </a:xfrm>
          <a:prstGeom prst="rect">
            <a:avLst/>
          </a:prstGeom>
          <a:solidFill>
            <a:srgbClr val="246B91"/>
          </a:solidFill>
          <a:ln w="12700">
            <a:solidFill>
              <a:srgbClr val="246B9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4654296"/>
            <a:ext cx="1069145" cy="301752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 → 42人  （-22%）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377440" y="5687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6B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令和8年度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5687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8B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令和14年度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599846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出典：提供資料「児童数推計」（R8.5.1現在）。将来推計は変動します。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3小学校の児童数合計は約32％減少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令和8年度 484人 → 令和14年度 330人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246B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484人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740664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168B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330人</a:t>
            </a:r>
            <a:endParaRPr lang="en-US" sz="4300" dirty="0"/>
          </a:p>
        </p:txBody>
      </p:sp>
      <p:sp>
        <p:nvSpPr>
          <p:cNvPr id="10" name="Shape 8"/>
          <p:cNvSpPr/>
          <p:nvPr/>
        </p:nvSpPr>
        <p:spPr>
          <a:xfrm>
            <a:off x="5029200" y="1993392"/>
            <a:ext cx="1371600" cy="502920"/>
          </a:xfrm>
          <a:prstGeom prst="chevron">
            <a:avLst/>
          </a:prstGeom>
          <a:solidFill>
            <a:srgbClr val="EAF3F5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474720"/>
            <a:ext cx="10058400" cy="1463040"/>
          </a:xfrm>
          <a:prstGeom prst="roundRect">
            <a:avLst>
              <a:gd name="adj" fmla="val 6250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474720"/>
            <a:ext cx="64008" cy="146304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363931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学校ごとに異なる減少の姿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7008" y="4133088"/>
            <a:ext cx="9674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川田小は約47％減、保科小では令和8年度の1年生が2人。綿内小も減少が続く。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599846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数値は提供推計の合計から算出。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若穂中学校も生徒数が減少する見通し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令和8年度 → 令和20年度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246B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284人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731520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168B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129人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4434840" y="3063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約55％減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1005840" y="4114800"/>
            <a:ext cx="10058400" cy="1234440"/>
          </a:xfrm>
          <a:prstGeom prst="roundRect">
            <a:avLst>
              <a:gd name="adj" fmla="val 7407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4114800"/>
            <a:ext cx="64008" cy="123444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427939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小学校だけではなく、地区全体の教育環境を考える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7008" y="4773168"/>
            <a:ext cx="96743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小中9年間の学びの連続性も、検討する価値のある視点。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599846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出典：提供資料「生徒数推計」（R8.5.1現在）。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長野市全体と比べても、若穂の減少は大きい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小学校児童数：令和8年度 → 令和14年度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5074920" cy="2194560"/>
          </a:xfrm>
          <a:prstGeom prst="roundRect">
            <a:avLst>
              <a:gd name="adj" fmla="val 4167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645920"/>
            <a:ext cx="64008" cy="219456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8105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3小学校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2304288"/>
            <a:ext cx="4690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484人 → 330人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約32％減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074920" cy="2194560"/>
          </a:xfrm>
          <a:prstGeom prst="roundRect">
            <a:avLst>
              <a:gd name="adj" fmla="val 4167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645920"/>
            <a:ext cx="64008" cy="2194560"/>
          </a:xfrm>
          <a:prstGeom prst="rect">
            <a:avLst/>
          </a:prstGeom>
          <a:solidFill>
            <a:srgbClr val="246B91"/>
          </a:solidFill>
          <a:ln w="12700">
            <a:solidFill>
              <a:srgbClr val="246B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8105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長野市立小学校 全体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19088" y="2304288"/>
            <a:ext cx="4690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15,757人 → 12,561人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約20％減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46634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地域固有の課題として、将来を見据えた検討が必要です。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9808" y="599846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出典：提供推計データ。減少率は四捨五入。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小規模校の良さと、考えておきたい課題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64008" cy="356616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6733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大切にしたい良さ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2688" y="2167128"/>
            <a:ext cx="491947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・一人ひとりへの目配り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・学年間の交流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・地域と学校の近い関係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・安心できる人間関係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508760"/>
            <a:ext cx="64008" cy="3566160"/>
          </a:xfrm>
          <a:prstGeom prst="rect">
            <a:avLst/>
          </a:prstGeom>
          <a:solidFill>
            <a:srgbClr val="D99137"/>
          </a:solidFill>
          <a:ln w="12700">
            <a:solidFill>
              <a:srgbClr val="D99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6733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将来の検討課題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73368" y="2167128"/>
            <a:ext cx="491947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・多様な意見に触れる機会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・集団活動や行事の選択肢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・人間関係の固定化への配慮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・教員配置や教育活動の持続性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599846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学校規模だけで教育の良し悪しが決まるものではありません。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なぜ今、検討するのか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664208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554480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児童生徒数の減少は、今後も続く見通し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313432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施設の更新・改修を考える時期と重なる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68680" y="3182112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072384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通学や地域活動への影響を調べるには時間が必要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68680" y="3941064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831336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今の子どもと将来の子ども、両方の視点が必要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施設の状況も、判断材料のひとつ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建築年度と計画上の更新・改修時期（資料に記載された情報）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17320"/>
            <a:ext cx="64008" cy="164592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819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川田小｜1973年度築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2075688"/>
            <a:ext cx="4919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計画上の更新時期：2023年度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417320"/>
            <a:ext cx="64008" cy="164592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5819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綿内小｜1980年度築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01968" y="2075688"/>
            <a:ext cx="4919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計画上の更新時期：2030年度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429000"/>
            <a:ext cx="64008" cy="164592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5935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保科小｜2010年度築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2688" y="4087368"/>
            <a:ext cx="4919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計画上の改修時期：2030年度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342900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429000"/>
            <a:ext cx="64008" cy="164592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35935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若穂中｜1987年度築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01968" y="4087368"/>
            <a:ext cx="4919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計画上の改修時期：2027年度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9808" y="599846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出典：長野市学校施設長寿命化計画（令和2年時点）。実施済み工事・最新計画の確認が必要です。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若穂の学校で大切にしたい5つの視点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64008" cy="160020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719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学び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" y="2212848"/>
            <a:ext cx="31821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多様な学習・交流機会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54480"/>
            <a:ext cx="64008" cy="160020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719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64608" y="2212848"/>
            <a:ext cx="31821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一人ひとりへの支援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549640" y="15544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9640" y="1554480"/>
            <a:ext cx="64008" cy="160020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0808" y="1719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50808" y="2212848"/>
            <a:ext cx="31821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無理のない通学と防災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36118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611880"/>
            <a:ext cx="64008" cy="160020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776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8408" y="4270248"/>
            <a:ext cx="31821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行事・交流・つながり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36118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611880"/>
            <a:ext cx="64008" cy="160020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776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持続性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64608" y="4270248"/>
            <a:ext cx="31821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施設・人材・費用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考えられる選択肢を公平に比較する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303520" cy="1709928"/>
          </a:xfrm>
          <a:prstGeom prst="roundRect">
            <a:avLst>
              <a:gd name="adj" fmla="val 5348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64008" cy="1709928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5819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現状維持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2688" y="2075688"/>
            <a:ext cx="49194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3小学校・中学校を維持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主な論点：小規模化への対応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303520" cy="1709928"/>
          </a:xfrm>
          <a:prstGeom prst="roundRect">
            <a:avLst>
              <a:gd name="adj" fmla="val 5348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417320"/>
            <a:ext cx="64008" cy="1709928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5819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 一部統合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01968" y="2075688"/>
            <a:ext cx="49194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対象校を段階的に統合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主な論点：地域間の公平性・通学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5303520" cy="1709928"/>
          </a:xfrm>
          <a:prstGeom prst="roundRect">
            <a:avLst>
              <a:gd name="adj" fmla="val 5348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74720"/>
            <a:ext cx="64008" cy="1709928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6393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 小学校3校統合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" y="4133088"/>
            <a:ext cx="49194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小学校を1校に集約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主な論点：校地・規模・通学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3474720"/>
            <a:ext cx="5303520" cy="1709928"/>
          </a:xfrm>
          <a:prstGeom prst="roundRect">
            <a:avLst>
              <a:gd name="adj" fmla="val 5348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474720"/>
            <a:ext cx="64008" cy="1709928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36393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 小中一貫の制度活用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01968" y="4133088"/>
            <a:ext cx="49194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義務教育学校等を検討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主な論点：教育課程・施設・通学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599846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学校配置と教育制度は別の軸です。複数の方式を組み合わせることも可能です。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選択肢は同じ物差しで比較する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527048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417320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教育：学習環境・交流・教員体制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2359152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49424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通学：距離・時間・交通安全・費用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68680" y="3191256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081528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施設：安全性・整備費・維持管理費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68680" y="4023360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913632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地域：防災・行事・跡地利用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8680" y="4855464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4745736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実現性：準備期間・財源・合意形成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義務教育学校という選択肢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9年間を見通した教育を一体的に進める学校制度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303520" cy="3383280"/>
          </a:xfrm>
          <a:prstGeom prst="roundRect">
            <a:avLst>
              <a:gd name="adj" fmla="val 2703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64008" cy="3383280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190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期待される点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2212848"/>
            <a:ext cx="491947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・小中の学びの連続性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・教員同士の連携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・異学年交流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・中学校進学時の不安軽減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303520" cy="3383280"/>
          </a:xfrm>
          <a:prstGeom prst="roundRect">
            <a:avLst>
              <a:gd name="adj" fmla="val 2703"/>
            </a:avLst>
          </a:prstGeom>
          <a:solidFill>
            <a:srgbClr val="F8FBFC"/>
          </a:solidFill>
          <a:ln w="12700">
            <a:solidFill>
              <a:srgbClr val="D8E3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554480"/>
            <a:ext cx="64008" cy="3383280"/>
          </a:xfrm>
          <a:prstGeom prst="rect">
            <a:avLst/>
          </a:prstGeom>
          <a:solidFill>
            <a:srgbClr val="D99137"/>
          </a:solidFill>
          <a:ln w="12700">
            <a:solidFill>
              <a:srgbClr val="D99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7190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慎重に考える点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73368" y="2212848"/>
            <a:ext cx="491947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・人間関係の固定化への配慮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・年齢差の大きい子どもの生活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・通学距離と安全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・施設配置と運営体制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599846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義務教育学校＝必ず施設を一つに集約する、という意味ではありません。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再編を考えるなら、生活への影響も見える化する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664208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554480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通学：各地区からの所要時間・スクールバス・冬季対策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313432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学校生活：行事、部活動、放課後の過ごし方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68680" y="3182112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072384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地域：学校行事・防災拠点・交流の継続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68680" y="3941064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831336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施設：統合後の校舎・跡地の使い方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68680" y="4700016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4590288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費用：整備費・運営費・保護者負担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今後の進め方｜検討ロードマップ（案）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389888"/>
            <a:ext cx="1965960" cy="603504"/>
          </a:xfrm>
          <a:prstGeom prst="roundRect">
            <a:avLst>
              <a:gd name="adj" fmla="val 12121"/>
            </a:avLst>
          </a:prstGeom>
          <a:solidFill>
            <a:srgbClr val="EAF3F5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81328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R8 秋～冬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108960" y="143560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現状・課題の共有／住民意見の収集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304288"/>
            <a:ext cx="1965960" cy="603504"/>
          </a:xfrm>
          <a:prstGeom prst="roundRect">
            <a:avLst>
              <a:gd name="adj" fmla="val 12121"/>
            </a:avLst>
          </a:prstGeom>
          <a:solidFill>
            <a:srgbClr val="EAF3F5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95728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R9 前半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08960" y="235000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保護者調査／通学・施設の実態把握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218688"/>
            <a:ext cx="1965960" cy="603504"/>
          </a:xfrm>
          <a:prstGeom prst="roundRect">
            <a:avLst>
              <a:gd name="adj" fmla="val 12121"/>
            </a:avLst>
          </a:prstGeom>
          <a:solidFill>
            <a:srgbClr val="EAF3F5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10128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R9 後半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108960" y="326440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複数案の比較／中間報告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133088"/>
            <a:ext cx="1965960" cy="603504"/>
          </a:xfrm>
          <a:prstGeom prst="roundRect">
            <a:avLst>
              <a:gd name="adj" fmla="val 12121"/>
            </a:avLst>
          </a:prstGeom>
          <a:solidFill>
            <a:srgbClr val="EAF3F5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24528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R10 前半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108960" y="417880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地区別対話／地域の方向性の整理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5047488"/>
            <a:ext cx="1965960" cy="603504"/>
          </a:xfrm>
          <a:prstGeom prst="roundRect">
            <a:avLst>
              <a:gd name="adj" fmla="val 12121"/>
            </a:avLst>
          </a:prstGeom>
          <a:solidFill>
            <a:srgbClr val="EAF3F5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138928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R10 後半以降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108960" y="509320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地域提言／市による検討・判断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9808" y="599846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上記は提案スケジュールであり、正式決定ではありません。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皆さんと一緒に考えたいこと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618488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508760"/>
            <a:ext cx="10058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子どもたちに、どんな学びを経験してほしいですか？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2560320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450592"/>
            <a:ext cx="10058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今の学校の良さで、残したいものは何ですか？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68680" y="3502152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392424"/>
            <a:ext cx="10058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通学・安全・地域活動で心配なことは何ですか？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68680" y="4443984"/>
            <a:ext cx="118872" cy="118872"/>
          </a:xfrm>
          <a:prstGeom prst="ellipse">
            <a:avLst/>
          </a:prstGeom>
          <a:solidFill>
            <a:srgbClr val="168B87"/>
          </a:solidFill>
          <a:ln w="12700">
            <a:solidFill>
              <a:srgbClr val="168B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334256"/>
            <a:ext cx="10058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判断の前に、どんな情報が必要ですか？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5577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8B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学校の数を減らすことではなく、未来の学びをつくること。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若穂地区住民説明会</dc:subject>
  <dc:creator>OpenAI</dc:creator>
  <cp:lastModifiedBy>OpenAI</cp:lastModifiedBy>
  <cp:revision>1</cp:revision>
  <dcterms:created xsi:type="dcterms:W3CDTF">2026-10-27T11:04:08Z</dcterms:created>
  <dcterms:modified xsi:type="dcterms:W3CDTF">2026-10-27T11:04:08Z</dcterms:modified>
</cp:coreProperties>
</file>
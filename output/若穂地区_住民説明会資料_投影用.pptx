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令和8年度（2026）</c:v>
                </c:pt>
              </c:strCache>
            </c:strRef>
          </c:tx>
          <c:spPr>
            <a:solidFill>
              <a:srgbClr val="9AA59F"/>
            </a:solidFill>
            <a:effectLst/>
          </c:spPr>
          <c:invertIfNegative val="0"/>
          <c:dLbls>
            <c:numFmt formatCode="0&quot;人&quot;" sourceLinked="0"/>
            <c:txPr>
              <a:bodyPr/>
              <a:lstStyle/>
              <a:p>
                <a:pPr>
                  <a:defRPr b="0" i="0" strike="noStrike" sz="1400" u="none">
                    <a:solidFill>
                      <a:srgbClr val="1E2A26"/>
                    </a:solidFill>
                    <a:latin typeface="+mn-lt"/>
                  </a:defRPr>
                </a:pPr>
              </a:p>
            </c:txPr>
            <c:showLegendKey val="0"/>
            <c:showVal val="1"/>
            <c:showCatName val="0"/>
            <c:showSerName val="0"/>
            <c:showPercent val="0"/>
            <c:showBubbleSize val="0"/>
            <c:showLeaderLines val="0"/>
          </c:dLbls>
          <c:cat>
            <c:multiLvlStrRef>
              <c:f>Sheet1!$A$2:$A$4</c:f>
              <c:multiLvlStrCache>
                <c:ptCount val="3"/>
                <c:lvl>
                  <c:pt idx="0">
                    <c:v>綿内小</c:v>
                  </c:pt>
                  <c:pt idx="1">
                    <c:v>川田小</c:v>
                  </c:pt>
                  <c:pt idx="2">
                    <c:v>保科小</c:v>
                  </c:pt>
                </c:lvl>
              </c:multiLvlStrCache>
            </c:multiLvlStrRef>
          </c:cat>
          <c:val>
            <c:numRef>
              <c:f>Sheet1!$B$2:$B$4</c:f>
              <c:numCache>
                <c:formatCode>General</c:formatCode>
                <c:ptCount val="3"/>
                <c:pt idx="0">
                  <c:v>273</c:v>
                </c:pt>
                <c:pt idx="1">
                  <c:v>157</c:v>
                </c:pt>
                <c:pt idx="2">
                  <c:v>54</c:v>
                </c:pt>
              </c:numCache>
            </c:numRef>
          </c:val>
        </c:ser>
        <c:ser>
          <c:idx val="1"/>
          <c:order val="1"/>
          <c:tx>
            <c:strRef>
              <c:f>Sheet1!$C$1</c:f>
              <c:strCache>
                <c:ptCount val="1"/>
                <c:pt idx="0">
                  <c:v>令和14年度（2032）</c:v>
                </c:pt>
              </c:strCache>
            </c:strRef>
          </c:tx>
          <c:spPr>
            <a:solidFill>
              <a:srgbClr val="2E7D5B"/>
            </a:solidFill>
            <a:effectLst/>
          </c:spPr>
          <c:invertIfNegative val="0"/>
          <c:dLbls>
            <c:numFmt formatCode="0&quot;人&quot;" sourceLinked="0"/>
            <c:txPr>
              <a:bodyPr/>
              <a:lstStyle/>
              <a:p>
                <a:pPr>
                  <a:defRPr b="0" i="0" strike="noStrike" sz="1400" u="none">
                    <a:solidFill>
                      <a:srgbClr val="1E2A26"/>
                    </a:solidFill>
                    <a:latin typeface="+mn-lt"/>
                  </a:defRPr>
                </a:pPr>
              </a:p>
            </c:txPr>
            <c:showLegendKey val="0"/>
            <c:showVal val="1"/>
            <c:showCatName val="0"/>
            <c:showSerName val="0"/>
            <c:showPercent val="0"/>
            <c:showBubbleSize val="0"/>
            <c:showLeaderLines val="0"/>
          </c:dLbls>
          <c:cat>
            <c:multiLvlStrRef>
              <c:f>Sheet1!$A$2:$A$4</c:f>
              <c:multiLvlStrCache>
                <c:ptCount val="3"/>
                <c:lvl>
                  <c:pt idx="0">
                    <c:v>綿内小</c:v>
                  </c:pt>
                  <c:pt idx="1">
                    <c:v>川田小</c:v>
                  </c:pt>
                  <c:pt idx="2">
                    <c:v>保科小</c:v>
                  </c:pt>
                </c:lvl>
              </c:multiLvlStrCache>
            </c:multiLvlStrRef>
          </c:cat>
          <c:val>
            <c:numRef>
              <c:f>Sheet1!$C$2:$C$4</c:f>
              <c:numCache>
                <c:formatCode>General</c:formatCode>
                <c:ptCount val="3"/>
                <c:pt idx="0">
                  <c:v>205</c:v>
                </c:pt>
                <c:pt idx="1">
                  <c:v>83</c:v>
                </c:pt>
                <c:pt idx="2">
                  <c:v>42</c:v>
                </c:pt>
              </c:numCache>
            </c:numRef>
          </c:val>
        </c:ser>
        <c:dLbls>
          <c:numFmt formatCode="0&quot;人&quot;" sourceLinked="0"/>
          <c:txPr>
            <a:bodyPr/>
            <a:lstStyle/>
            <a:p>
              <a:pPr>
                <a:defRPr b="0" i="0" strike="noStrike" sz="1400" u="none">
                  <a:solidFill>
                    <a:srgbClr val="1E2A26"/>
                  </a:solidFill>
                  <a:latin typeface="+mn-lt"/>
                </a:defRPr>
              </a:pPr>
            </a:p>
          </c:txPr>
          <c:showLegendKey val="0"/>
          <c:showVal val="1"/>
          <c:showCatName val="0"/>
          <c:showSerName val="0"/>
          <c:showPercent val="0"/>
          <c:showBubbleSize val="0"/>
          <c:showLeaderLines val="0"/>
        </c:dLbls>
        <c:gapWidth val="60"/>
        <c:overlap val="-1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1E2A26"/>
                </a:solidFill>
                <a:latin typeface="+mn-lt"/>
              </a:defRPr>
            </a:pPr>
            <a:endParaRPr lang="en-US"/>
          </a:p>
        </c:txPr>
        <c:crossAx val="2094734552"/>
        <c:crosses val="autoZero"/>
        <c:auto val="1"/>
        <c:lblAlgn val="ctr"/>
        <c:noMultiLvlLbl val="1"/>
      </c:catAx>
      <c:valAx>
        <c:axId val="2094734552"/>
        <c:scaling>
          <c:orientation val="minMax"/>
          <c:max val="3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26"/>
                </a:solidFill>
                <a:latin typeface="+mn-lt"/>
              </a:defRPr>
            </a:pPr>
            <a:r>
              <a:rPr sz="1300" b="0" i="0" u="none" strike="noStrike">
                <a:solidFill>
                  <a:srgbClr val="1E2A26"/>
                </a:solidFill>
                <a:latin typeface="+mn-lt"/>
              </a:rPr>
              <a:t>3小学校の合計（人）</a:t>
            </a:r>
          </a:p>
        </c:rich>
      </c:tx>
      <c:layout/>
      <c:overlay val="0"/>
    </c:title>
    <c:autoTitleDeleted val="0"/>
    <c:plotArea>
      <c:layout/>
      <c:barChart>
        <c:barDir val="col"/>
        <c:grouping val="clustered"/>
        <c:varyColors val="0"/>
        <c:ser>
          <c:idx val="0"/>
          <c:order val="0"/>
          <c:tx>
            <c:strRef>
              <c:f>Sheet1!$B$1</c:f>
              <c:strCache>
                <c:ptCount val="1"/>
                <c:pt idx="0">
                  <c:v>3小学校の合計</c:v>
                </c:pt>
              </c:strCache>
            </c:strRef>
          </c:tx>
          <c:spPr>
            <a:solidFill>
              <a:srgbClr val="2E7D5B"/>
            </a:solidFill>
            <a:effectLst/>
          </c:spPr>
          <c:invertIfNegative val="0"/>
          <c:dLbls>
            <c:numFmt formatCode="#,##0" sourceLinked="0"/>
            <c:txPr>
              <a:bodyPr/>
              <a:lstStyle/>
              <a:p>
                <a:pPr>
                  <a:defRPr b="0" i="0" strike="noStrike" sz="1100" u="none">
                    <a:solidFill>
                      <a:srgbClr val="1E2A26"/>
                    </a:solidFill>
                    <a:latin typeface="+mn-lt"/>
                  </a:defRPr>
                </a:pPr>
              </a:p>
            </c:txPr>
            <c:showLegendKey val="0"/>
            <c:showVal val="1"/>
            <c:showCatName val="0"/>
            <c:showSerName val="0"/>
            <c:showPercent val="0"/>
            <c:showBubbleSize val="0"/>
            <c:showLeaderLines val="0"/>
          </c:dLbls>
          <c:cat>
            <c:multiLvlStrRef>
              <c:f>Sheet1!$A$2:$A$8</c:f>
              <c:multiLvlStrCache>
                <c:ptCount val="7"/>
                <c:lvl>
                  <c:pt idx="0">
                    <c:v>R8
2026</c:v>
                  </c:pt>
                  <c:pt idx="1">
                    <c:v>R9
2027</c:v>
                  </c:pt>
                  <c:pt idx="2">
                    <c:v>R10
2028</c:v>
                  </c:pt>
                  <c:pt idx="3">
                    <c:v>R11
2029</c:v>
                  </c:pt>
                  <c:pt idx="4">
                    <c:v>R12
2030</c:v>
                  </c:pt>
                  <c:pt idx="5">
                    <c:v>R13
2031</c:v>
                  </c:pt>
                  <c:pt idx="6">
                    <c:v>R14
2032</c:v>
                  </c:pt>
                </c:lvl>
              </c:multiLvlStrCache>
            </c:multiLvlStrRef>
          </c:cat>
          <c:val>
            <c:numRef>
              <c:f>Sheet1!$B$2:$B$8</c:f>
              <c:numCache>
                <c:formatCode>General</c:formatCode>
                <c:ptCount val="7"/>
                <c:pt idx="0">
                  <c:v>484</c:v>
                </c:pt>
                <c:pt idx="1">
                  <c:v>463</c:v>
                </c:pt>
                <c:pt idx="2">
                  <c:v>439</c:v>
                </c:pt>
                <c:pt idx="3">
                  <c:v>424</c:v>
                </c:pt>
                <c:pt idx="4">
                  <c:v>403</c:v>
                </c:pt>
                <c:pt idx="5">
                  <c:v>373</c:v>
                </c:pt>
                <c:pt idx="6">
                  <c:v>330</c:v>
                </c:pt>
              </c:numCache>
            </c:numRef>
          </c:val>
        </c:ser>
        <c:dLbls>
          <c:numFmt formatCode="#,##0" sourceLinked="0"/>
          <c:txPr>
            <a:bodyPr/>
            <a:lstStyle/>
            <a:p>
              <a:pPr>
                <a:defRPr b="0" i="0" strike="noStrike" sz="1100" u="none">
                  <a:solidFill>
                    <a:srgbClr val="1E2A2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若穂中 全校生徒数</c:v>
                </c:pt>
              </c:strCache>
            </c:strRef>
          </c:tx>
          <c:spPr>
            <a:solidFill>
              <a:srgbClr val="2E7D5B"/>
            </a:solidFill>
            <a:effectLst/>
          </c:spPr>
          <c:invertIfNegative val="0"/>
          <c:dLbls>
            <c:numFmt formatCode="#,##0" sourceLinked="0"/>
            <c:txPr>
              <a:bodyPr/>
              <a:lstStyle/>
              <a:p>
                <a:pPr>
                  <a:defRPr b="0" i="0" strike="noStrike" sz="1200" u="none">
                    <a:solidFill>
                      <a:srgbClr val="1E2A26"/>
                    </a:solidFill>
                    <a:latin typeface="+mn-lt"/>
                  </a:defRPr>
                </a:pPr>
              </a:p>
            </c:txPr>
            <c:showLegendKey val="0"/>
            <c:showVal val="1"/>
            <c:showCatName val="0"/>
            <c:showSerName val="0"/>
            <c:showPercent val="0"/>
            <c:showBubbleSize val="0"/>
            <c:showLeaderLines val="0"/>
          </c:dLbls>
          <c:cat>
            <c:multiLvlStrRef>
              <c:f>Sheet1!$A$2:$A$14</c:f>
              <c:multiLvlStrCache>
                <c:ptCount val="13"/>
                <c:lvl>
                  <c:pt idx="0">
                    <c:v>R8
2026</c:v>
                  </c:pt>
                  <c:pt idx="1">
                    <c:v>R9
2027</c:v>
                  </c:pt>
                  <c:pt idx="2">
                    <c:v>R10
2028</c:v>
                  </c:pt>
                  <c:pt idx="3">
                    <c:v>R11
2029</c:v>
                  </c:pt>
                  <c:pt idx="4">
                    <c:v>R12
2030</c:v>
                  </c:pt>
                  <c:pt idx="5">
                    <c:v>R13
2031</c:v>
                  </c:pt>
                  <c:pt idx="6">
                    <c:v>R14
2032</c:v>
                  </c:pt>
                  <c:pt idx="7">
                    <c:v>R15
2033</c:v>
                  </c:pt>
                  <c:pt idx="8">
                    <c:v>R16
2034</c:v>
                  </c:pt>
                  <c:pt idx="9">
                    <c:v>R17
2035</c:v>
                  </c:pt>
                  <c:pt idx="10">
                    <c:v>R18
2036</c:v>
                  </c:pt>
                  <c:pt idx="11">
                    <c:v>R19
2037</c:v>
                  </c:pt>
                  <c:pt idx="12">
                    <c:v>R20
2038</c:v>
                  </c:pt>
                </c:lvl>
              </c:multiLvlStrCache>
            </c:multiLvlStrRef>
          </c:cat>
          <c:val>
            <c:numRef>
              <c:f>Sheet1!$B$2:$B$14</c:f>
              <c:numCache>
                <c:formatCode>General</c:formatCode>
                <c:ptCount val="13"/>
                <c:pt idx="0">
                  <c:v>284</c:v>
                </c:pt>
                <c:pt idx="1">
                  <c:v>287</c:v>
                </c:pt>
                <c:pt idx="2">
                  <c:v>266</c:v>
                </c:pt>
                <c:pt idx="3">
                  <c:v>264</c:v>
                </c:pt>
                <c:pt idx="4">
                  <c:v>248</c:v>
                </c:pt>
                <c:pt idx="5">
                  <c:v>237</c:v>
                </c:pt>
                <c:pt idx="6">
                  <c:v>225</c:v>
                </c:pt>
                <c:pt idx="7">
                  <c:v>219</c:v>
                </c:pt>
                <c:pt idx="8">
                  <c:v>206</c:v>
                </c:pt>
                <c:pt idx="9">
                  <c:v>201</c:v>
                </c:pt>
                <c:pt idx="10">
                  <c:v>180</c:v>
                </c:pt>
                <c:pt idx="11">
                  <c:v>161</c:v>
                </c:pt>
                <c:pt idx="12">
                  <c:v>129</c:v>
                </c:pt>
              </c:numCache>
            </c:numRef>
          </c:val>
        </c:ser>
        <c:dLbls>
          <c:numFmt formatCode="#,##0" sourceLinked="0"/>
          <c:txPr>
            <a:bodyPr/>
            <a:lstStyle/>
            <a:p>
              <a:pPr>
                <a:defRPr b="0" i="0" strike="noStrike" sz="1200" u="none">
                  <a:solidFill>
                    <a:srgbClr val="1E2A26"/>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6635D"/>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35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表紙。日付は事務局の確定後に記入。委員会名・事務局名の表記は要確認。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若穂中の統合（昭和36〜37年）を経験した世代の方に、当時のよかった点・苦労した点を聞く機会をつくることも提案できる。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目安を満たさないことが、ただちに再編の理由になるわけではないことを口頭で補足する。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学校間の距離であり、各家庭からの通学距離ではないことを必ず口頭で伝える。道のりと時間はGoogle マップの経路検索（2026年10月27日の夜）。保科小が入る区間（2・3・6）は、保科小へ向かう上りの向きの時間（川田小→保科小46分、逆の下りは36分）。徒歩は大人の速さ、車は夜の交通量での値で、朝の通学時間帯は長くなることがある。保科小へ向かう徒歩は約100mの上り（若穂中→保科小 上り102m、綿内小→保科小 上り113m、保科小→川田小 下り104m）。各家庭からの距離と子どもの歩く速さでの実測は、事務局に依頼する。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災害の種類ごとの指定（洪水時に使えるかなど）は、市の最新一覧で事務局に確認のうえ埋めてください。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ご意見は、賛成・反対だけでなく「心配なこと」「知りたいこと」も歓迎する、と口頭で伝える。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D463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6400800" cy="228600"/>
          </a:xfrm>
          <a:prstGeom prst="rect">
            <a:avLst/>
          </a:prstGeom>
          <a:noFill/>
          <a:ln/>
        </p:spPr>
        <p:txBody>
          <a:bodyPr wrap="square" lIns="0" tIns="0" rIns="0" bIns="0" rtlCol="0" anchor="ctr"/>
          <a:lstStyle/>
          <a:p>
            <a:pPr indent="0" marL="0">
              <a:buNone/>
            </a:pPr>
            <a:r>
              <a:rPr lang="en-US" sz="1000" dirty="0">
                <a:solidFill>
                  <a:srgbClr val="9AA59F"/>
                </a:solidFill>
              </a:rPr>
              <a:t>若穂地区 小中学校再編検討｜住民説明会資料（案）</a:t>
            </a:r>
            <a:endParaRPr lang="en-US" sz="1000" dirty="0"/>
          </a:p>
        </p:txBody>
      </p:sp>
      <p:sp>
        <p:nvSpPr>
          <p:cNvPr id="3" name="Text 1"/>
          <p:cNvSpPr/>
          <p:nvPr>
            <p:ph idx="101" type="title" hasCustomPrompt="1"/>
          </p:nvPr>
        </p:nvSpPr>
        <p:spPr>
          <a:xfrm>
            <a:off x="548640" y="365760"/>
            <a:ext cx="11064240" cy="640080"/>
          </a:xfrm>
          <a:prstGeom prst="rect">
            <a:avLst/>
          </a:prstGeom>
          <a:noFill/>
          <a:ln/>
        </p:spPr>
        <p:txBody>
          <a:bodyPr wrap="square" rtlCol="0"/>
          <a:lstStyle>
            <a:lvl1pPr algn="l" indent="0" marL="0">
              <a:buNone/>
              <a:defRPr lang="en-US" sz="3000" b="1" dirty="0">
                <a:solidFill>
                  <a:srgbClr val="1D4636"/>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D46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3152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8A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3.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3.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3.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640080"/>
            <a:ext cx="8229600" cy="365760"/>
          </a:xfrm>
          <a:prstGeom prst="rect">
            <a:avLst/>
          </a:prstGeom>
          <a:noFill/>
          <a:ln/>
        </p:spPr>
        <p:txBody>
          <a:bodyPr wrap="square" lIns="0" tIns="0" rIns="0" bIns="0" rtlCol="0" anchor="t"/>
          <a:lstStyle/>
          <a:p>
            <a:pPr indent="0" marL="0">
              <a:buNone/>
            </a:pPr>
            <a:r>
              <a:rPr lang="en-US" sz="1500" dirty="0">
                <a:solidFill>
                  <a:srgbClr val="CFE0D6"/>
                </a:solidFill>
                <a:latin typeface="BIZ UDPゴシック" pitchFamily="34" charset="0"/>
                <a:ea typeface="BIZ UDPゴシック" pitchFamily="34" charset="-122"/>
                <a:cs typeface="BIZ UDPゴシック" pitchFamily="34" charset="-120"/>
              </a:rPr>
              <a:t>若穂地区 小中学校再編検討｜住民説明会資料（案）</a:t>
            </a:r>
            <a:endParaRPr lang="en-US" sz="1500" dirty="0"/>
          </a:p>
        </p:txBody>
      </p:sp>
      <p:sp>
        <p:nvSpPr>
          <p:cNvPr id="6" name="Text 4"/>
          <p:cNvSpPr txBox="1"/>
          <p:nvPr/>
        </p:nvSpPr>
        <p:spPr>
          <a:xfrm>
            <a:off x="822960" y="1371600"/>
            <a:ext cx="10515600" cy="1005840"/>
          </a:xfrm>
          <a:prstGeom prst="rect">
            <a:avLst/>
          </a:prstGeom>
          <a:noFill/>
          <a:ln/>
        </p:spPr>
        <p:txBody>
          <a:bodyPr wrap="square" lIns="0" tIns="0" rIns="0" bIns="0" rtlCol="0" anchor="t"/>
          <a:lstStyle/>
          <a:p>
            <a:pPr indent="0" marL="0">
              <a:buNone/>
            </a:pPr>
            <a:r>
              <a:rPr lang="en-US" sz="5000" b="1" dirty="0">
                <a:solidFill>
                  <a:srgbClr val="FFFFFF"/>
                </a:solidFill>
                <a:latin typeface="BIZ UDPゴシック" pitchFamily="34" charset="0"/>
                <a:ea typeface="BIZ UDPゴシック" pitchFamily="34" charset="-122"/>
                <a:cs typeface="BIZ UDPゴシック" pitchFamily="34" charset="-120"/>
              </a:rPr>
              <a:t>これからの若穂の学校を考える</a:t>
            </a:r>
            <a:endParaRPr lang="en-US" sz="5000" dirty="0"/>
          </a:p>
        </p:txBody>
      </p:sp>
      <p:sp>
        <p:nvSpPr>
          <p:cNvPr id="7" name="Text 5"/>
          <p:cNvSpPr txBox="1"/>
          <p:nvPr/>
        </p:nvSpPr>
        <p:spPr>
          <a:xfrm>
            <a:off x="822960" y="2514600"/>
            <a:ext cx="10515600" cy="640080"/>
          </a:xfrm>
          <a:prstGeom prst="rect">
            <a:avLst/>
          </a:prstGeom>
          <a:noFill/>
          <a:ln/>
        </p:spPr>
        <p:txBody>
          <a:bodyPr wrap="square" lIns="0" tIns="0" rIns="0" bIns="0" rtlCol="0" anchor="t"/>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学校の数を決める前に、どんな学びを残したいか。</a:t>
            </a:r>
            <a:endParaRPr lang="en-US" sz="2800" dirty="0"/>
          </a:p>
        </p:txBody>
      </p:sp>
      <p:sp>
        <p:nvSpPr>
          <p:cNvPr id="8" name="Text 6"/>
          <p:cNvSpPr txBox="1"/>
          <p:nvPr/>
        </p:nvSpPr>
        <p:spPr>
          <a:xfrm>
            <a:off x="822960" y="3246120"/>
            <a:ext cx="10058400" cy="457200"/>
          </a:xfrm>
          <a:prstGeom prst="rect">
            <a:avLst/>
          </a:prstGeom>
          <a:noFill/>
          <a:ln/>
        </p:spPr>
        <p:txBody>
          <a:bodyPr wrap="square" lIns="0" tIns="0" rIns="0" bIns="0" rtlCol="0" anchor="t"/>
          <a:lstStyle/>
          <a:p>
            <a:pPr indent="0" marL="0">
              <a:buNone/>
            </a:pPr>
            <a:r>
              <a:rPr lang="en-US" sz="1800" dirty="0">
                <a:solidFill>
                  <a:srgbClr val="CFE0D6"/>
                </a:solidFill>
                <a:latin typeface="BIZ UDPゴシック" pitchFamily="34" charset="0"/>
                <a:ea typeface="BIZ UDPゴシック" pitchFamily="34" charset="-122"/>
                <a:cs typeface="BIZ UDPゴシック" pitchFamily="34" charset="-120"/>
              </a:rPr>
              <a:t>子どもたちの未来と、地域のこれからを一緒に考えるために</a:t>
            </a:r>
            <a:endParaRPr lang="en-US" sz="1800" dirty="0"/>
          </a:p>
        </p:txBody>
      </p:sp>
      <p:sp>
        <p:nvSpPr>
          <p:cNvPr id="9" name="Text 7"/>
          <p:cNvSpPr txBox="1"/>
          <p:nvPr/>
        </p:nvSpPr>
        <p:spPr>
          <a:xfrm>
            <a:off x="822960" y="4069080"/>
            <a:ext cx="10515600" cy="365760"/>
          </a:xfrm>
          <a:prstGeom prst="rect">
            <a:avLst/>
          </a:prstGeom>
          <a:noFill/>
          <a:ln/>
        </p:spPr>
        <p:txBody>
          <a:bodyPr wrap="square" lIns="0" tIns="0" rIns="0" bIns="0" rtlCol="0" anchor="t"/>
          <a:lstStyle/>
          <a:p>
            <a:pPr indent="0" marL="0">
              <a:buNone/>
            </a:pPr>
            <a:r>
              <a:rPr lang="en-US" sz="1400" dirty="0">
                <a:solidFill>
                  <a:srgbClr val="CFE0D6"/>
                </a:solidFill>
                <a:latin typeface="BIZ UDPゴシック" pitchFamily="34" charset="0"/>
                <a:ea typeface="BIZ UDPゴシック" pitchFamily="34" charset="-122"/>
                <a:cs typeface="BIZ UDPゴシック" pitchFamily="34" charset="-120"/>
              </a:rPr>
              <a:t>令和8年（2026年）［　］月［　］日　若穂地区小中学校再編検討委員会／長野市教育委員会事務局 学校教育課</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はじめに</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今日の説明会で共有したいこと</a:t>
            </a:r>
            <a:endParaRPr lang="en-US" sz="3000" dirty="0"/>
          </a:p>
        </p:txBody>
      </p:sp>
      <p:sp>
        <p:nvSpPr>
          <p:cNvPr id="4" name="Shape 2"/>
          <p:cNvSpPr/>
          <p:nvPr/>
        </p:nvSpPr>
        <p:spPr>
          <a:xfrm>
            <a:off x="548640" y="1554480"/>
            <a:ext cx="2578608" cy="3566160"/>
          </a:xfrm>
          <a:prstGeom prst="roundRect">
            <a:avLst>
              <a:gd name="adj" fmla="val 4255"/>
            </a:avLst>
          </a:prstGeom>
          <a:solidFill>
            <a:srgbClr val="F4F7F5"/>
          </a:solidFill>
          <a:ln/>
        </p:spPr>
      </p:sp>
      <p:sp>
        <p:nvSpPr>
          <p:cNvPr id="5" name="Text 3"/>
          <p:cNvSpPr txBox="1"/>
          <p:nvPr/>
        </p:nvSpPr>
        <p:spPr>
          <a:xfrm>
            <a:off x="822960"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01</a:t>
            </a:r>
            <a:endParaRPr lang="en-US" sz="2200" dirty="0"/>
          </a:p>
        </p:txBody>
      </p:sp>
      <p:sp>
        <p:nvSpPr>
          <p:cNvPr id="6" name="Shape 4"/>
          <p:cNvSpPr/>
          <p:nvPr/>
        </p:nvSpPr>
        <p:spPr>
          <a:xfrm>
            <a:off x="822960" y="2377440"/>
            <a:ext cx="914400" cy="91440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24128" y="2578608"/>
            <a:ext cx="512064" cy="512064"/>
          </a:xfrm>
          <a:prstGeom prst="rect">
            <a:avLst/>
          </a:prstGeom>
        </p:spPr>
      </p:pic>
      <p:sp>
        <p:nvSpPr>
          <p:cNvPr id="8" name="Text 5"/>
          <p:cNvSpPr txBox="1"/>
          <p:nvPr/>
        </p:nvSpPr>
        <p:spPr>
          <a:xfrm>
            <a:off x="822960"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現状を知る</a:t>
            </a:r>
            <a:endParaRPr lang="en-US" sz="2200" dirty="0"/>
          </a:p>
        </p:txBody>
      </p:sp>
      <p:sp>
        <p:nvSpPr>
          <p:cNvPr id="9" name="Text 6"/>
          <p:cNvSpPr txBox="1"/>
          <p:nvPr/>
        </p:nvSpPr>
        <p:spPr>
          <a:xfrm>
            <a:off x="822960"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児童生徒数・施設の状況</a:t>
            </a:r>
            <a:endParaRPr lang="en-US" sz="1600" dirty="0"/>
          </a:p>
        </p:txBody>
      </p:sp>
      <p:sp>
        <p:nvSpPr>
          <p:cNvPr id="10" name="Shape 7"/>
          <p:cNvSpPr/>
          <p:nvPr/>
        </p:nvSpPr>
        <p:spPr>
          <a:xfrm>
            <a:off x="3364992" y="1554480"/>
            <a:ext cx="2578608" cy="3566160"/>
          </a:xfrm>
          <a:prstGeom prst="roundRect">
            <a:avLst>
              <a:gd name="adj" fmla="val 4255"/>
            </a:avLst>
          </a:prstGeom>
          <a:solidFill>
            <a:srgbClr val="F4F7F5"/>
          </a:solidFill>
          <a:ln/>
        </p:spPr>
      </p:sp>
      <p:sp>
        <p:nvSpPr>
          <p:cNvPr id="11" name="Text 8"/>
          <p:cNvSpPr txBox="1"/>
          <p:nvPr/>
        </p:nvSpPr>
        <p:spPr>
          <a:xfrm>
            <a:off x="3639312"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02</a:t>
            </a:r>
            <a:endParaRPr lang="en-US" sz="2200" dirty="0"/>
          </a:p>
        </p:txBody>
      </p:sp>
      <p:sp>
        <p:nvSpPr>
          <p:cNvPr id="12" name="Shape 9"/>
          <p:cNvSpPr/>
          <p:nvPr/>
        </p:nvSpPr>
        <p:spPr>
          <a:xfrm>
            <a:off x="3639312" y="2377440"/>
            <a:ext cx="914400" cy="914400"/>
          </a:xfrm>
          <a:prstGeom prst="ellipse">
            <a:avLst/>
          </a:prstGeom>
          <a:solidFill>
            <a:srgbClr val="2E7D5B"/>
          </a:solidFill>
          <a:ln/>
        </p:spPr>
      </p:sp>
      <p:pic>
        <p:nvPicPr>
          <p:cNvPr id="13" name="Image 1" descr="preencoded.png">    </p:cNvPr>
          <p:cNvPicPr>
            <a:picLocks noChangeAspect="1"/>
          </p:cNvPicPr>
          <p:nvPr/>
        </p:nvPicPr>
        <p:blipFill>
          <a:blip r:embed="rId2"/>
          <a:stretch>
            <a:fillRect/>
          </a:stretch>
        </p:blipFill>
        <p:spPr>
          <a:xfrm>
            <a:off x="3840480" y="2578608"/>
            <a:ext cx="512064" cy="512064"/>
          </a:xfrm>
          <a:prstGeom prst="rect">
            <a:avLst/>
          </a:prstGeom>
        </p:spPr>
      </p:pic>
      <p:sp>
        <p:nvSpPr>
          <p:cNvPr id="14" name="Text 10"/>
          <p:cNvSpPr txBox="1"/>
          <p:nvPr/>
        </p:nvSpPr>
        <p:spPr>
          <a:xfrm>
            <a:off x="3639312"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課題を共有する</a:t>
            </a:r>
            <a:endParaRPr lang="en-US" sz="2200" dirty="0"/>
          </a:p>
        </p:txBody>
      </p:sp>
      <p:sp>
        <p:nvSpPr>
          <p:cNvPr id="15" name="Text 11"/>
          <p:cNvSpPr txBox="1"/>
          <p:nvPr/>
        </p:nvSpPr>
        <p:spPr>
          <a:xfrm>
            <a:off x="3639312"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教育環境・通学・地域への影響</a:t>
            </a:r>
            <a:endParaRPr lang="en-US" sz="1600" dirty="0"/>
          </a:p>
        </p:txBody>
      </p:sp>
      <p:sp>
        <p:nvSpPr>
          <p:cNvPr id="16" name="Shape 12"/>
          <p:cNvSpPr/>
          <p:nvPr/>
        </p:nvSpPr>
        <p:spPr>
          <a:xfrm>
            <a:off x="6181344" y="1554480"/>
            <a:ext cx="2578608" cy="3566160"/>
          </a:xfrm>
          <a:prstGeom prst="roundRect">
            <a:avLst>
              <a:gd name="adj" fmla="val 4255"/>
            </a:avLst>
          </a:prstGeom>
          <a:solidFill>
            <a:srgbClr val="F4F7F5"/>
          </a:solidFill>
          <a:ln/>
        </p:spPr>
      </p:sp>
      <p:sp>
        <p:nvSpPr>
          <p:cNvPr id="17" name="Text 13"/>
          <p:cNvSpPr txBox="1"/>
          <p:nvPr/>
        </p:nvSpPr>
        <p:spPr>
          <a:xfrm>
            <a:off x="6455664"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03</a:t>
            </a:r>
            <a:endParaRPr lang="en-US" sz="2200" dirty="0"/>
          </a:p>
        </p:txBody>
      </p:sp>
      <p:sp>
        <p:nvSpPr>
          <p:cNvPr id="18" name="Shape 14"/>
          <p:cNvSpPr/>
          <p:nvPr/>
        </p:nvSpPr>
        <p:spPr>
          <a:xfrm>
            <a:off x="6455664" y="2377440"/>
            <a:ext cx="914400" cy="914400"/>
          </a:xfrm>
          <a:prstGeom prst="ellipse">
            <a:avLst/>
          </a:prstGeom>
          <a:solidFill>
            <a:srgbClr val="2E7D5B"/>
          </a:solidFill>
          <a:ln/>
        </p:spPr>
      </p:sp>
      <p:pic>
        <p:nvPicPr>
          <p:cNvPr id="19" name="Image 2" descr="preencoded.png">    </p:cNvPr>
          <p:cNvPicPr>
            <a:picLocks noChangeAspect="1"/>
          </p:cNvPicPr>
          <p:nvPr/>
        </p:nvPicPr>
        <p:blipFill>
          <a:blip r:embed="rId3"/>
          <a:stretch>
            <a:fillRect/>
          </a:stretch>
        </p:blipFill>
        <p:spPr>
          <a:xfrm>
            <a:off x="6656832" y="2578608"/>
            <a:ext cx="512064" cy="512064"/>
          </a:xfrm>
          <a:prstGeom prst="rect">
            <a:avLst/>
          </a:prstGeom>
        </p:spPr>
      </p:pic>
      <p:sp>
        <p:nvSpPr>
          <p:cNvPr id="20" name="Text 15"/>
          <p:cNvSpPr txBox="1"/>
          <p:nvPr/>
        </p:nvSpPr>
        <p:spPr>
          <a:xfrm>
            <a:off x="6455664"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選択肢を比べる</a:t>
            </a:r>
            <a:endParaRPr lang="en-US" sz="2200" dirty="0"/>
          </a:p>
        </p:txBody>
      </p:sp>
      <p:sp>
        <p:nvSpPr>
          <p:cNvPr id="21" name="Text 16"/>
          <p:cNvSpPr txBox="1"/>
          <p:nvPr/>
        </p:nvSpPr>
        <p:spPr>
          <a:xfrm>
            <a:off x="6455664"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現状維持から再編まで</a:t>
            </a:r>
            <a:endParaRPr lang="en-US" sz="1600" dirty="0"/>
          </a:p>
        </p:txBody>
      </p:sp>
      <p:sp>
        <p:nvSpPr>
          <p:cNvPr id="22" name="Shape 17"/>
          <p:cNvSpPr/>
          <p:nvPr/>
        </p:nvSpPr>
        <p:spPr>
          <a:xfrm>
            <a:off x="8997696" y="1554480"/>
            <a:ext cx="2578608" cy="3566160"/>
          </a:xfrm>
          <a:prstGeom prst="roundRect">
            <a:avLst>
              <a:gd name="adj" fmla="val 4255"/>
            </a:avLst>
          </a:prstGeom>
          <a:solidFill>
            <a:srgbClr val="F4F7F5"/>
          </a:solidFill>
          <a:ln/>
        </p:spPr>
      </p:sp>
      <p:sp>
        <p:nvSpPr>
          <p:cNvPr id="23" name="Text 18"/>
          <p:cNvSpPr txBox="1"/>
          <p:nvPr/>
        </p:nvSpPr>
        <p:spPr>
          <a:xfrm>
            <a:off x="9272016" y="1783080"/>
            <a:ext cx="1097280" cy="457200"/>
          </a:xfrm>
          <a:prstGeom prst="rect">
            <a:avLst/>
          </a:prstGeom>
          <a:noFill/>
          <a:ln/>
        </p:spPr>
        <p:txBody>
          <a:bodyPr wrap="square" lIns="0" tIns="0" rIns="0" bIns="0" rtlCol="0" anchor="t"/>
          <a:lstStyle/>
          <a:p>
            <a:pPr indent="0" marL="0">
              <a:buNone/>
            </a:pPr>
            <a:r>
              <a:rPr lang="en-US" sz="2200" b="1" dirty="0">
                <a:solidFill>
                  <a:srgbClr val="D9573E"/>
                </a:solidFill>
                <a:latin typeface="BIZ UDPゴシック" pitchFamily="34" charset="0"/>
                <a:ea typeface="BIZ UDPゴシック" pitchFamily="34" charset="-122"/>
                <a:cs typeface="BIZ UDPゴシック" pitchFamily="34" charset="-120"/>
              </a:rPr>
              <a:t>04</a:t>
            </a:r>
            <a:endParaRPr lang="en-US" sz="2200" dirty="0"/>
          </a:p>
        </p:txBody>
      </p:sp>
      <p:sp>
        <p:nvSpPr>
          <p:cNvPr id="24" name="Shape 19"/>
          <p:cNvSpPr/>
          <p:nvPr/>
        </p:nvSpPr>
        <p:spPr>
          <a:xfrm>
            <a:off x="9272016" y="2377440"/>
            <a:ext cx="914400" cy="914400"/>
          </a:xfrm>
          <a:prstGeom prst="ellipse">
            <a:avLst/>
          </a:prstGeom>
          <a:solidFill>
            <a:srgbClr val="2E7D5B"/>
          </a:solidFill>
          <a:ln/>
        </p:spPr>
      </p:sp>
      <p:pic>
        <p:nvPicPr>
          <p:cNvPr id="25" name="Image 3" descr="preencoded.png">    </p:cNvPr>
          <p:cNvPicPr>
            <a:picLocks noChangeAspect="1"/>
          </p:cNvPicPr>
          <p:nvPr/>
        </p:nvPicPr>
        <p:blipFill>
          <a:blip r:embed="rId4"/>
          <a:stretch>
            <a:fillRect/>
          </a:stretch>
        </p:blipFill>
        <p:spPr>
          <a:xfrm>
            <a:off x="9473184" y="2578608"/>
            <a:ext cx="512064" cy="512064"/>
          </a:xfrm>
          <a:prstGeom prst="rect">
            <a:avLst/>
          </a:prstGeom>
        </p:spPr>
      </p:pic>
      <p:sp>
        <p:nvSpPr>
          <p:cNvPr id="26" name="Text 20"/>
          <p:cNvSpPr txBox="1"/>
          <p:nvPr/>
        </p:nvSpPr>
        <p:spPr>
          <a:xfrm>
            <a:off x="9272016" y="3520440"/>
            <a:ext cx="2103120" cy="457200"/>
          </a:xfrm>
          <a:prstGeom prst="rect">
            <a:avLst/>
          </a:prstGeom>
          <a:noFill/>
          <a:ln/>
        </p:spPr>
        <p:txBody>
          <a:bodyPr wrap="square" lIns="0" tIns="0" rIns="0" bIns="0" rtlCol="0" anchor="t"/>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意見を寄せる</a:t>
            </a:r>
            <a:endParaRPr lang="en-US" sz="2200" dirty="0"/>
          </a:p>
        </p:txBody>
      </p:sp>
      <p:sp>
        <p:nvSpPr>
          <p:cNvPr id="27" name="Text 21"/>
          <p:cNvSpPr txBox="1"/>
          <p:nvPr/>
        </p:nvSpPr>
        <p:spPr>
          <a:xfrm>
            <a:off x="9272016" y="4069080"/>
            <a:ext cx="210312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大切にしたいこと・懸念点</a:t>
            </a:r>
            <a:endParaRPr lang="en-US" sz="1600" dirty="0"/>
          </a:p>
        </p:txBody>
      </p:sp>
      <p:sp>
        <p:nvSpPr>
          <p:cNvPr id="28" name="Shape 22"/>
          <p:cNvSpPr/>
          <p:nvPr/>
        </p:nvSpPr>
        <p:spPr>
          <a:xfrm>
            <a:off x="548640" y="5394960"/>
            <a:ext cx="11064240" cy="548640"/>
          </a:xfrm>
          <a:prstGeom prst="roundRect">
            <a:avLst>
              <a:gd name="adj" fmla="val 20000"/>
            </a:avLst>
          </a:prstGeom>
          <a:solidFill>
            <a:srgbClr val="FCEBE6"/>
          </a:solidFill>
          <a:ln/>
        </p:spPr>
      </p:sp>
      <p:sp>
        <p:nvSpPr>
          <p:cNvPr id="29" name="Text 23"/>
          <p:cNvSpPr txBox="1"/>
          <p:nvPr/>
        </p:nvSpPr>
        <p:spPr>
          <a:xfrm>
            <a:off x="777240" y="5394960"/>
            <a:ext cx="10698480" cy="548640"/>
          </a:xfrm>
          <a:prstGeom prst="rect">
            <a:avLst/>
          </a:prstGeom>
          <a:noFill/>
          <a:ln/>
        </p:spPr>
        <p:txBody>
          <a:bodyPr wrap="square" lIns="0" tIns="0" rIns="0" bIns="0" rtlCol="0" anchor="ctr"/>
          <a:lstStyle/>
          <a:p>
            <a:pPr indent="0" marL="0">
              <a:buNone/>
            </a:pPr>
            <a:r>
              <a:rPr lang="en-US" sz="1500" b="1" dirty="0">
                <a:solidFill>
                  <a:srgbClr val="A3402C"/>
                </a:solidFill>
                <a:latin typeface="BIZ UDPゴシック" pitchFamily="34" charset="0"/>
                <a:ea typeface="BIZ UDPゴシック" pitchFamily="34" charset="-122"/>
                <a:cs typeface="BIZ UDPゴシック" pitchFamily="34" charset="-120"/>
              </a:rPr>
              <a:t>本資料は検討用の案です。再編方式・校地・実施時期が決定したことを示すものではありません。</a:t>
            </a:r>
            <a:endParaRPr lang="en-US" sz="1500" dirty="0"/>
          </a:p>
        </p:txBody>
      </p:sp>
      <p:sp>
        <p:nvSpPr>
          <p:cNvPr id="30" name="Text 24"/>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年は「令和8年度（2026年度）」のように併記しています。専門用語の説明は、巻末の参考資料にあります。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はじめに</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検討の出発点｜誰のための学校再編か</a:t>
            </a:r>
            <a:endParaRPr lang="en-US" sz="3000" dirty="0"/>
          </a:p>
        </p:txBody>
      </p:sp>
      <p:sp>
        <p:nvSpPr>
          <p:cNvPr id="4" name="Shape 2"/>
          <p:cNvSpPr/>
          <p:nvPr/>
        </p:nvSpPr>
        <p:spPr>
          <a:xfrm>
            <a:off x="548640" y="1463040"/>
            <a:ext cx="11064240" cy="1554480"/>
          </a:xfrm>
          <a:prstGeom prst="roundRect">
            <a:avLst>
              <a:gd name="adj" fmla="val 7059"/>
            </a:avLst>
          </a:prstGeom>
          <a:solidFill>
            <a:srgbClr val="2E7D5B"/>
          </a:solidFill>
          <a:ln/>
        </p:spPr>
      </p:sp>
      <p:sp>
        <p:nvSpPr>
          <p:cNvPr id="5" name="Shape 3"/>
          <p:cNvSpPr/>
          <p:nvPr/>
        </p:nvSpPr>
        <p:spPr>
          <a:xfrm>
            <a:off x="914400" y="1737360"/>
            <a:ext cx="1005840" cy="10058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135685" y="1958645"/>
            <a:ext cx="563270" cy="563270"/>
          </a:xfrm>
          <a:prstGeom prst="rect">
            <a:avLst/>
          </a:prstGeom>
        </p:spPr>
      </p:pic>
      <p:sp>
        <p:nvSpPr>
          <p:cNvPr id="7" name="Text 4"/>
          <p:cNvSpPr txBox="1"/>
          <p:nvPr/>
        </p:nvSpPr>
        <p:spPr>
          <a:xfrm>
            <a:off x="2194560" y="1463040"/>
            <a:ext cx="9144000" cy="1554480"/>
          </a:xfrm>
          <a:prstGeom prst="rect">
            <a:avLst/>
          </a:prstGeom>
          <a:noFill/>
          <a:ln/>
        </p:spPr>
        <p:txBody>
          <a:bodyPr wrap="square" lIns="0" tIns="0" rIns="0" bIns="0" rtlCol="0" anchor="ctr"/>
          <a:lstStyle/>
          <a:p>
            <a:pPr indent="0" marL="0">
              <a:buNone/>
            </a:pPr>
            <a:r>
              <a:rPr lang="en-US" sz="3200" b="1" dirty="0">
                <a:solidFill>
                  <a:srgbClr val="FFFFFF"/>
                </a:solidFill>
                <a:latin typeface="BIZ UDPゴシック" pitchFamily="34" charset="0"/>
                <a:ea typeface="BIZ UDPゴシック" pitchFamily="34" charset="-122"/>
                <a:cs typeface="BIZ UDPゴシック" pitchFamily="34" charset="-120"/>
              </a:rPr>
              <a:t>最優先は、子どもたちの学びと育ち</a:t>
            </a:r>
            <a:endParaRPr lang="en-US" sz="3200" dirty="0"/>
          </a:p>
        </p:txBody>
      </p:sp>
      <p:sp>
        <p:nvSpPr>
          <p:cNvPr id="8" name="Shape 5"/>
          <p:cNvSpPr/>
          <p:nvPr/>
        </p:nvSpPr>
        <p:spPr>
          <a:xfrm>
            <a:off x="548640" y="3291840"/>
            <a:ext cx="3566160" cy="2560320"/>
          </a:xfrm>
          <a:prstGeom prst="roundRect">
            <a:avLst>
              <a:gd name="adj" fmla="val 4286"/>
            </a:avLst>
          </a:prstGeom>
          <a:solidFill>
            <a:srgbClr val="F4F7F5"/>
          </a:solidFill>
          <a:ln/>
        </p:spPr>
      </p:sp>
      <p:sp>
        <p:nvSpPr>
          <p:cNvPr id="9" name="Shape 6"/>
          <p:cNvSpPr/>
          <p:nvPr/>
        </p:nvSpPr>
        <p:spPr>
          <a:xfrm>
            <a:off x="868680" y="3566160"/>
            <a:ext cx="731520" cy="731520"/>
          </a:xfrm>
          <a:prstGeom prst="ellipse">
            <a:avLst/>
          </a:prstGeom>
          <a:solidFill>
            <a:srgbClr val="E8F2EC"/>
          </a:solidFill>
          <a:ln/>
        </p:spPr>
      </p:sp>
      <p:pic>
        <p:nvPicPr>
          <p:cNvPr id="10" name="Image 1" descr="preencoded.png">    </p:cNvPr>
          <p:cNvPicPr>
            <a:picLocks noChangeAspect="1"/>
          </p:cNvPicPr>
          <p:nvPr/>
        </p:nvPicPr>
        <p:blipFill>
          <a:blip r:embed="rId2"/>
          <a:stretch>
            <a:fillRect/>
          </a:stretch>
        </p:blipFill>
        <p:spPr>
          <a:xfrm>
            <a:off x="1029614" y="3727094"/>
            <a:ext cx="409651" cy="409651"/>
          </a:xfrm>
          <a:prstGeom prst="rect">
            <a:avLst/>
          </a:prstGeom>
        </p:spPr>
      </p:pic>
      <p:sp>
        <p:nvSpPr>
          <p:cNvPr id="11" name="Text 7"/>
          <p:cNvSpPr txBox="1"/>
          <p:nvPr/>
        </p:nvSpPr>
        <p:spPr>
          <a:xfrm>
            <a:off x="868680" y="4480560"/>
            <a:ext cx="2926080" cy="1188720"/>
          </a:xfrm>
          <a:prstGeom prst="rect">
            <a:avLst/>
          </a:prstGeom>
          <a:noFill/>
          <a:ln/>
        </p:spPr>
        <p:txBody>
          <a:bodyPr wrap="square" lIns="0" tIns="0" rIns="0" bIns="0" rtlCol="0" anchor="t"/>
          <a:lstStyle/>
          <a:p>
            <a:pPr indent="0" marL="0">
              <a:lnSpc>
                <a:spcPct val="115000"/>
              </a:lnSpc>
              <a:buNone/>
            </a:pPr>
            <a:r>
              <a:rPr lang="en-US" sz="1900" b="1" dirty="0">
                <a:solidFill>
                  <a:srgbClr val="1D4636"/>
                </a:solidFill>
                <a:latin typeface="BIZ UDPゴシック" pitchFamily="34" charset="0"/>
                <a:ea typeface="BIZ UDPゴシック" pitchFamily="34" charset="-122"/>
                <a:cs typeface="BIZ UDPゴシック" pitchFamily="34" charset="-120"/>
              </a:rPr>
              <a:t>小規模校の良さを残し、課題を丁寧に考える</a:t>
            </a:r>
            <a:endParaRPr lang="en-US" sz="1900" dirty="0"/>
          </a:p>
        </p:txBody>
      </p:sp>
      <p:sp>
        <p:nvSpPr>
          <p:cNvPr id="12" name="Shape 8"/>
          <p:cNvSpPr/>
          <p:nvPr/>
        </p:nvSpPr>
        <p:spPr>
          <a:xfrm>
            <a:off x="4297680" y="3291840"/>
            <a:ext cx="3566160" cy="2560320"/>
          </a:xfrm>
          <a:prstGeom prst="roundRect">
            <a:avLst>
              <a:gd name="adj" fmla="val 4286"/>
            </a:avLst>
          </a:prstGeom>
          <a:solidFill>
            <a:srgbClr val="F4F7F5"/>
          </a:solidFill>
          <a:ln/>
        </p:spPr>
      </p:sp>
      <p:sp>
        <p:nvSpPr>
          <p:cNvPr id="13" name="Shape 9"/>
          <p:cNvSpPr/>
          <p:nvPr/>
        </p:nvSpPr>
        <p:spPr>
          <a:xfrm>
            <a:off x="4617720" y="3566160"/>
            <a:ext cx="731520" cy="731520"/>
          </a:xfrm>
          <a:prstGeom prst="ellipse">
            <a:avLst/>
          </a:prstGeom>
          <a:solidFill>
            <a:srgbClr val="E8F2EC"/>
          </a:solidFill>
          <a:ln/>
        </p:spPr>
      </p:sp>
      <p:pic>
        <p:nvPicPr>
          <p:cNvPr id="14" name="Image 2" descr="preencoded.png">    </p:cNvPr>
          <p:cNvPicPr>
            <a:picLocks noChangeAspect="1"/>
          </p:cNvPicPr>
          <p:nvPr/>
        </p:nvPicPr>
        <p:blipFill>
          <a:blip r:embed="rId3"/>
          <a:stretch>
            <a:fillRect/>
          </a:stretch>
        </p:blipFill>
        <p:spPr>
          <a:xfrm>
            <a:off x="4778654" y="3727094"/>
            <a:ext cx="409651" cy="409651"/>
          </a:xfrm>
          <a:prstGeom prst="rect">
            <a:avLst/>
          </a:prstGeom>
        </p:spPr>
      </p:pic>
      <p:sp>
        <p:nvSpPr>
          <p:cNvPr id="15" name="Text 10"/>
          <p:cNvSpPr txBox="1"/>
          <p:nvPr/>
        </p:nvSpPr>
        <p:spPr>
          <a:xfrm>
            <a:off x="4617720" y="4480560"/>
            <a:ext cx="2926080" cy="1188720"/>
          </a:xfrm>
          <a:prstGeom prst="rect">
            <a:avLst/>
          </a:prstGeom>
          <a:noFill/>
          <a:ln/>
        </p:spPr>
        <p:txBody>
          <a:bodyPr wrap="square" lIns="0" tIns="0" rIns="0" bIns="0" rtlCol="0" anchor="t"/>
          <a:lstStyle/>
          <a:p>
            <a:pPr indent="0" marL="0">
              <a:lnSpc>
                <a:spcPct val="115000"/>
              </a:lnSpc>
              <a:buNone/>
            </a:pPr>
            <a:r>
              <a:rPr lang="en-US" sz="1900" b="1" dirty="0">
                <a:solidFill>
                  <a:srgbClr val="1D4636"/>
                </a:solidFill>
                <a:latin typeface="BIZ UDPゴシック" pitchFamily="34" charset="0"/>
                <a:ea typeface="BIZ UDPゴシック" pitchFamily="34" charset="-122"/>
                <a:cs typeface="BIZ UDPゴシック" pitchFamily="34" charset="-120"/>
              </a:rPr>
              <a:t>通学の安全と、地域のつながりを守る</a:t>
            </a:r>
            <a:endParaRPr lang="en-US" sz="1900" dirty="0"/>
          </a:p>
        </p:txBody>
      </p:sp>
      <p:sp>
        <p:nvSpPr>
          <p:cNvPr id="16" name="Shape 11"/>
          <p:cNvSpPr/>
          <p:nvPr/>
        </p:nvSpPr>
        <p:spPr>
          <a:xfrm>
            <a:off x="8046720" y="3291840"/>
            <a:ext cx="3566160" cy="2560320"/>
          </a:xfrm>
          <a:prstGeom prst="roundRect">
            <a:avLst>
              <a:gd name="adj" fmla="val 4286"/>
            </a:avLst>
          </a:prstGeom>
          <a:solidFill>
            <a:srgbClr val="F4F7F5"/>
          </a:solidFill>
          <a:ln/>
        </p:spPr>
      </p:sp>
      <p:sp>
        <p:nvSpPr>
          <p:cNvPr id="17" name="Shape 12"/>
          <p:cNvSpPr/>
          <p:nvPr/>
        </p:nvSpPr>
        <p:spPr>
          <a:xfrm>
            <a:off x="8366760" y="3566160"/>
            <a:ext cx="731520" cy="731520"/>
          </a:xfrm>
          <a:prstGeom prst="ellipse">
            <a:avLst/>
          </a:prstGeom>
          <a:solidFill>
            <a:srgbClr val="E8F2EC"/>
          </a:solidFill>
          <a:ln/>
        </p:spPr>
      </p:sp>
      <p:pic>
        <p:nvPicPr>
          <p:cNvPr id="18" name="Image 3" descr="preencoded.png">    </p:cNvPr>
          <p:cNvPicPr>
            <a:picLocks noChangeAspect="1"/>
          </p:cNvPicPr>
          <p:nvPr/>
        </p:nvPicPr>
        <p:blipFill>
          <a:blip r:embed="rId4"/>
          <a:stretch>
            <a:fillRect/>
          </a:stretch>
        </p:blipFill>
        <p:spPr>
          <a:xfrm>
            <a:off x="8527694" y="3727094"/>
            <a:ext cx="409651" cy="409651"/>
          </a:xfrm>
          <a:prstGeom prst="rect">
            <a:avLst/>
          </a:prstGeom>
        </p:spPr>
      </p:pic>
      <p:sp>
        <p:nvSpPr>
          <p:cNvPr id="19" name="Text 13"/>
          <p:cNvSpPr txBox="1"/>
          <p:nvPr/>
        </p:nvSpPr>
        <p:spPr>
          <a:xfrm>
            <a:off x="8366760" y="4480560"/>
            <a:ext cx="2926080" cy="1188720"/>
          </a:xfrm>
          <a:prstGeom prst="rect">
            <a:avLst/>
          </a:prstGeom>
          <a:noFill/>
          <a:ln/>
        </p:spPr>
        <p:txBody>
          <a:bodyPr wrap="square" lIns="0" tIns="0" rIns="0" bIns="0" rtlCol="0" anchor="t"/>
          <a:lstStyle/>
          <a:p>
            <a:pPr indent="0" marL="0">
              <a:lnSpc>
                <a:spcPct val="115000"/>
              </a:lnSpc>
              <a:buNone/>
            </a:pPr>
            <a:r>
              <a:rPr lang="en-US" sz="1900" b="1" dirty="0">
                <a:solidFill>
                  <a:srgbClr val="1D4636"/>
                </a:solidFill>
                <a:latin typeface="BIZ UDPゴシック" pitchFamily="34" charset="0"/>
                <a:ea typeface="BIZ UDPゴシック" pitchFamily="34" charset="-122"/>
                <a:cs typeface="BIZ UDPゴシック" pitchFamily="34" charset="-120"/>
              </a:rPr>
              <a:t>結論を急がず、比較できる情報をそろえる</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01</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現状を知る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児童生徒数と、これからの見通し</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若穂地区の3小学校｜児童数の見通し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令和8年度（2026年度）→ 令和14年度（2032年度）　教育委員会の推計</a:t>
            </a:r>
            <a:endParaRPr lang="en-US" sz="1600" dirty="0"/>
          </a:p>
        </p:txBody>
      </p:sp>
      <p:graphicFrame>
        <p:nvGraphicFramePr>
          <p:cNvPr id="5" name="Chart 0" descr=""/>
          <p:cNvGraphicFramePr/>
          <p:nvPr/>
        </p:nvGraphicFramePr>
        <p:xfrm>
          <a:off x="457200" y="178308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1737360" y="1481328"/>
            <a:ext cx="274320" cy="228600"/>
          </a:xfrm>
          <a:prstGeom prst="rect">
            <a:avLst/>
          </a:prstGeom>
          <a:solidFill>
            <a:srgbClr val="9AA59F"/>
          </a:solidFill>
          <a:ln/>
        </p:spPr>
      </p:sp>
      <p:sp>
        <p:nvSpPr>
          <p:cNvPr id="7" name="Text 4"/>
          <p:cNvSpPr txBox="1"/>
          <p:nvPr/>
        </p:nvSpPr>
        <p:spPr>
          <a:xfrm>
            <a:off x="2103120" y="1435608"/>
            <a:ext cx="2377440" cy="320040"/>
          </a:xfrm>
          <a:prstGeom prst="rect">
            <a:avLst/>
          </a:prstGeom>
          <a:noFill/>
          <a:ln/>
        </p:spPr>
        <p:txBody>
          <a:bodyPr wrap="square" lIns="0" tIns="0" rIns="0" bIns="0" rtlCol="0" anchor="ct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令和8年度（2026）</a:t>
            </a:r>
            <a:endParaRPr lang="en-US" sz="1600" dirty="0"/>
          </a:p>
        </p:txBody>
      </p:sp>
      <p:sp>
        <p:nvSpPr>
          <p:cNvPr id="8" name="Shape 5"/>
          <p:cNvSpPr/>
          <p:nvPr/>
        </p:nvSpPr>
        <p:spPr>
          <a:xfrm>
            <a:off x="4480560" y="1481328"/>
            <a:ext cx="274320" cy="228600"/>
          </a:xfrm>
          <a:prstGeom prst="rect">
            <a:avLst/>
          </a:prstGeom>
          <a:solidFill>
            <a:srgbClr val="2E7D5B"/>
          </a:solidFill>
          <a:ln/>
        </p:spPr>
      </p:sp>
      <p:sp>
        <p:nvSpPr>
          <p:cNvPr id="9" name="Text 6"/>
          <p:cNvSpPr txBox="1"/>
          <p:nvPr/>
        </p:nvSpPr>
        <p:spPr>
          <a:xfrm>
            <a:off x="4846320" y="1435608"/>
            <a:ext cx="2377440" cy="320040"/>
          </a:xfrm>
          <a:prstGeom prst="rect">
            <a:avLst/>
          </a:prstGeom>
          <a:noFill/>
          <a:ln/>
        </p:spPr>
        <p:txBody>
          <a:bodyPr wrap="square" lIns="0" tIns="0" rIns="0" bIns="0" rtlCol="0" anchor="ct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令和14年度（2032）</a:t>
            </a:r>
            <a:endParaRPr lang="en-US" sz="1600" dirty="0"/>
          </a:p>
        </p:txBody>
      </p:sp>
      <p:sp>
        <p:nvSpPr>
          <p:cNvPr id="10" name="Shape 7"/>
          <p:cNvSpPr/>
          <p:nvPr/>
        </p:nvSpPr>
        <p:spPr>
          <a:xfrm>
            <a:off x="7772400" y="1600200"/>
            <a:ext cx="3840480" cy="1234440"/>
          </a:xfrm>
          <a:prstGeom prst="roundRect">
            <a:avLst>
              <a:gd name="adj" fmla="val 8889"/>
            </a:avLst>
          </a:prstGeom>
          <a:solidFill>
            <a:srgbClr val="F4F7F5"/>
          </a:solidFill>
          <a:ln/>
        </p:spPr>
      </p:sp>
      <p:sp>
        <p:nvSpPr>
          <p:cNvPr id="11" name="Text 8"/>
          <p:cNvSpPr txBox="1"/>
          <p:nvPr/>
        </p:nvSpPr>
        <p:spPr>
          <a:xfrm>
            <a:off x="8046720" y="1764792"/>
            <a:ext cx="1463040" cy="457200"/>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綿内小</a:t>
            </a:r>
            <a:endParaRPr lang="en-US" sz="1900" dirty="0"/>
          </a:p>
        </p:txBody>
      </p:sp>
      <p:sp>
        <p:nvSpPr>
          <p:cNvPr id="12" name="Text 9"/>
          <p:cNvSpPr txBox="1"/>
          <p:nvPr/>
        </p:nvSpPr>
        <p:spPr>
          <a:xfrm>
            <a:off x="9509760" y="1709928"/>
            <a:ext cx="1920240" cy="548640"/>
          </a:xfrm>
          <a:prstGeom prst="rect">
            <a:avLst/>
          </a:prstGeom>
          <a:noFill/>
          <a:ln/>
        </p:spPr>
        <p:txBody>
          <a:bodyPr wrap="square" lIns="0" tIns="0" rIns="0" bIns="0" rtlCol="0" anchor="ctr"/>
          <a:lstStyle/>
          <a:p>
            <a:pPr algn="r" indent="0" marL="0">
              <a:buNone/>
            </a:pPr>
            <a:r>
              <a:rPr lang="en-US" sz="3000" b="1" dirty="0">
                <a:solidFill>
                  <a:srgbClr val="2E7D5B"/>
                </a:solidFill>
                <a:latin typeface="BIZ UDPゴシック" pitchFamily="34" charset="0"/>
                <a:ea typeface="BIZ UDPゴシック" pitchFamily="34" charset="-122"/>
                <a:cs typeface="BIZ UDPゴシック" pitchFamily="34" charset="-120"/>
              </a:rPr>
              <a:t>−25%</a:t>
            </a:r>
            <a:endParaRPr lang="en-US" sz="3000" dirty="0"/>
          </a:p>
        </p:txBody>
      </p:sp>
      <p:sp>
        <p:nvSpPr>
          <p:cNvPr id="13" name="Text 10"/>
          <p:cNvSpPr txBox="1"/>
          <p:nvPr/>
        </p:nvSpPr>
        <p:spPr>
          <a:xfrm>
            <a:off x="8046720" y="2331720"/>
            <a:ext cx="338328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273人 → 205人（68人減）</a:t>
            </a:r>
            <a:endParaRPr lang="en-US" sz="1600" dirty="0"/>
          </a:p>
        </p:txBody>
      </p:sp>
      <p:sp>
        <p:nvSpPr>
          <p:cNvPr id="14" name="Shape 11"/>
          <p:cNvSpPr/>
          <p:nvPr/>
        </p:nvSpPr>
        <p:spPr>
          <a:xfrm>
            <a:off x="7772400" y="3017520"/>
            <a:ext cx="3840480" cy="1234440"/>
          </a:xfrm>
          <a:prstGeom prst="roundRect">
            <a:avLst>
              <a:gd name="adj" fmla="val 8889"/>
            </a:avLst>
          </a:prstGeom>
          <a:solidFill>
            <a:srgbClr val="F4F7F5"/>
          </a:solidFill>
          <a:ln/>
        </p:spPr>
      </p:sp>
      <p:sp>
        <p:nvSpPr>
          <p:cNvPr id="15" name="Text 12"/>
          <p:cNvSpPr txBox="1"/>
          <p:nvPr/>
        </p:nvSpPr>
        <p:spPr>
          <a:xfrm>
            <a:off x="8046720" y="3182112"/>
            <a:ext cx="1463040" cy="457200"/>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川田小</a:t>
            </a:r>
            <a:endParaRPr lang="en-US" sz="1900" dirty="0"/>
          </a:p>
        </p:txBody>
      </p:sp>
      <p:sp>
        <p:nvSpPr>
          <p:cNvPr id="16" name="Text 13"/>
          <p:cNvSpPr txBox="1"/>
          <p:nvPr/>
        </p:nvSpPr>
        <p:spPr>
          <a:xfrm>
            <a:off x="9509760" y="3127248"/>
            <a:ext cx="1920240" cy="548640"/>
          </a:xfrm>
          <a:prstGeom prst="rect">
            <a:avLst/>
          </a:prstGeom>
          <a:noFill/>
          <a:ln/>
        </p:spPr>
        <p:txBody>
          <a:bodyPr wrap="square" lIns="0" tIns="0" rIns="0" bIns="0" rtlCol="0" anchor="ctr"/>
          <a:lstStyle/>
          <a:p>
            <a:pPr algn="r" indent="0" marL="0">
              <a:buNone/>
            </a:pPr>
            <a:r>
              <a:rPr lang="en-US" sz="3000" b="1" dirty="0">
                <a:solidFill>
                  <a:srgbClr val="2E7D5B"/>
                </a:solidFill>
                <a:latin typeface="BIZ UDPゴシック" pitchFamily="34" charset="0"/>
                <a:ea typeface="BIZ UDPゴシック" pitchFamily="34" charset="-122"/>
                <a:cs typeface="BIZ UDPゴシック" pitchFamily="34" charset="-120"/>
              </a:rPr>
              <a:t>−47%</a:t>
            </a:r>
            <a:endParaRPr lang="en-US" sz="3000" dirty="0"/>
          </a:p>
        </p:txBody>
      </p:sp>
      <p:sp>
        <p:nvSpPr>
          <p:cNvPr id="17" name="Text 14"/>
          <p:cNvSpPr txBox="1"/>
          <p:nvPr/>
        </p:nvSpPr>
        <p:spPr>
          <a:xfrm>
            <a:off x="8046720" y="3749040"/>
            <a:ext cx="338328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157人 → 83人（74人減）</a:t>
            </a:r>
            <a:endParaRPr lang="en-US" sz="1600" dirty="0"/>
          </a:p>
        </p:txBody>
      </p:sp>
      <p:sp>
        <p:nvSpPr>
          <p:cNvPr id="18" name="Shape 15"/>
          <p:cNvSpPr/>
          <p:nvPr/>
        </p:nvSpPr>
        <p:spPr>
          <a:xfrm>
            <a:off x="7772400" y="4434840"/>
            <a:ext cx="3840480" cy="1234440"/>
          </a:xfrm>
          <a:prstGeom prst="roundRect">
            <a:avLst>
              <a:gd name="adj" fmla="val 8889"/>
            </a:avLst>
          </a:prstGeom>
          <a:solidFill>
            <a:srgbClr val="F4F7F5"/>
          </a:solidFill>
          <a:ln/>
        </p:spPr>
      </p:sp>
      <p:sp>
        <p:nvSpPr>
          <p:cNvPr id="19" name="Text 16"/>
          <p:cNvSpPr txBox="1"/>
          <p:nvPr/>
        </p:nvSpPr>
        <p:spPr>
          <a:xfrm>
            <a:off x="8046720" y="4599432"/>
            <a:ext cx="1463040" cy="457200"/>
          </a:xfrm>
          <a:prstGeom prst="rect">
            <a:avLst/>
          </a:prstGeom>
          <a:noFill/>
          <a:ln/>
        </p:spPr>
        <p:txBody>
          <a:bodyPr wrap="square" lIns="0" tIns="0" rIns="0" bIns="0" rtlCol="0" anchor="ctr"/>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保科小</a:t>
            </a:r>
            <a:endParaRPr lang="en-US" sz="1900" dirty="0"/>
          </a:p>
        </p:txBody>
      </p:sp>
      <p:sp>
        <p:nvSpPr>
          <p:cNvPr id="20" name="Text 17"/>
          <p:cNvSpPr txBox="1"/>
          <p:nvPr/>
        </p:nvSpPr>
        <p:spPr>
          <a:xfrm>
            <a:off x="9509760" y="4544568"/>
            <a:ext cx="1920240" cy="548640"/>
          </a:xfrm>
          <a:prstGeom prst="rect">
            <a:avLst/>
          </a:prstGeom>
          <a:noFill/>
          <a:ln/>
        </p:spPr>
        <p:txBody>
          <a:bodyPr wrap="square" lIns="0" tIns="0" rIns="0" bIns="0" rtlCol="0" anchor="ctr"/>
          <a:lstStyle/>
          <a:p>
            <a:pPr algn="r" indent="0" marL="0">
              <a:buNone/>
            </a:pPr>
            <a:r>
              <a:rPr lang="en-US" sz="3000" b="1" dirty="0">
                <a:solidFill>
                  <a:srgbClr val="2E7D5B"/>
                </a:solidFill>
                <a:latin typeface="BIZ UDPゴシック" pitchFamily="34" charset="0"/>
                <a:ea typeface="BIZ UDPゴシック" pitchFamily="34" charset="-122"/>
                <a:cs typeface="BIZ UDPゴシック" pitchFamily="34" charset="-120"/>
              </a:rPr>
              <a:t>−22%</a:t>
            </a:r>
            <a:endParaRPr lang="en-US" sz="3000" dirty="0"/>
          </a:p>
        </p:txBody>
      </p:sp>
      <p:sp>
        <p:nvSpPr>
          <p:cNvPr id="21" name="Text 18"/>
          <p:cNvSpPr txBox="1"/>
          <p:nvPr/>
        </p:nvSpPr>
        <p:spPr>
          <a:xfrm>
            <a:off x="8046720" y="5166360"/>
            <a:ext cx="338328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54人 → 42人（12人減）</a:t>
            </a:r>
            <a:endParaRPr lang="en-US" sz="1600" dirty="0"/>
          </a:p>
        </p:txBody>
      </p:sp>
      <p:sp>
        <p:nvSpPr>
          <p:cNvPr id="22" name="Text 1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出典：提供資料「児童数推計」（R8.5.1現在）。将来推計は変動します。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3小学校の児童数合計は約32％減少</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令和8年度（2026年度）→ 令和14年度（2032年度）</a:t>
            </a:r>
            <a:endParaRPr lang="en-US" sz="1600" dirty="0"/>
          </a:p>
        </p:txBody>
      </p:sp>
      <p:sp>
        <p:nvSpPr>
          <p:cNvPr id="5" name="Text 3"/>
          <p:cNvSpPr txBox="1"/>
          <p:nvPr/>
        </p:nvSpPr>
        <p:spPr>
          <a:xfrm>
            <a:off x="548640" y="1645920"/>
            <a:ext cx="2377440" cy="1097280"/>
          </a:xfrm>
          <a:prstGeom prst="rect">
            <a:avLst/>
          </a:prstGeom>
          <a:noFill/>
          <a:ln/>
        </p:spPr>
        <p:txBody>
          <a:bodyPr wrap="square" lIns="0" tIns="0" rIns="0" bIns="0" rtlCol="0" anchor="t"/>
          <a:lstStyle/>
          <a:p>
            <a:pPr algn="r" indent="0" marL="0">
              <a:buNone/>
            </a:pPr>
            <a:r>
              <a:rPr lang="en-US" sz="6600" b="1" dirty="0">
                <a:solidFill>
                  <a:srgbClr val="9AA59F"/>
                </a:solidFill>
                <a:latin typeface="BIZ UDPゴシック" pitchFamily="34" charset="0"/>
                <a:ea typeface="BIZ UDPゴシック" pitchFamily="34" charset="-122"/>
                <a:cs typeface="BIZ UDPゴシック" pitchFamily="34" charset="-120"/>
              </a:rPr>
              <a:t>484</a:t>
            </a:r>
            <a:endParaRPr lang="en-US" sz="6600" dirty="0"/>
          </a:p>
        </p:txBody>
      </p:sp>
      <p:sp>
        <p:nvSpPr>
          <p:cNvPr id="6" name="Text 4"/>
          <p:cNvSpPr txBox="1"/>
          <p:nvPr/>
        </p:nvSpPr>
        <p:spPr>
          <a:xfrm>
            <a:off x="2971800" y="2148840"/>
            <a:ext cx="457200" cy="548640"/>
          </a:xfrm>
          <a:prstGeom prst="rect">
            <a:avLst/>
          </a:prstGeom>
          <a:noFill/>
          <a:ln/>
        </p:spPr>
        <p:txBody>
          <a:bodyPr wrap="square" lIns="0" tIns="0" rIns="0" bIns="0" rtlCol="0" anchor="t"/>
          <a:lstStyle/>
          <a:p>
            <a:pPr indent="0" marL="0">
              <a:buNone/>
            </a:pPr>
            <a:r>
              <a:rPr lang="en-US" sz="2200" dirty="0">
                <a:solidFill>
                  <a:srgbClr val="9AA59F"/>
                </a:solidFill>
                <a:latin typeface="BIZ UDPゴシック" pitchFamily="34" charset="0"/>
                <a:ea typeface="BIZ UDPゴシック" pitchFamily="34" charset="-122"/>
                <a:cs typeface="BIZ UDPゴシック" pitchFamily="34" charset="-120"/>
              </a:rPr>
              <a:t>人</a:t>
            </a:r>
            <a:endParaRPr lang="en-US" sz="2200" dirty="0"/>
          </a:p>
        </p:txBody>
      </p:sp>
      <p:sp>
        <p:nvSpPr>
          <p:cNvPr id="7" name="Text 5"/>
          <p:cNvSpPr txBox="1"/>
          <p:nvPr/>
        </p:nvSpPr>
        <p:spPr>
          <a:xfrm>
            <a:off x="548640" y="2743200"/>
            <a:ext cx="2834640" cy="365760"/>
          </a:xfrm>
          <a:prstGeom prst="rect">
            <a:avLst/>
          </a:prstGeom>
          <a:noFill/>
          <a:ln/>
        </p:spPr>
        <p:txBody>
          <a:bodyPr wrap="square" lIns="0" tIns="0" rIns="0" bIns="0" rtlCol="0" anchor="t"/>
          <a:lstStyle/>
          <a:p>
            <a:pPr algn="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令和8年度（2026）</a:t>
            </a:r>
            <a:endParaRPr lang="en-US" sz="1500" dirty="0"/>
          </a:p>
        </p:txBody>
      </p:sp>
      <p:sp>
        <p:nvSpPr>
          <p:cNvPr id="8" name="Shape 6"/>
          <p:cNvSpPr/>
          <p:nvPr/>
        </p:nvSpPr>
        <p:spPr>
          <a:xfrm>
            <a:off x="3611880" y="1965960"/>
            <a:ext cx="914400" cy="548640"/>
          </a:xfrm>
          <a:prstGeom prst="rightArrow">
            <a:avLst/>
          </a:prstGeom>
          <a:solidFill>
            <a:srgbClr val="D7DFDA"/>
          </a:solidFill>
          <a:ln/>
        </p:spPr>
      </p:sp>
      <p:sp>
        <p:nvSpPr>
          <p:cNvPr id="9" name="Text 7"/>
          <p:cNvSpPr txBox="1"/>
          <p:nvPr/>
        </p:nvSpPr>
        <p:spPr>
          <a:xfrm>
            <a:off x="4663440" y="1645920"/>
            <a:ext cx="2377440" cy="1097280"/>
          </a:xfrm>
          <a:prstGeom prst="rect">
            <a:avLst/>
          </a:prstGeom>
          <a:noFill/>
          <a:ln/>
        </p:spPr>
        <p:txBody>
          <a:bodyPr wrap="square" lIns="0" tIns="0" rIns="0" bIns="0" rtlCol="0" anchor="t"/>
          <a:lstStyle/>
          <a:p>
            <a:pPr indent="0" marL="0">
              <a:buNone/>
            </a:pPr>
            <a:r>
              <a:rPr lang="en-US" sz="6600" b="1" dirty="0">
                <a:solidFill>
                  <a:srgbClr val="2E7D5B"/>
                </a:solidFill>
                <a:latin typeface="BIZ UDPゴシック" pitchFamily="34" charset="0"/>
                <a:ea typeface="BIZ UDPゴシック" pitchFamily="34" charset="-122"/>
                <a:cs typeface="BIZ UDPゴシック" pitchFamily="34" charset="-120"/>
              </a:rPr>
              <a:t>330</a:t>
            </a:r>
            <a:endParaRPr lang="en-US" sz="6600" dirty="0"/>
          </a:p>
        </p:txBody>
      </p:sp>
      <p:sp>
        <p:nvSpPr>
          <p:cNvPr id="10" name="Text 8"/>
          <p:cNvSpPr txBox="1"/>
          <p:nvPr/>
        </p:nvSpPr>
        <p:spPr>
          <a:xfrm>
            <a:off x="6355080" y="2148840"/>
            <a:ext cx="457200" cy="548640"/>
          </a:xfrm>
          <a:prstGeom prst="rect">
            <a:avLst/>
          </a:prstGeom>
          <a:noFill/>
          <a:ln/>
        </p:spPr>
        <p:txBody>
          <a:bodyPr wrap="square" lIns="0" tIns="0" rIns="0" bIns="0" rtlCol="0" anchor="t"/>
          <a:lstStyle/>
          <a:p>
            <a:pPr indent="0" marL="0">
              <a:buNone/>
            </a:pPr>
            <a:r>
              <a:rPr lang="en-US" sz="2200" dirty="0">
                <a:solidFill>
                  <a:srgbClr val="2E7D5B"/>
                </a:solidFill>
                <a:latin typeface="BIZ UDPゴシック" pitchFamily="34" charset="0"/>
                <a:ea typeface="BIZ UDPゴシック" pitchFamily="34" charset="-122"/>
                <a:cs typeface="BIZ UDPゴシック" pitchFamily="34" charset="-120"/>
              </a:rPr>
              <a:t>人</a:t>
            </a:r>
            <a:endParaRPr lang="en-US" sz="2200" dirty="0"/>
          </a:p>
        </p:txBody>
      </p:sp>
      <p:sp>
        <p:nvSpPr>
          <p:cNvPr id="11" name="Text 9"/>
          <p:cNvSpPr txBox="1"/>
          <p:nvPr/>
        </p:nvSpPr>
        <p:spPr>
          <a:xfrm>
            <a:off x="4663440" y="2743200"/>
            <a:ext cx="2834640" cy="36576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令和14年度（2032）</a:t>
            </a:r>
            <a:endParaRPr lang="en-US" sz="1500" dirty="0"/>
          </a:p>
        </p:txBody>
      </p:sp>
      <p:graphicFrame>
        <p:nvGraphicFramePr>
          <p:cNvPr id="12" name="Chart 0" descr=""/>
          <p:cNvGraphicFramePr/>
          <p:nvPr/>
        </p:nvGraphicFramePr>
        <p:xfrm>
          <a:off x="7589520" y="1417320"/>
          <a:ext cx="4114800" cy="265176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548640" y="4343400"/>
            <a:ext cx="11064240" cy="1463040"/>
          </a:xfrm>
          <a:prstGeom prst="roundRect">
            <a:avLst>
              <a:gd name="adj" fmla="val 7500"/>
            </a:avLst>
          </a:prstGeom>
          <a:solidFill>
            <a:srgbClr val="F4F7F5"/>
          </a:solidFill>
          <a:ln/>
        </p:spPr>
      </p:sp>
      <p:sp>
        <p:nvSpPr>
          <p:cNvPr id="14" name="Text 11"/>
          <p:cNvSpPr txBox="1"/>
          <p:nvPr/>
        </p:nvSpPr>
        <p:spPr>
          <a:xfrm>
            <a:off x="868680" y="4526280"/>
            <a:ext cx="10515600" cy="411480"/>
          </a:xfrm>
          <a:prstGeom prst="rect">
            <a:avLst/>
          </a:prstGeom>
          <a:noFill/>
          <a:ln/>
        </p:spPr>
        <p:txBody>
          <a:bodyPr wrap="square" lIns="0" tIns="0" rIns="0" bIns="0" rtlCol="0" anchor="t"/>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学校ごとに異なる減少の姿</a:t>
            </a:r>
            <a:endParaRPr lang="en-US" sz="2000" dirty="0"/>
          </a:p>
        </p:txBody>
      </p:sp>
      <p:sp>
        <p:nvSpPr>
          <p:cNvPr id="15" name="Text 12"/>
          <p:cNvSpPr txBox="1"/>
          <p:nvPr/>
        </p:nvSpPr>
        <p:spPr>
          <a:xfrm>
            <a:off x="868680" y="4983480"/>
            <a:ext cx="914400" cy="4114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綿内小</a:t>
            </a:r>
            <a:endParaRPr lang="en-US" sz="1800" dirty="0"/>
          </a:p>
        </p:txBody>
      </p:sp>
      <p:sp>
        <p:nvSpPr>
          <p:cNvPr id="16" name="Text 13"/>
          <p:cNvSpPr txBox="1"/>
          <p:nvPr/>
        </p:nvSpPr>
        <p:spPr>
          <a:xfrm>
            <a:off x="1783080" y="4983480"/>
            <a:ext cx="256032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68人減（−25%）</a:t>
            </a:r>
            <a:endParaRPr lang="en-US" sz="1700" dirty="0"/>
          </a:p>
        </p:txBody>
      </p:sp>
      <p:sp>
        <p:nvSpPr>
          <p:cNvPr id="17" name="Text 14"/>
          <p:cNvSpPr txBox="1"/>
          <p:nvPr/>
        </p:nvSpPr>
        <p:spPr>
          <a:xfrm>
            <a:off x="4434840" y="4983480"/>
            <a:ext cx="914400" cy="4114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川田小</a:t>
            </a:r>
            <a:endParaRPr lang="en-US" sz="1800" dirty="0"/>
          </a:p>
        </p:txBody>
      </p:sp>
      <p:sp>
        <p:nvSpPr>
          <p:cNvPr id="18" name="Text 15"/>
          <p:cNvSpPr txBox="1"/>
          <p:nvPr/>
        </p:nvSpPr>
        <p:spPr>
          <a:xfrm>
            <a:off x="5349240" y="4983480"/>
            <a:ext cx="256032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74人減（−47%）</a:t>
            </a:r>
            <a:endParaRPr lang="en-US" sz="1700" dirty="0"/>
          </a:p>
        </p:txBody>
      </p:sp>
      <p:sp>
        <p:nvSpPr>
          <p:cNvPr id="19" name="Text 16"/>
          <p:cNvSpPr txBox="1"/>
          <p:nvPr/>
        </p:nvSpPr>
        <p:spPr>
          <a:xfrm>
            <a:off x="8001000" y="4983480"/>
            <a:ext cx="914400" cy="4114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保科小</a:t>
            </a:r>
            <a:endParaRPr lang="en-US" sz="1800" dirty="0"/>
          </a:p>
        </p:txBody>
      </p:sp>
      <p:sp>
        <p:nvSpPr>
          <p:cNvPr id="20" name="Text 17"/>
          <p:cNvSpPr txBox="1"/>
          <p:nvPr/>
        </p:nvSpPr>
        <p:spPr>
          <a:xfrm>
            <a:off x="8915400" y="4983480"/>
            <a:ext cx="256032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12人減（−22%）</a:t>
            </a:r>
            <a:endParaRPr lang="en-US" sz="1700" dirty="0"/>
          </a:p>
        </p:txBody>
      </p:sp>
      <p:sp>
        <p:nvSpPr>
          <p:cNvPr id="21" name="Text 18"/>
          <p:cNvSpPr txBox="1"/>
          <p:nvPr/>
        </p:nvSpPr>
        <p:spPr>
          <a:xfrm>
            <a:off x="868680" y="5440680"/>
            <a:ext cx="10515600" cy="32004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3校の新1年生の合計は 72人（R8）→ 34人（R14）。</a:t>
            </a:r>
            <a:endParaRPr lang="en-US" sz="1600" dirty="0"/>
          </a:p>
        </p:txBody>
      </p:sp>
      <p:sp>
        <p:nvSpPr>
          <p:cNvPr id="22" name="Text 1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数値は提供推計（R8.5.1現在）の合計から算出。</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若穂中学校も生徒数が減少する見通し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令和8年度（2026年度）→ 令和20年度（2038年度）</a:t>
            </a:r>
            <a:endParaRPr lang="en-US" sz="1600" dirty="0"/>
          </a:p>
        </p:txBody>
      </p:sp>
      <p:graphicFrame>
        <p:nvGraphicFramePr>
          <p:cNvPr id="5" name="Chart 0" descr=""/>
          <p:cNvGraphicFramePr/>
          <p:nvPr/>
        </p:nvGraphicFramePr>
        <p:xfrm>
          <a:off x="457200" y="1417320"/>
          <a:ext cx="731520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38160" y="1508760"/>
            <a:ext cx="3474720" cy="1920240"/>
          </a:xfrm>
          <a:prstGeom prst="roundRect">
            <a:avLst>
              <a:gd name="adj" fmla="val 5714"/>
            </a:avLst>
          </a:prstGeom>
          <a:solidFill>
            <a:srgbClr val="E8F2EC"/>
          </a:solidFill>
          <a:ln/>
        </p:spPr>
      </p:sp>
      <p:sp>
        <p:nvSpPr>
          <p:cNvPr id="7" name="Text 4"/>
          <p:cNvSpPr txBox="1"/>
          <p:nvPr/>
        </p:nvSpPr>
        <p:spPr>
          <a:xfrm>
            <a:off x="8412480" y="1645920"/>
            <a:ext cx="3017520" cy="914400"/>
          </a:xfrm>
          <a:prstGeom prst="rect">
            <a:avLst/>
          </a:prstGeom>
          <a:noFill/>
          <a:ln/>
        </p:spPr>
        <p:txBody>
          <a:bodyPr wrap="square" lIns="0" tIns="0" rIns="0" bIns="0" rtlCol="0" anchor="t"/>
          <a:lstStyle/>
          <a:p>
            <a:pPr indent="0" marL="0">
              <a:buNone/>
            </a:pPr>
            <a:r>
              <a:rPr lang="en-US" sz="4400" b="1" dirty="0">
                <a:solidFill>
                  <a:srgbClr val="2E7D5B"/>
                </a:solidFill>
                <a:latin typeface="BIZ UDPゴシック" pitchFamily="34" charset="0"/>
                <a:ea typeface="BIZ UDPゴシック" pitchFamily="34" charset="-122"/>
                <a:cs typeface="BIZ UDPゴシック" pitchFamily="34" charset="-120"/>
              </a:rPr>
              <a:t>約55%減</a:t>
            </a:r>
            <a:endParaRPr lang="en-US" sz="4400" dirty="0"/>
          </a:p>
        </p:txBody>
      </p:sp>
      <p:sp>
        <p:nvSpPr>
          <p:cNvPr id="8" name="Text 5"/>
          <p:cNvSpPr txBox="1"/>
          <p:nvPr/>
        </p:nvSpPr>
        <p:spPr>
          <a:xfrm>
            <a:off x="8412480" y="2606040"/>
            <a:ext cx="3017520" cy="4572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284人 → 129人</a:t>
            </a:r>
            <a:endParaRPr lang="en-US" sz="1800" dirty="0"/>
          </a:p>
        </p:txBody>
      </p:sp>
      <p:sp>
        <p:nvSpPr>
          <p:cNvPr id="9" name="Shape 6"/>
          <p:cNvSpPr/>
          <p:nvPr/>
        </p:nvSpPr>
        <p:spPr>
          <a:xfrm>
            <a:off x="8138160" y="3657600"/>
            <a:ext cx="3474720" cy="2148840"/>
          </a:xfrm>
          <a:prstGeom prst="roundRect">
            <a:avLst>
              <a:gd name="adj" fmla="val 5106"/>
            </a:avLst>
          </a:prstGeom>
          <a:solidFill>
            <a:srgbClr val="F4F7F5"/>
          </a:solidFill>
          <a:ln/>
        </p:spPr>
      </p:sp>
      <p:sp>
        <p:nvSpPr>
          <p:cNvPr id="10" name="Text 7"/>
          <p:cNvSpPr txBox="1"/>
          <p:nvPr/>
        </p:nvSpPr>
        <p:spPr>
          <a:xfrm>
            <a:off x="8412480" y="3794760"/>
            <a:ext cx="3017520" cy="777240"/>
          </a:xfrm>
          <a:prstGeom prst="rect">
            <a:avLst/>
          </a:prstGeom>
          <a:noFill/>
          <a:ln/>
        </p:spPr>
        <p:txBody>
          <a:bodyPr wrap="square" lIns="0" tIns="0" rIns="0" bIns="0" rtlCol="0" anchor="t"/>
          <a:lstStyle/>
          <a:p>
            <a:pPr indent="0" marL="0">
              <a:buNone/>
            </a:pPr>
            <a:r>
              <a:rPr lang="en-US" sz="1700" b="1" dirty="0">
                <a:solidFill>
                  <a:srgbClr val="1D4636"/>
                </a:solidFill>
                <a:latin typeface="BIZ UDPゴシック" pitchFamily="34" charset="0"/>
                <a:ea typeface="BIZ UDPゴシック" pitchFamily="34" charset="-122"/>
                <a:cs typeface="BIZ UDPゴシック" pitchFamily="34" charset="-120"/>
              </a:rPr>
              <a:t>若穂中は、3つの中学校が一つになってできた学校</a:t>
            </a:r>
            <a:endParaRPr lang="en-US" sz="1700" dirty="0"/>
          </a:p>
        </p:txBody>
      </p:sp>
      <p:sp>
        <p:nvSpPr>
          <p:cNvPr id="11" name="Text 8"/>
          <p:cNvSpPr txBox="1"/>
          <p:nvPr/>
        </p:nvSpPr>
        <p:spPr>
          <a:xfrm>
            <a:off x="8412480" y="4617720"/>
            <a:ext cx="3017520" cy="105156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昭和36〜37年（1961〜62年）に統合。部活動など、中学校の環境も合わせて考えます。</a:t>
            </a:r>
            <a:endParaRPr lang="en-US" sz="1500" dirty="0"/>
          </a:p>
        </p:txBody>
      </p:sp>
      <p:sp>
        <p:nvSpPr>
          <p:cNvPr id="12" name="Text 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出典：提供資料「生徒数推計」（R8.5.1現在）。若穂中の成り立ちの出典は［確認中］。</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01  現状を知る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長野市全体と比べても、若穂の減少は大きい</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小学校児童数：令和8年度（2026年度）を100としたときの令和14年度（2032年度）</a:t>
            </a:r>
            <a:endParaRPr lang="en-US" sz="1600" dirty="0"/>
          </a:p>
        </p:txBody>
      </p:sp>
      <p:sp>
        <p:nvSpPr>
          <p:cNvPr id="5" name="Text 3"/>
          <p:cNvSpPr txBox="1"/>
          <p:nvPr/>
        </p:nvSpPr>
        <p:spPr>
          <a:xfrm>
            <a:off x="548640" y="1737360"/>
            <a:ext cx="3657600" cy="411480"/>
          </a:xfrm>
          <a:prstGeom prst="rect">
            <a:avLst/>
          </a:prstGeom>
          <a:noFill/>
          <a:ln/>
        </p:spPr>
        <p:txBody>
          <a:bodyPr wrap="square" lIns="0" tIns="0" rIns="0" bIns="0" rtlCol="0" anchor="t"/>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若穂地区 3小学校</a:t>
            </a:r>
            <a:endParaRPr lang="en-US" sz="1900" dirty="0"/>
          </a:p>
        </p:txBody>
      </p:sp>
      <p:sp>
        <p:nvSpPr>
          <p:cNvPr id="6" name="Text 4"/>
          <p:cNvSpPr txBox="1"/>
          <p:nvPr/>
        </p:nvSpPr>
        <p:spPr>
          <a:xfrm>
            <a:off x="4206240" y="1737360"/>
            <a:ext cx="2926080" cy="411480"/>
          </a:xfrm>
          <a:prstGeom prst="rect">
            <a:avLst/>
          </a:prstGeom>
          <a:noFill/>
          <a:ln/>
        </p:spPr>
        <p:txBody>
          <a:bodyPr wrap="square" lIns="0" tIns="0" rIns="0" bIns="0" rtlCol="0" anchor="t"/>
          <a:lstStyle/>
          <a:p>
            <a:pPr algn="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484人 → 330人</a:t>
            </a:r>
            <a:endParaRPr lang="en-US" sz="1500" dirty="0"/>
          </a:p>
        </p:txBody>
      </p:sp>
      <p:sp>
        <p:nvSpPr>
          <p:cNvPr id="7" name="Shape 5"/>
          <p:cNvSpPr/>
          <p:nvPr/>
        </p:nvSpPr>
        <p:spPr>
          <a:xfrm>
            <a:off x="548640" y="2286000"/>
            <a:ext cx="6583680" cy="548640"/>
          </a:xfrm>
          <a:prstGeom prst="rect">
            <a:avLst/>
          </a:prstGeom>
          <a:solidFill>
            <a:srgbClr val="EEF1F2"/>
          </a:solidFill>
          <a:ln/>
        </p:spPr>
      </p:sp>
      <p:sp>
        <p:nvSpPr>
          <p:cNvPr id="8" name="Shape 6"/>
          <p:cNvSpPr/>
          <p:nvPr/>
        </p:nvSpPr>
        <p:spPr>
          <a:xfrm>
            <a:off x="548640" y="2286000"/>
            <a:ext cx="4488873" cy="548640"/>
          </a:xfrm>
          <a:prstGeom prst="rect">
            <a:avLst/>
          </a:prstGeom>
          <a:solidFill>
            <a:srgbClr val="2E7D5B"/>
          </a:solidFill>
          <a:ln/>
        </p:spPr>
      </p:sp>
      <p:sp>
        <p:nvSpPr>
          <p:cNvPr id="9" name="Text 7"/>
          <p:cNvSpPr txBox="1"/>
          <p:nvPr/>
        </p:nvSpPr>
        <p:spPr>
          <a:xfrm>
            <a:off x="685800" y="2286000"/>
            <a:ext cx="2286000" cy="54864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100 → 68</a:t>
            </a:r>
            <a:endParaRPr lang="en-US" sz="1800" dirty="0"/>
          </a:p>
        </p:txBody>
      </p:sp>
      <p:sp>
        <p:nvSpPr>
          <p:cNvPr id="10" name="Text 8"/>
          <p:cNvSpPr txBox="1"/>
          <p:nvPr/>
        </p:nvSpPr>
        <p:spPr>
          <a:xfrm>
            <a:off x="7406640" y="2057400"/>
            <a:ext cx="2377440" cy="822960"/>
          </a:xfrm>
          <a:prstGeom prst="rect">
            <a:avLst/>
          </a:prstGeom>
          <a:noFill/>
          <a:ln/>
        </p:spPr>
        <p:txBody>
          <a:bodyPr wrap="square" lIns="0" tIns="0" rIns="0" bIns="0" rtlCol="0" anchor="ctr"/>
          <a:lstStyle/>
          <a:p>
            <a:pPr indent="0" marL="0">
              <a:buNone/>
            </a:pPr>
            <a:r>
              <a:rPr lang="en-US" sz="3600" b="1" dirty="0">
                <a:solidFill>
                  <a:srgbClr val="2E7D5B"/>
                </a:solidFill>
                <a:latin typeface="BIZ UDPゴシック" pitchFamily="34" charset="0"/>
                <a:ea typeface="BIZ UDPゴシック" pitchFamily="34" charset="-122"/>
                <a:cs typeface="BIZ UDPゴシック" pitchFamily="34" charset="-120"/>
              </a:rPr>
              <a:t>約32%減</a:t>
            </a:r>
            <a:endParaRPr lang="en-US" sz="3600" dirty="0"/>
          </a:p>
        </p:txBody>
      </p:sp>
      <p:sp>
        <p:nvSpPr>
          <p:cNvPr id="11" name="Text 9"/>
          <p:cNvSpPr txBox="1"/>
          <p:nvPr/>
        </p:nvSpPr>
        <p:spPr>
          <a:xfrm>
            <a:off x="548640" y="3337560"/>
            <a:ext cx="3657600" cy="411480"/>
          </a:xfrm>
          <a:prstGeom prst="rect">
            <a:avLst/>
          </a:prstGeom>
          <a:noFill/>
          <a:ln/>
        </p:spPr>
        <p:txBody>
          <a:bodyPr wrap="square" lIns="0" tIns="0" rIns="0" bIns="0" rtlCol="0" anchor="t"/>
          <a:lstStyle/>
          <a:p>
            <a:pPr indent="0" marL="0">
              <a:buNone/>
            </a:pPr>
            <a:r>
              <a:rPr lang="en-US" sz="1900" b="1" dirty="0">
                <a:solidFill>
                  <a:srgbClr val="1D4636"/>
                </a:solidFill>
                <a:latin typeface="BIZ UDPゴシック" pitchFamily="34" charset="0"/>
                <a:ea typeface="BIZ UDPゴシック" pitchFamily="34" charset="-122"/>
                <a:cs typeface="BIZ UDPゴシック" pitchFamily="34" charset="-120"/>
              </a:rPr>
              <a:t>長野市立小学校 全体</a:t>
            </a:r>
            <a:endParaRPr lang="en-US" sz="1900" dirty="0"/>
          </a:p>
        </p:txBody>
      </p:sp>
      <p:sp>
        <p:nvSpPr>
          <p:cNvPr id="12" name="Text 10"/>
          <p:cNvSpPr txBox="1"/>
          <p:nvPr/>
        </p:nvSpPr>
        <p:spPr>
          <a:xfrm>
            <a:off x="4206240" y="3337560"/>
            <a:ext cx="2926080" cy="411480"/>
          </a:xfrm>
          <a:prstGeom prst="rect">
            <a:avLst/>
          </a:prstGeom>
          <a:noFill/>
          <a:ln/>
        </p:spPr>
        <p:txBody>
          <a:bodyPr wrap="square" lIns="0" tIns="0" rIns="0" bIns="0" rtlCol="0" anchor="t"/>
          <a:lstStyle/>
          <a:p>
            <a:pPr algn="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15,757人 → 12,561人</a:t>
            </a:r>
            <a:endParaRPr lang="en-US" sz="1500" dirty="0"/>
          </a:p>
        </p:txBody>
      </p:sp>
      <p:sp>
        <p:nvSpPr>
          <p:cNvPr id="13" name="Shape 11"/>
          <p:cNvSpPr/>
          <p:nvPr/>
        </p:nvSpPr>
        <p:spPr>
          <a:xfrm>
            <a:off x="548640" y="3886200"/>
            <a:ext cx="6583680" cy="548640"/>
          </a:xfrm>
          <a:prstGeom prst="rect">
            <a:avLst/>
          </a:prstGeom>
          <a:solidFill>
            <a:srgbClr val="EEF1F2"/>
          </a:solidFill>
          <a:ln/>
        </p:spPr>
      </p:sp>
      <p:sp>
        <p:nvSpPr>
          <p:cNvPr id="14" name="Shape 12"/>
          <p:cNvSpPr/>
          <p:nvPr/>
        </p:nvSpPr>
        <p:spPr>
          <a:xfrm>
            <a:off x="548640" y="3886200"/>
            <a:ext cx="5248309" cy="548640"/>
          </a:xfrm>
          <a:prstGeom prst="rect">
            <a:avLst/>
          </a:prstGeom>
          <a:solidFill>
            <a:srgbClr val="9AA59F"/>
          </a:solidFill>
          <a:ln/>
        </p:spPr>
      </p:sp>
      <p:sp>
        <p:nvSpPr>
          <p:cNvPr id="15" name="Text 13"/>
          <p:cNvSpPr txBox="1"/>
          <p:nvPr/>
        </p:nvSpPr>
        <p:spPr>
          <a:xfrm>
            <a:off x="685800" y="3886200"/>
            <a:ext cx="2286000" cy="54864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100 → 80</a:t>
            </a:r>
            <a:endParaRPr lang="en-US" sz="1800" dirty="0"/>
          </a:p>
        </p:txBody>
      </p:sp>
      <p:sp>
        <p:nvSpPr>
          <p:cNvPr id="16" name="Text 14"/>
          <p:cNvSpPr txBox="1"/>
          <p:nvPr/>
        </p:nvSpPr>
        <p:spPr>
          <a:xfrm>
            <a:off x="7406640" y="3657600"/>
            <a:ext cx="2377440" cy="822960"/>
          </a:xfrm>
          <a:prstGeom prst="rect">
            <a:avLst/>
          </a:prstGeom>
          <a:noFill/>
          <a:ln/>
        </p:spPr>
        <p:txBody>
          <a:bodyPr wrap="square" lIns="0" tIns="0" rIns="0" bIns="0" rtlCol="0" anchor="ctr"/>
          <a:lstStyle/>
          <a:p>
            <a:pPr indent="0" marL="0">
              <a:buNone/>
            </a:pPr>
            <a:r>
              <a:rPr lang="en-US" sz="3600" b="1" dirty="0">
                <a:solidFill>
                  <a:srgbClr val="56635D"/>
                </a:solidFill>
                <a:latin typeface="BIZ UDPゴシック" pitchFamily="34" charset="0"/>
                <a:ea typeface="BIZ UDPゴシック" pitchFamily="34" charset="-122"/>
                <a:cs typeface="BIZ UDPゴシック" pitchFamily="34" charset="-120"/>
              </a:rPr>
              <a:t>約20%減</a:t>
            </a:r>
            <a:endParaRPr lang="en-US" sz="3600" dirty="0"/>
          </a:p>
        </p:txBody>
      </p:sp>
      <p:sp>
        <p:nvSpPr>
          <p:cNvPr id="17" name="Shape 15"/>
          <p:cNvSpPr/>
          <p:nvPr/>
        </p:nvSpPr>
        <p:spPr>
          <a:xfrm>
            <a:off x="548640" y="5074920"/>
            <a:ext cx="11064240" cy="777240"/>
          </a:xfrm>
          <a:prstGeom prst="roundRect">
            <a:avLst>
              <a:gd name="adj" fmla="val 14118"/>
            </a:avLst>
          </a:prstGeom>
          <a:solidFill>
            <a:srgbClr val="E8F2EC"/>
          </a:solidFill>
          <a:ln/>
        </p:spPr>
      </p:sp>
      <p:sp>
        <p:nvSpPr>
          <p:cNvPr id="18" name="Text 16"/>
          <p:cNvSpPr txBox="1"/>
          <p:nvPr/>
        </p:nvSpPr>
        <p:spPr>
          <a:xfrm>
            <a:off x="868680" y="5074920"/>
            <a:ext cx="10515600" cy="77724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地域固有の課題として、将来を見据えた検討が必要です。</a:t>
            </a:r>
            <a:endParaRPr lang="en-US" sz="2000" dirty="0"/>
          </a:p>
        </p:txBody>
      </p:sp>
      <p:sp>
        <p:nvSpPr>
          <p:cNvPr id="19" name="Text 17"/>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出典：提供推計データ（R8.5.1現在）。減少率は四捨五入。</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02</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課題を共有する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学校の良さと課題、施設の状況</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小規模校の良さと、考えておきたい課題</a:t>
            </a:r>
            <a:endParaRPr lang="en-US" sz="3000" dirty="0"/>
          </a:p>
        </p:txBody>
      </p:sp>
      <p:sp>
        <p:nvSpPr>
          <p:cNvPr id="4" name="Shape 2"/>
          <p:cNvSpPr/>
          <p:nvPr/>
        </p:nvSpPr>
        <p:spPr>
          <a:xfrm>
            <a:off x="548640" y="1417320"/>
            <a:ext cx="5440680" cy="4160520"/>
          </a:xfrm>
          <a:prstGeom prst="roundRect">
            <a:avLst>
              <a:gd name="adj" fmla="val 2637"/>
            </a:avLst>
          </a:prstGeom>
          <a:solidFill>
            <a:srgbClr val="E8F2EC"/>
          </a:solidFill>
          <a:ln/>
        </p:spPr>
      </p:sp>
      <p:sp>
        <p:nvSpPr>
          <p:cNvPr id="5" name="Shape 3"/>
          <p:cNvSpPr/>
          <p:nvPr/>
        </p:nvSpPr>
        <p:spPr>
          <a:xfrm>
            <a:off x="914400" y="1691640"/>
            <a:ext cx="685800" cy="68580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1065276" y="1842516"/>
            <a:ext cx="384048" cy="384048"/>
          </a:xfrm>
          <a:prstGeom prst="rect">
            <a:avLst/>
          </a:prstGeom>
        </p:spPr>
      </p:pic>
      <p:sp>
        <p:nvSpPr>
          <p:cNvPr id="7" name="Text 4"/>
          <p:cNvSpPr txBox="1"/>
          <p:nvPr/>
        </p:nvSpPr>
        <p:spPr>
          <a:xfrm>
            <a:off x="1783080" y="169164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大切にしたい良さ</a:t>
            </a:r>
            <a:endParaRPr lang="en-US" sz="2400" dirty="0"/>
          </a:p>
        </p:txBody>
      </p:sp>
      <p:sp>
        <p:nvSpPr>
          <p:cNvPr id="8" name="Shape 5"/>
          <p:cNvSpPr/>
          <p:nvPr/>
        </p:nvSpPr>
        <p:spPr>
          <a:xfrm>
            <a:off x="1051560" y="2852928"/>
            <a:ext cx="164592" cy="164592"/>
          </a:xfrm>
          <a:prstGeom prst="ellipse">
            <a:avLst/>
          </a:prstGeom>
          <a:solidFill>
            <a:srgbClr val="2E7D5B"/>
          </a:solidFill>
          <a:ln/>
        </p:spPr>
      </p:sp>
      <p:sp>
        <p:nvSpPr>
          <p:cNvPr id="9" name="Text 6"/>
          <p:cNvSpPr txBox="1"/>
          <p:nvPr/>
        </p:nvSpPr>
        <p:spPr>
          <a:xfrm>
            <a:off x="1417320" y="26974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一人ひとりへの目配り</a:t>
            </a:r>
            <a:endParaRPr lang="en-US" sz="1900" dirty="0"/>
          </a:p>
        </p:txBody>
      </p:sp>
      <p:sp>
        <p:nvSpPr>
          <p:cNvPr id="10" name="Shape 7"/>
          <p:cNvSpPr/>
          <p:nvPr/>
        </p:nvSpPr>
        <p:spPr>
          <a:xfrm>
            <a:off x="1051560" y="3538728"/>
            <a:ext cx="164592" cy="164592"/>
          </a:xfrm>
          <a:prstGeom prst="ellipse">
            <a:avLst/>
          </a:prstGeom>
          <a:solidFill>
            <a:srgbClr val="2E7D5B"/>
          </a:solidFill>
          <a:ln/>
        </p:spPr>
      </p:sp>
      <p:sp>
        <p:nvSpPr>
          <p:cNvPr id="11" name="Text 8"/>
          <p:cNvSpPr txBox="1"/>
          <p:nvPr/>
        </p:nvSpPr>
        <p:spPr>
          <a:xfrm>
            <a:off x="1417320" y="33832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学年間の交流</a:t>
            </a:r>
            <a:endParaRPr lang="en-US" sz="1900" dirty="0"/>
          </a:p>
        </p:txBody>
      </p:sp>
      <p:sp>
        <p:nvSpPr>
          <p:cNvPr id="12" name="Shape 9"/>
          <p:cNvSpPr/>
          <p:nvPr/>
        </p:nvSpPr>
        <p:spPr>
          <a:xfrm>
            <a:off x="1051560" y="4224528"/>
            <a:ext cx="164592" cy="164592"/>
          </a:xfrm>
          <a:prstGeom prst="ellipse">
            <a:avLst/>
          </a:prstGeom>
          <a:solidFill>
            <a:srgbClr val="2E7D5B"/>
          </a:solidFill>
          <a:ln/>
        </p:spPr>
      </p:sp>
      <p:sp>
        <p:nvSpPr>
          <p:cNvPr id="13" name="Text 10"/>
          <p:cNvSpPr txBox="1"/>
          <p:nvPr/>
        </p:nvSpPr>
        <p:spPr>
          <a:xfrm>
            <a:off x="1417320" y="40690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地域と学校の近い関係</a:t>
            </a:r>
            <a:endParaRPr lang="en-US" sz="1900" dirty="0"/>
          </a:p>
        </p:txBody>
      </p:sp>
      <p:sp>
        <p:nvSpPr>
          <p:cNvPr id="14" name="Shape 11"/>
          <p:cNvSpPr/>
          <p:nvPr/>
        </p:nvSpPr>
        <p:spPr>
          <a:xfrm>
            <a:off x="1051560" y="4910328"/>
            <a:ext cx="164592" cy="164592"/>
          </a:xfrm>
          <a:prstGeom prst="ellipse">
            <a:avLst/>
          </a:prstGeom>
          <a:solidFill>
            <a:srgbClr val="2E7D5B"/>
          </a:solidFill>
          <a:ln/>
        </p:spPr>
      </p:sp>
      <p:sp>
        <p:nvSpPr>
          <p:cNvPr id="15" name="Text 12"/>
          <p:cNvSpPr txBox="1"/>
          <p:nvPr/>
        </p:nvSpPr>
        <p:spPr>
          <a:xfrm>
            <a:off x="1417320" y="47548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安心できる人間関係</a:t>
            </a:r>
            <a:endParaRPr lang="en-US" sz="1900" dirty="0"/>
          </a:p>
        </p:txBody>
      </p:sp>
      <p:sp>
        <p:nvSpPr>
          <p:cNvPr id="16" name="Shape 13"/>
          <p:cNvSpPr/>
          <p:nvPr/>
        </p:nvSpPr>
        <p:spPr>
          <a:xfrm>
            <a:off x="6172200" y="1417320"/>
            <a:ext cx="5440680" cy="4160520"/>
          </a:xfrm>
          <a:prstGeom prst="roundRect">
            <a:avLst>
              <a:gd name="adj" fmla="val 2637"/>
            </a:avLst>
          </a:prstGeom>
          <a:solidFill>
            <a:srgbClr val="FCEBE6"/>
          </a:solidFill>
          <a:ln/>
        </p:spPr>
      </p:sp>
      <p:sp>
        <p:nvSpPr>
          <p:cNvPr id="17" name="Shape 14"/>
          <p:cNvSpPr/>
          <p:nvPr/>
        </p:nvSpPr>
        <p:spPr>
          <a:xfrm>
            <a:off x="6537960" y="1691640"/>
            <a:ext cx="685800" cy="685800"/>
          </a:xfrm>
          <a:prstGeom prst="ellipse">
            <a:avLst/>
          </a:prstGeom>
          <a:solidFill>
            <a:srgbClr val="D9573E"/>
          </a:solidFill>
          <a:ln/>
        </p:spPr>
      </p:sp>
      <p:pic>
        <p:nvPicPr>
          <p:cNvPr id="18" name="Image 1" descr="preencoded.png">    </p:cNvPr>
          <p:cNvPicPr>
            <a:picLocks noChangeAspect="1"/>
          </p:cNvPicPr>
          <p:nvPr/>
        </p:nvPicPr>
        <p:blipFill>
          <a:blip r:embed="rId2"/>
          <a:stretch>
            <a:fillRect/>
          </a:stretch>
        </p:blipFill>
        <p:spPr>
          <a:xfrm>
            <a:off x="6688836" y="1842516"/>
            <a:ext cx="384048" cy="384048"/>
          </a:xfrm>
          <a:prstGeom prst="rect">
            <a:avLst/>
          </a:prstGeom>
        </p:spPr>
      </p:pic>
      <p:sp>
        <p:nvSpPr>
          <p:cNvPr id="19" name="Text 15"/>
          <p:cNvSpPr txBox="1"/>
          <p:nvPr/>
        </p:nvSpPr>
        <p:spPr>
          <a:xfrm>
            <a:off x="7406640" y="169164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将来の検討課題</a:t>
            </a:r>
            <a:endParaRPr lang="en-US" sz="2400" dirty="0"/>
          </a:p>
        </p:txBody>
      </p:sp>
      <p:sp>
        <p:nvSpPr>
          <p:cNvPr id="20" name="Shape 16"/>
          <p:cNvSpPr/>
          <p:nvPr/>
        </p:nvSpPr>
        <p:spPr>
          <a:xfrm>
            <a:off x="6675120" y="2852928"/>
            <a:ext cx="164592" cy="164592"/>
          </a:xfrm>
          <a:prstGeom prst="ellipse">
            <a:avLst/>
          </a:prstGeom>
          <a:solidFill>
            <a:srgbClr val="D9573E"/>
          </a:solidFill>
          <a:ln/>
        </p:spPr>
      </p:sp>
      <p:sp>
        <p:nvSpPr>
          <p:cNvPr id="21" name="Text 17"/>
          <p:cNvSpPr txBox="1"/>
          <p:nvPr/>
        </p:nvSpPr>
        <p:spPr>
          <a:xfrm>
            <a:off x="7040880" y="26974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多様な意見に触れる機会</a:t>
            </a:r>
            <a:endParaRPr lang="en-US" sz="1900" dirty="0"/>
          </a:p>
        </p:txBody>
      </p:sp>
      <p:sp>
        <p:nvSpPr>
          <p:cNvPr id="22" name="Shape 18"/>
          <p:cNvSpPr/>
          <p:nvPr/>
        </p:nvSpPr>
        <p:spPr>
          <a:xfrm>
            <a:off x="6675120" y="3538728"/>
            <a:ext cx="164592" cy="164592"/>
          </a:xfrm>
          <a:prstGeom prst="ellipse">
            <a:avLst/>
          </a:prstGeom>
          <a:solidFill>
            <a:srgbClr val="D9573E"/>
          </a:solidFill>
          <a:ln/>
        </p:spPr>
      </p:sp>
      <p:sp>
        <p:nvSpPr>
          <p:cNvPr id="23" name="Text 19"/>
          <p:cNvSpPr txBox="1"/>
          <p:nvPr/>
        </p:nvSpPr>
        <p:spPr>
          <a:xfrm>
            <a:off x="7040880" y="33832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集団活動や行事の選択肢</a:t>
            </a:r>
            <a:endParaRPr lang="en-US" sz="1900" dirty="0"/>
          </a:p>
        </p:txBody>
      </p:sp>
      <p:sp>
        <p:nvSpPr>
          <p:cNvPr id="24" name="Shape 20"/>
          <p:cNvSpPr/>
          <p:nvPr/>
        </p:nvSpPr>
        <p:spPr>
          <a:xfrm>
            <a:off x="6675120" y="4224528"/>
            <a:ext cx="164592" cy="164592"/>
          </a:xfrm>
          <a:prstGeom prst="ellipse">
            <a:avLst/>
          </a:prstGeom>
          <a:solidFill>
            <a:srgbClr val="D9573E"/>
          </a:solidFill>
          <a:ln/>
        </p:spPr>
      </p:sp>
      <p:sp>
        <p:nvSpPr>
          <p:cNvPr id="25" name="Text 21"/>
          <p:cNvSpPr txBox="1"/>
          <p:nvPr/>
        </p:nvSpPr>
        <p:spPr>
          <a:xfrm>
            <a:off x="7040880" y="40690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人間関係の固定化への配慮</a:t>
            </a:r>
            <a:endParaRPr lang="en-US" sz="1900" dirty="0"/>
          </a:p>
        </p:txBody>
      </p:sp>
      <p:sp>
        <p:nvSpPr>
          <p:cNvPr id="26" name="Shape 22"/>
          <p:cNvSpPr/>
          <p:nvPr/>
        </p:nvSpPr>
        <p:spPr>
          <a:xfrm>
            <a:off x="6675120" y="4910328"/>
            <a:ext cx="164592" cy="164592"/>
          </a:xfrm>
          <a:prstGeom prst="ellipse">
            <a:avLst/>
          </a:prstGeom>
          <a:solidFill>
            <a:srgbClr val="D9573E"/>
          </a:solidFill>
          <a:ln/>
        </p:spPr>
      </p:sp>
      <p:sp>
        <p:nvSpPr>
          <p:cNvPr id="27" name="Text 23"/>
          <p:cNvSpPr txBox="1"/>
          <p:nvPr/>
        </p:nvSpPr>
        <p:spPr>
          <a:xfrm>
            <a:off x="7040880" y="4754880"/>
            <a:ext cx="4389120" cy="475488"/>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教員配置や教育活動の持続性</a:t>
            </a:r>
            <a:endParaRPr lang="en-US" sz="1900" dirty="0"/>
          </a:p>
        </p:txBody>
      </p:sp>
      <p:sp>
        <p:nvSpPr>
          <p:cNvPr id="28" name="Text 24"/>
          <p:cNvSpPr txBox="1"/>
          <p:nvPr/>
        </p:nvSpPr>
        <p:spPr>
          <a:xfrm>
            <a:off x="548640" y="5669280"/>
            <a:ext cx="11064240" cy="320040"/>
          </a:xfrm>
          <a:prstGeom prst="rect">
            <a:avLst/>
          </a:prstGeom>
          <a:noFill/>
          <a:ln/>
        </p:spPr>
        <p:txBody>
          <a:bodyPr wrap="square" lIns="0" tIns="0" rIns="0" bIns="0" rtlCol="0" anchor="t"/>
          <a:lstStyle/>
          <a:p>
            <a:pPr algn="ctr" indent="0" marL="0">
              <a:buNone/>
            </a:pPr>
            <a:r>
              <a:rPr lang="en-US" sz="1600" b="1" dirty="0">
                <a:solidFill>
                  <a:srgbClr val="56635D"/>
                </a:solidFill>
                <a:latin typeface="BIZ UDPゴシック" pitchFamily="34" charset="0"/>
                <a:ea typeface="BIZ UDPゴシック" pitchFamily="34" charset="-122"/>
                <a:cs typeface="BIZ UDPゴシック" pitchFamily="34" charset="-120"/>
              </a:rPr>
              <a:t>学校規模だけで教育の良し悪しが決まるものではありません。</a:t>
            </a:r>
            <a:endParaRPr lang="en-US" sz="1600" dirty="0"/>
          </a:p>
        </p:txBody>
      </p:sp>
      <p:sp>
        <p:nvSpPr>
          <p:cNvPr id="29" name="Text 25"/>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各校の具体的な良さ・取り組みは、学校と地域から伺って追加します［聞き取り中］。</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望ましい学校規模の目安と、若穂の見通し</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市の審議のまとめ（2018年）で示された目安に、推計を当てはめると</a:t>
            </a:r>
            <a:endParaRPr lang="en-US" sz="1600" dirty="0"/>
          </a:p>
        </p:txBody>
      </p:sp>
      <p:sp>
        <p:nvSpPr>
          <p:cNvPr id="5" name="Shape 3"/>
          <p:cNvSpPr/>
          <p:nvPr/>
        </p:nvSpPr>
        <p:spPr>
          <a:xfrm>
            <a:off x="548640" y="1508760"/>
            <a:ext cx="4480560" cy="1828800"/>
          </a:xfrm>
          <a:prstGeom prst="roundRect">
            <a:avLst>
              <a:gd name="adj" fmla="val 6000"/>
            </a:avLst>
          </a:prstGeom>
          <a:solidFill>
            <a:srgbClr val="E8F2EC"/>
          </a:solidFill>
          <a:ln/>
        </p:spPr>
      </p:sp>
      <p:sp>
        <p:nvSpPr>
          <p:cNvPr id="6" name="Text 4"/>
          <p:cNvSpPr txBox="1"/>
          <p:nvPr/>
        </p:nvSpPr>
        <p:spPr>
          <a:xfrm>
            <a:off x="822960" y="1673352"/>
            <a:ext cx="393192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国の標準</a:t>
            </a:r>
            <a:endParaRPr lang="en-US" sz="1700" dirty="0"/>
          </a:p>
        </p:txBody>
      </p:sp>
      <p:sp>
        <p:nvSpPr>
          <p:cNvPr id="7" name="Text 5"/>
          <p:cNvSpPr txBox="1"/>
          <p:nvPr/>
        </p:nvSpPr>
        <p:spPr>
          <a:xfrm>
            <a:off x="822960" y="2011680"/>
            <a:ext cx="3931920" cy="868680"/>
          </a:xfrm>
          <a:prstGeom prst="rect">
            <a:avLst/>
          </a:prstGeom>
          <a:noFill/>
          <a:ln/>
        </p:spPr>
        <p:txBody>
          <a:bodyPr wrap="square" lIns="0" tIns="0" rIns="0" bIns="0" rtlCol="0" anchor="ctr"/>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12〜18学級</a:t>
            </a:r>
            <a:endParaRPr lang="en-US" sz="2200" dirty="0"/>
          </a:p>
        </p:txBody>
      </p:sp>
      <p:sp>
        <p:nvSpPr>
          <p:cNvPr id="8" name="Text 6"/>
          <p:cNvSpPr txBox="1"/>
          <p:nvPr/>
        </p:nvSpPr>
        <p:spPr>
          <a:xfrm>
            <a:off x="822960" y="2926080"/>
            <a:ext cx="3931920" cy="292608"/>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小学校・中学校とも（学校教育法施行規則）</a:t>
            </a:r>
            <a:endParaRPr lang="en-US" sz="1400" dirty="0"/>
          </a:p>
        </p:txBody>
      </p:sp>
      <p:sp>
        <p:nvSpPr>
          <p:cNvPr id="9" name="Shape 7"/>
          <p:cNvSpPr/>
          <p:nvPr/>
        </p:nvSpPr>
        <p:spPr>
          <a:xfrm>
            <a:off x="548640" y="3474720"/>
            <a:ext cx="4480560" cy="1828800"/>
          </a:xfrm>
          <a:prstGeom prst="roundRect">
            <a:avLst>
              <a:gd name="adj" fmla="val 6000"/>
            </a:avLst>
          </a:prstGeom>
          <a:solidFill>
            <a:srgbClr val="E8F2EC"/>
          </a:solidFill>
          <a:ln/>
        </p:spPr>
      </p:sp>
      <p:sp>
        <p:nvSpPr>
          <p:cNvPr id="10" name="Text 8"/>
          <p:cNvSpPr txBox="1"/>
          <p:nvPr/>
        </p:nvSpPr>
        <p:spPr>
          <a:xfrm>
            <a:off x="822960" y="3639312"/>
            <a:ext cx="393192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長野県の目安</a:t>
            </a:r>
            <a:endParaRPr lang="en-US" sz="1700" dirty="0"/>
          </a:p>
        </p:txBody>
      </p:sp>
      <p:sp>
        <p:nvSpPr>
          <p:cNvPr id="11" name="Text 9"/>
          <p:cNvSpPr txBox="1"/>
          <p:nvPr/>
        </p:nvSpPr>
        <p:spPr>
          <a:xfrm>
            <a:off x="822960" y="3977640"/>
            <a:ext cx="3931920" cy="868680"/>
          </a:xfrm>
          <a:prstGeom prst="rect">
            <a:avLst/>
          </a:prstGeom>
          <a:noFill/>
          <a:ln/>
        </p:spPr>
        <p:txBody>
          <a:bodyPr wrap="square" lIns="0" tIns="0" rIns="0" bIns="0" rtlCol="0" anchor="ctr"/>
          <a:lstStyle/>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学年に複数の学級</a:t>
            </a:r>
            <a:endParaRPr lang="en-US" sz="2200" dirty="0"/>
          </a:p>
          <a:p>
            <a:pPr indent="0" marL="0">
              <a:buNone/>
            </a:pPr>
            <a:r>
              <a:rPr lang="en-US" sz="2200" b="1" dirty="0">
                <a:solidFill>
                  <a:srgbClr val="1D4636"/>
                </a:solidFill>
                <a:latin typeface="BIZ UDPゴシック" pitchFamily="34" charset="0"/>
                <a:ea typeface="BIZ UDPゴシック" pitchFamily="34" charset="-122"/>
                <a:cs typeface="BIZ UDPゴシック" pitchFamily="34" charset="-120"/>
              </a:rPr>
              <a:t>学年20人程度</a:t>
            </a:r>
            <a:endParaRPr lang="en-US" sz="2200" dirty="0"/>
          </a:p>
        </p:txBody>
      </p:sp>
      <p:sp>
        <p:nvSpPr>
          <p:cNvPr id="12" name="Text 10"/>
          <p:cNvSpPr txBox="1"/>
          <p:nvPr/>
        </p:nvSpPr>
        <p:spPr>
          <a:xfrm>
            <a:off x="822960" y="4892040"/>
            <a:ext cx="3931920" cy="292608"/>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クラス替えができ、一定の集団で学べる規模</a:t>
            </a:r>
            <a:endParaRPr lang="en-US" sz="1400" dirty="0"/>
          </a:p>
        </p:txBody>
      </p:sp>
      <p:sp>
        <p:nvSpPr>
          <p:cNvPr id="13" name="Text 11"/>
          <p:cNvSpPr txBox="1"/>
          <p:nvPr/>
        </p:nvSpPr>
        <p:spPr>
          <a:xfrm>
            <a:off x="5394960" y="1554480"/>
            <a:ext cx="6217920" cy="41148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学年の人数が20人未満になる学年の数</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4960" y="2057400"/>
          <a:ext cx="6217920" cy="914400"/>
        </p:xfrm>
        <a:graphic>
          <a:graphicData uri="http://schemas.openxmlformats.org/drawingml/2006/table">
            <a:tbl>
              <a:tblPr/>
              <a:tblGrid>
                <a:gridCol w="1828800"/>
                <a:gridCol w="2194560"/>
                <a:gridCol w="2194560"/>
              </a:tblGrid>
              <a:tr h="548640">
                <a:tc>
                  <a:txBody>
                    <a:bodyP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学校</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R8（2026）</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R14（2032）</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綿内小</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川田小</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保科小</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6 / 6学年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566928">
                <a:tc>
                  <a:txBody>
                    <a:bodyPr/>
                    <a:lstStyle/>
                    <a:p>
                      <a:pPr algn="l" indent="0" marL="0">
                        <a:buNone/>
                      </a:pPr>
                      <a:r>
                        <a:rPr lang="en-US" sz="1700" b="1" dirty="0">
                          <a:solidFill>
                            <a:srgbClr val="1E2A26"/>
                          </a:solidFill>
                          <a:latin typeface="BIZ UDPゴシック" pitchFamily="34" charset="0"/>
                          <a:ea typeface="BIZ UDPゴシック" pitchFamily="34" charset="-122"/>
                          <a:cs typeface="BIZ UDPゴシック" pitchFamily="34" charset="-120"/>
                        </a:rPr>
                        <a:t>若穂中</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3学年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0 / 3学年</a:t>
                      </a:r>
                      <a:endParaRPr lang="en-US" sz="17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5394960" y="4983480"/>
            <a:ext cx="6217920" cy="54864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学級の数は、学級の人数の基準によって変わります。各校の学級数の見通しは［事務局に確認中］。</a:t>
            </a:r>
            <a:endParaRPr lang="en-US" sz="1500" dirty="0"/>
          </a:p>
        </p:txBody>
      </p:sp>
      <p:sp>
        <p:nvSpPr>
          <p:cNvPr id="16" name="Shape 13"/>
          <p:cNvSpPr/>
          <p:nvPr/>
        </p:nvSpPr>
        <p:spPr>
          <a:xfrm>
            <a:off x="548640" y="5486400"/>
            <a:ext cx="11064240" cy="457200"/>
          </a:xfrm>
          <a:prstGeom prst="roundRect">
            <a:avLst>
              <a:gd name="adj" fmla="val 24000"/>
            </a:avLst>
          </a:prstGeom>
          <a:solidFill>
            <a:srgbClr val="F4F7F5"/>
          </a:solidFill>
          <a:ln/>
        </p:spPr>
      </p:sp>
      <p:sp>
        <p:nvSpPr>
          <p:cNvPr id="17" name="Text 14"/>
          <p:cNvSpPr txBox="1"/>
          <p:nvPr/>
        </p:nvSpPr>
        <p:spPr>
          <a:xfrm>
            <a:off x="731520" y="5486400"/>
            <a:ext cx="10698480" cy="457200"/>
          </a:xfrm>
          <a:prstGeom prst="rect">
            <a:avLst/>
          </a:prstGeom>
          <a:noFill/>
          <a:ln/>
        </p:spPr>
        <p:txBody>
          <a:bodyPr wrap="square" lIns="0" tIns="0" rIns="0" bIns="0" rtlCol="0" anchor="ctr"/>
          <a:lstStyle/>
          <a:p>
            <a:pPr indent="0" marL="0">
              <a:buNone/>
            </a:pPr>
            <a:r>
              <a:rPr lang="en-US" sz="1500" b="1" dirty="0">
                <a:solidFill>
                  <a:srgbClr val="1D4636"/>
                </a:solidFill>
                <a:latin typeface="BIZ UDPゴシック" pitchFamily="34" charset="0"/>
                <a:ea typeface="BIZ UDPゴシック" pitchFamily="34" charset="-122"/>
                <a:cs typeface="BIZ UDPゴシック" pitchFamily="34" charset="-120"/>
              </a:rPr>
              <a:t>目安を下回ることが、そのまま再編の理由にはなりません。校舎の新しさなど、各校の強みも合わせて比べます。</a:t>
            </a:r>
            <a:endParaRPr lang="en-US" sz="1500" dirty="0"/>
          </a:p>
        </p:txBody>
      </p:sp>
      <p:sp>
        <p:nvSpPr>
          <p:cNvPr id="18" name="Text 15"/>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出典：長野市「少子化に対応した子どもにとって望ましい教育環境の在り方について（審議のまとめ）」（2018年）、推計（R8.5.1現在）</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なぜ今、検討するのか</a:t>
            </a:r>
            <a:endParaRPr lang="en-US" sz="3000" dirty="0"/>
          </a:p>
        </p:txBody>
      </p:sp>
      <p:sp>
        <p:nvSpPr>
          <p:cNvPr id="4" name="Shape 2"/>
          <p:cNvSpPr/>
          <p:nvPr/>
        </p:nvSpPr>
        <p:spPr>
          <a:xfrm>
            <a:off x="548640" y="1417320"/>
            <a:ext cx="5440680" cy="2103120"/>
          </a:xfrm>
          <a:prstGeom prst="roundRect">
            <a:avLst>
              <a:gd name="adj" fmla="val 5217"/>
            </a:avLst>
          </a:prstGeom>
          <a:solidFill>
            <a:srgbClr val="F4F7F5"/>
          </a:solidFill>
          <a:ln/>
        </p:spPr>
      </p:sp>
      <p:sp>
        <p:nvSpPr>
          <p:cNvPr id="5" name="Shape 3"/>
          <p:cNvSpPr/>
          <p:nvPr/>
        </p:nvSpPr>
        <p:spPr>
          <a:xfrm>
            <a:off x="868680" y="1737360"/>
            <a:ext cx="822960" cy="82296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1049731" y="1918411"/>
            <a:ext cx="460858" cy="460858"/>
          </a:xfrm>
          <a:prstGeom prst="rect">
            <a:avLst/>
          </a:prstGeom>
        </p:spPr>
      </p:pic>
      <p:sp>
        <p:nvSpPr>
          <p:cNvPr id="7" name="Text 4"/>
          <p:cNvSpPr txBox="1"/>
          <p:nvPr/>
        </p:nvSpPr>
        <p:spPr>
          <a:xfrm>
            <a:off x="1920240" y="1709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児童生徒数の減少は、今後も続く見通し</a:t>
            </a:r>
            <a:endParaRPr lang="en-US" sz="2000" dirty="0"/>
          </a:p>
        </p:txBody>
      </p:sp>
      <p:sp>
        <p:nvSpPr>
          <p:cNvPr id="8" name="Text 5"/>
          <p:cNvSpPr txBox="1"/>
          <p:nvPr/>
        </p:nvSpPr>
        <p:spPr>
          <a:xfrm>
            <a:off x="1920240" y="2651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小学生はR14（2032年度）までに約3割、中学生はR20（2038年度）までに5割以上減る推計</a:t>
            </a:r>
            <a:endParaRPr lang="en-US" sz="1500" dirty="0"/>
          </a:p>
        </p:txBody>
      </p:sp>
      <p:sp>
        <p:nvSpPr>
          <p:cNvPr id="9" name="Shape 6"/>
          <p:cNvSpPr/>
          <p:nvPr/>
        </p:nvSpPr>
        <p:spPr>
          <a:xfrm>
            <a:off x="6172200" y="1417320"/>
            <a:ext cx="5440680" cy="2103120"/>
          </a:xfrm>
          <a:prstGeom prst="roundRect">
            <a:avLst>
              <a:gd name="adj" fmla="val 5217"/>
            </a:avLst>
          </a:prstGeom>
          <a:solidFill>
            <a:srgbClr val="F4F7F5"/>
          </a:solidFill>
          <a:ln/>
        </p:spPr>
      </p:sp>
      <p:sp>
        <p:nvSpPr>
          <p:cNvPr id="10" name="Shape 7"/>
          <p:cNvSpPr/>
          <p:nvPr/>
        </p:nvSpPr>
        <p:spPr>
          <a:xfrm>
            <a:off x="6492240" y="1737360"/>
            <a:ext cx="822960" cy="822960"/>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6673291" y="1918411"/>
            <a:ext cx="460858" cy="460858"/>
          </a:xfrm>
          <a:prstGeom prst="rect">
            <a:avLst/>
          </a:prstGeom>
        </p:spPr>
      </p:pic>
      <p:sp>
        <p:nvSpPr>
          <p:cNvPr id="12" name="Text 8"/>
          <p:cNvSpPr txBox="1"/>
          <p:nvPr/>
        </p:nvSpPr>
        <p:spPr>
          <a:xfrm>
            <a:off x="7543800" y="1709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施設の更新・改修を考える時期と重なる</a:t>
            </a:r>
            <a:endParaRPr lang="en-US" sz="2000" dirty="0"/>
          </a:p>
        </p:txBody>
      </p:sp>
      <p:sp>
        <p:nvSpPr>
          <p:cNvPr id="13" name="Text 9"/>
          <p:cNvSpPr txBox="1"/>
          <p:nvPr/>
        </p:nvSpPr>
        <p:spPr>
          <a:xfrm>
            <a:off x="7543800" y="2651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4校すべてが2030年度までに計画上の更新・改修時期を迎える（実施状況は市に確認中）</a:t>
            </a:r>
            <a:endParaRPr lang="en-US" sz="1500" dirty="0"/>
          </a:p>
        </p:txBody>
      </p:sp>
      <p:sp>
        <p:nvSpPr>
          <p:cNvPr id="14" name="Shape 10"/>
          <p:cNvSpPr/>
          <p:nvPr/>
        </p:nvSpPr>
        <p:spPr>
          <a:xfrm>
            <a:off x="548640" y="3703320"/>
            <a:ext cx="5440680" cy="2103120"/>
          </a:xfrm>
          <a:prstGeom prst="roundRect">
            <a:avLst>
              <a:gd name="adj" fmla="val 5217"/>
            </a:avLst>
          </a:prstGeom>
          <a:solidFill>
            <a:srgbClr val="F4F7F5"/>
          </a:solidFill>
          <a:ln/>
        </p:spPr>
      </p:sp>
      <p:sp>
        <p:nvSpPr>
          <p:cNvPr id="15" name="Shape 11"/>
          <p:cNvSpPr/>
          <p:nvPr/>
        </p:nvSpPr>
        <p:spPr>
          <a:xfrm>
            <a:off x="868680" y="4023360"/>
            <a:ext cx="822960" cy="822960"/>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1049731" y="4204411"/>
            <a:ext cx="460858" cy="460858"/>
          </a:xfrm>
          <a:prstGeom prst="rect">
            <a:avLst/>
          </a:prstGeom>
        </p:spPr>
      </p:pic>
      <p:sp>
        <p:nvSpPr>
          <p:cNvPr id="17" name="Text 12"/>
          <p:cNvSpPr txBox="1"/>
          <p:nvPr/>
        </p:nvSpPr>
        <p:spPr>
          <a:xfrm>
            <a:off x="1920240" y="3995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通学や地域活動への影響を調べるには時間が必要</a:t>
            </a:r>
            <a:endParaRPr lang="en-US" sz="2000" dirty="0"/>
          </a:p>
        </p:txBody>
      </p:sp>
      <p:sp>
        <p:nvSpPr>
          <p:cNvPr id="18" name="Text 13"/>
          <p:cNvSpPr txBox="1"/>
          <p:nvPr/>
        </p:nvSpPr>
        <p:spPr>
          <a:xfrm>
            <a:off x="1920240" y="4937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調査・比較・地区ごとの対話に、2年ほどかけて丁寧に</a:t>
            </a:r>
            <a:endParaRPr lang="en-US" sz="1500" dirty="0"/>
          </a:p>
        </p:txBody>
      </p:sp>
      <p:sp>
        <p:nvSpPr>
          <p:cNvPr id="19" name="Shape 14"/>
          <p:cNvSpPr/>
          <p:nvPr/>
        </p:nvSpPr>
        <p:spPr>
          <a:xfrm>
            <a:off x="6172200" y="3703320"/>
            <a:ext cx="5440680" cy="2103120"/>
          </a:xfrm>
          <a:prstGeom prst="roundRect">
            <a:avLst>
              <a:gd name="adj" fmla="val 5217"/>
            </a:avLst>
          </a:prstGeom>
          <a:solidFill>
            <a:srgbClr val="F4F7F5"/>
          </a:solidFill>
          <a:ln/>
        </p:spPr>
      </p:sp>
      <p:sp>
        <p:nvSpPr>
          <p:cNvPr id="20" name="Shape 15"/>
          <p:cNvSpPr/>
          <p:nvPr/>
        </p:nvSpPr>
        <p:spPr>
          <a:xfrm>
            <a:off x="6492240" y="4023360"/>
            <a:ext cx="822960" cy="822960"/>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6673291" y="4204411"/>
            <a:ext cx="460858" cy="460858"/>
          </a:xfrm>
          <a:prstGeom prst="rect">
            <a:avLst/>
          </a:prstGeom>
        </p:spPr>
      </p:pic>
      <p:sp>
        <p:nvSpPr>
          <p:cNvPr id="22" name="Text 16"/>
          <p:cNvSpPr txBox="1"/>
          <p:nvPr/>
        </p:nvSpPr>
        <p:spPr>
          <a:xfrm>
            <a:off x="7543800" y="3995928"/>
            <a:ext cx="3840480" cy="91440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今の子どもと将来の子ども、両方の視点が必要</a:t>
            </a:r>
            <a:endParaRPr lang="en-US" sz="2000" dirty="0"/>
          </a:p>
        </p:txBody>
      </p:sp>
      <p:sp>
        <p:nvSpPr>
          <p:cNvPr id="23" name="Text 17"/>
          <p:cNvSpPr txBox="1"/>
          <p:nvPr/>
        </p:nvSpPr>
        <p:spPr>
          <a:xfrm>
            <a:off x="7543800" y="4937760"/>
            <a:ext cx="3840480" cy="73152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在校生への配慮と、これから入学する子の環境の両立</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02  課題を共有する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施設の状況も、判断材料のひとつ</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建築年度と、計画上の更新・改修時期（長寿命化計画＝建物を計画的に改修して長く使うための市の計画）</a:t>
            </a:r>
            <a:endParaRPr lang="en-US" sz="1600" dirty="0"/>
          </a:p>
        </p:txBody>
      </p:sp>
      <p:sp>
        <p:nvSpPr>
          <p:cNvPr id="5" name="Shape 3"/>
          <p:cNvSpPr/>
          <p:nvPr/>
        </p:nvSpPr>
        <p:spPr>
          <a:xfrm>
            <a:off x="2377440" y="1691640"/>
            <a:ext cx="0" cy="3749040"/>
          </a:xfrm>
          <a:prstGeom prst="line">
            <a:avLst/>
          </a:prstGeom>
          <a:noFill/>
          <a:ln w="12700">
            <a:solidFill>
              <a:srgbClr val="E7ECEE"/>
            </a:solidFill>
            <a:prstDash val="solid"/>
          </a:ln>
        </p:spPr>
      </p:sp>
      <p:sp>
        <p:nvSpPr>
          <p:cNvPr id="6" name="Text 4"/>
          <p:cNvSpPr txBox="1"/>
          <p:nvPr/>
        </p:nvSpPr>
        <p:spPr>
          <a:xfrm>
            <a:off x="2011680"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1970</a:t>
            </a:r>
            <a:endParaRPr lang="en-US" sz="1300" dirty="0"/>
          </a:p>
        </p:txBody>
      </p:sp>
      <p:sp>
        <p:nvSpPr>
          <p:cNvPr id="7" name="Shape 5"/>
          <p:cNvSpPr/>
          <p:nvPr/>
        </p:nvSpPr>
        <p:spPr>
          <a:xfrm>
            <a:off x="3756074" y="1691640"/>
            <a:ext cx="0" cy="3749040"/>
          </a:xfrm>
          <a:prstGeom prst="line">
            <a:avLst/>
          </a:prstGeom>
          <a:noFill/>
          <a:ln w="12700">
            <a:solidFill>
              <a:srgbClr val="E7ECEE"/>
            </a:solidFill>
            <a:prstDash val="solid"/>
          </a:ln>
        </p:spPr>
      </p:sp>
      <p:sp>
        <p:nvSpPr>
          <p:cNvPr id="8" name="Text 6"/>
          <p:cNvSpPr txBox="1"/>
          <p:nvPr/>
        </p:nvSpPr>
        <p:spPr>
          <a:xfrm>
            <a:off x="3390314"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1980</a:t>
            </a:r>
            <a:endParaRPr lang="en-US" sz="1300" dirty="0"/>
          </a:p>
        </p:txBody>
      </p:sp>
      <p:sp>
        <p:nvSpPr>
          <p:cNvPr id="9" name="Shape 7"/>
          <p:cNvSpPr/>
          <p:nvPr/>
        </p:nvSpPr>
        <p:spPr>
          <a:xfrm>
            <a:off x="5134708" y="1691640"/>
            <a:ext cx="0" cy="3749040"/>
          </a:xfrm>
          <a:prstGeom prst="line">
            <a:avLst/>
          </a:prstGeom>
          <a:noFill/>
          <a:ln w="12700">
            <a:solidFill>
              <a:srgbClr val="E7ECEE"/>
            </a:solidFill>
            <a:prstDash val="solid"/>
          </a:ln>
        </p:spPr>
      </p:sp>
      <p:sp>
        <p:nvSpPr>
          <p:cNvPr id="10" name="Text 8"/>
          <p:cNvSpPr txBox="1"/>
          <p:nvPr/>
        </p:nvSpPr>
        <p:spPr>
          <a:xfrm>
            <a:off x="4768948"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1990</a:t>
            </a:r>
            <a:endParaRPr lang="en-US" sz="1300" dirty="0"/>
          </a:p>
        </p:txBody>
      </p:sp>
      <p:sp>
        <p:nvSpPr>
          <p:cNvPr id="11" name="Shape 9"/>
          <p:cNvSpPr/>
          <p:nvPr/>
        </p:nvSpPr>
        <p:spPr>
          <a:xfrm>
            <a:off x="6513342" y="1691640"/>
            <a:ext cx="0" cy="3749040"/>
          </a:xfrm>
          <a:prstGeom prst="line">
            <a:avLst/>
          </a:prstGeom>
          <a:noFill/>
          <a:ln w="12700">
            <a:solidFill>
              <a:srgbClr val="E7ECEE"/>
            </a:solidFill>
            <a:prstDash val="solid"/>
          </a:ln>
        </p:spPr>
      </p:sp>
      <p:sp>
        <p:nvSpPr>
          <p:cNvPr id="12" name="Text 10"/>
          <p:cNvSpPr txBox="1"/>
          <p:nvPr/>
        </p:nvSpPr>
        <p:spPr>
          <a:xfrm>
            <a:off x="6147582"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2000</a:t>
            </a:r>
            <a:endParaRPr lang="en-US" sz="1300" dirty="0"/>
          </a:p>
        </p:txBody>
      </p:sp>
      <p:sp>
        <p:nvSpPr>
          <p:cNvPr id="13" name="Shape 11"/>
          <p:cNvSpPr/>
          <p:nvPr/>
        </p:nvSpPr>
        <p:spPr>
          <a:xfrm>
            <a:off x="7891975" y="1691640"/>
            <a:ext cx="0" cy="3749040"/>
          </a:xfrm>
          <a:prstGeom prst="line">
            <a:avLst/>
          </a:prstGeom>
          <a:noFill/>
          <a:ln w="12700">
            <a:solidFill>
              <a:srgbClr val="E7ECEE"/>
            </a:solidFill>
            <a:prstDash val="solid"/>
          </a:ln>
        </p:spPr>
      </p:sp>
      <p:sp>
        <p:nvSpPr>
          <p:cNvPr id="14" name="Text 12"/>
          <p:cNvSpPr txBox="1"/>
          <p:nvPr/>
        </p:nvSpPr>
        <p:spPr>
          <a:xfrm>
            <a:off x="7526215"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2010</a:t>
            </a:r>
            <a:endParaRPr lang="en-US" sz="1300" dirty="0"/>
          </a:p>
        </p:txBody>
      </p:sp>
      <p:sp>
        <p:nvSpPr>
          <p:cNvPr id="15" name="Shape 13"/>
          <p:cNvSpPr/>
          <p:nvPr/>
        </p:nvSpPr>
        <p:spPr>
          <a:xfrm>
            <a:off x="9270609" y="1691640"/>
            <a:ext cx="0" cy="3749040"/>
          </a:xfrm>
          <a:prstGeom prst="line">
            <a:avLst/>
          </a:prstGeom>
          <a:noFill/>
          <a:ln w="12700">
            <a:solidFill>
              <a:srgbClr val="E7ECEE"/>
            </a:solidFill>
            <a:prstDash val="solid"/>
          </a:ln>
        </p:spPr>
      </p:sp>
      <p:sp>
        <p:nvSpPr>
          <p:cNvPr id="16" name="Text 14"/>
          <p:cNvSpPr txBox="1"/>
          <p:nvPr/>
        </p:nvSpPr>
        <p:spPr>
          <a:xfrm>
            <a:off x="8904849"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2020</a:t>
            </a:r>
            <a:endParaRPr lang="en-US" sz="1300" dirty="0"/>
          </a:p>
        </p:txBody>
      </p:sp>
      <p:sp>
        <p:nvSpPr>
          <p:cNvPr id="17" name="Shape 15"/>
          <p:cNvSpPr/>
          <p:nvPr/>
        </p:nvSpPr>
        <p:spPr>
          <a:xfrm>
            <a:off x="10649243" y="1691640"/>
            <a:ext cx="0" cy="3749040"/>
          </a:xfrm>
          <a:prstGeom prst="line">
            <a:avLst/>
          </a:prstGeom>
          <a:noFill/>
          <a:ln w="12700">
            <a:solidFill>
              <a:srgbClr val="E7ECEE"/>
            </a:solidFill>
            <a:prstDash val="solid"/>
          </a:ln>
        </p:spPr>
      </p:sp>
      <p:sp>
        <p:nvSpPr>
          <p:cNvPr id="18" name="Text 16"/>
          <p:cNvSpPr txBox="1"/>
          <p:nvPr/>
        </p:nvSpPr>
        <p:spPr>
          <a:xfrm>
            <a:off x="10283483" y="1444752"/>
            <a:ext cx="731520" cy="228600"/>
          </a:xfrm>
          <a:prstGeom prst="rect">
            <a:avLst/>
          </a:prstGeom>
          <a:noFill/>
          <a:ln/>
        </p:spPr>
        <p:txBody>
          <a:bodyPr wrap="square" lIns="0" tIns="0" rIns="0" bIns="0" rtlCol="0" anchor="t"/>
          <a:lstStyle/>
          <a:p>
            <a:pPr algn="ctr" indent="0" marL="0">
              <a:buNone/>
            </a:pPr>
            <a:r>
              <a:rPr lang="en-US" sz="1300" dirty="0">
                <a:solidFill>
                  <a:srgbClr val="9AA59F"/>
                </a:solidFill>
                <a:latin typeface="BIZ UDPゴシック" pitchFamily="34" charset="0"/>
                <a:ea typeface="BIZ UDPゴシック" pitchFamily="34" charset="-122"/>
                <a:cs typeface="BIZ UDPゴシック" pitchFamily="34" charset="-120"/>
              </a:rPr>
              <a:t>2030</a:t>
            </a:r>
            <a:endParaRPr lang="en-US" sz="1300" dirty="0"/>
          </a:p>
        </p:txBody>
      </p:sp>
      <p:sp>
        <p:nvSpPr>
          <p:cNvPr id="19" name="Shape 17"/>
          <p:cNvSpPr/>
          <p:nvPr/>
        </p:nvSpPr>
        <p:spPr>
          <a:xfrm>
            <a:off x="10097790" y="1691640"/>
            <a:ext cx="0" cy="3749040"/>
          </a:xfrm>
          <a:prstGeom prst="line">
            <a:avLst/>
          </a:prstGeom>
          <a:noFill/>
          <a:ln w="19050">
            <a:solidFill>
              <a:srgbClr val="D9573E"/>
            </a:solidFill>
            <a:prstDash val="dash"/>
          </a:ln>
        </p:spPr>
      </p:sp>
      <p:sp>
        <p:nvSpPr>
          <p:cNvPr id="20" name="Text 18"/>
          <p:cNvSpPr txBox="1"/>
          <p:nvPr/>
        </p:nvSpPr>
        <p:spPr>
          <a:xfrm>
            <a:off x="9732030" y="5468112"/>
            <a:ext cx="731520" cy="228600"/>
          </a:xfrm>
          <a:prstGeom prst="rect">
            <a:avLst/>
          </a:prstGeom>
          <a:noFill/>
          <a:ln/>
        </p:spPr>
        <p:txBody>
          <a:bodyPr wrap="square" lIns="0" tIns="0" rIns="0" bIns="0" rtlCol="0" anchor="t"/>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現在</a:t>
            </a:r>
            <a:endParaRPr lang="en-US" sz="1300" dirty="0"/>
          </a:p>
        </p:txBody>
      </p:sp>
      <p:sp>
        <p:nvSpPr>
          <p:cNvPr id="21" name="Text 19"/>
          <p:cNvSpPr txBox="1"/>
          <p:nvPr/>
        </p:nvSpPr>
        <p:spPr>
          <a:xfrm>
            <a:off x="548640" y="196596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川田小</a:t>
            </a:r>
            <a:endParaRPr lang="en-US" sz="1800" dirty="0"/>
          </a:p>
        </p:txBody>
      </p:sp>
      <p:sp>
        <p:nvSpPr>
          <p:cNvPr id="22" name="Text 20"/>
          <p:cNvSpPr txBox="1"/>
          <p:nvPr/>
        </p:nvSpPr>
        <p:spPr>
          <a:xfrm>
            <a:off x="1371600" y="1965960"/>
            <a:ext cx="1005840" cy="457200"/>
          </a:xfrm>
          <a:prstGeom prst="rect">
            <a:avLst/>
          </a:prstGeom>
          <a:noFill/>
          <a:ln/>
        </p:spPr>
        <p:txBody>
          <a:bodyPr wrap="square" lIns="0" tIns="0" rIns="0" bIns="0" rtlCol="0" anchor="ctr"/>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1973年度築</a:t>
            </a:r>
            <a:endParaRPr lang="en-US" sz="1300" dirty="0"/>
          </a:p>
        </p:txBody>
      </p:sp>
      <p:sp>
        <p:nvSpPr>
          <p:cNvPr id="23" name="Shape 21"/>
          <p:cNvSpPr/>
          <p:nvPr/>
        </p:nvSpPr>
        <p:spPr>
          <a:xfrm>
            <a:off x="2791030" y="2057400"/>
            <a:ext cx="7306759" cy="274320"/>
          </a:xfrm>
          <a:prstGeom prst="roundRect">
            <a:avLst>
              <a:gd name="adj" fmla="val 50000"/>
            </a:avLst>
          </a:prstGeom>
          <a:solidFill>
            <a:srgbClr val="4E8A6C"/>
          </a:solidFill>
          <a:ln/>
        </p:spPr>
      </p:sp>
      <p:sp>
        <p:nvSpPr>
          <p:cNvPr id="24" name="Text 22"/>
          <p:cNvSpPr txBox="1"/>
          <p:nvPr/>
        </p:nvSpPr>
        <p:spPr>
          <a:xfrm>
            <a:off x="2928190" y="2057400"/>
            <a:ext cx="1097280" cy="274320"/>
          </a:xfrm>
          <a:prstGeom prst="rect">
            <a:avLst/>
          </a:prstGeom>
          <a:noFill/>
          <a:ln/>
        </p:spPr>
        <p:txBody>
          <a:bodyPr wrap="square" lIns="0" tIns="0" rIns="0" bIns="0" rtlCol="0" anchor="ct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築53年</a:t>
            </a:r>
            <a:endParaRPr lang="en-US" sz="1300" dirty="0"/>
          </a:p>
        </p:txBody>
      </p:sp>
      <p:sp>
        <p:nvSpPr>
          <p:cNvPr id="25" name="Shape 23"/>
          <p:cNvSpPr/>
          <p:nvPr/>
        </p:nvSpPr>
        <p:spPr>
          <a:xfrm>
            <a:off x="9556183" y="2066544"/>
            <a:ext cx="256032" cy="256032"/>
          </a:xfrm>
          <a:prstGeom prst="diamond">
            <a:avLst/>
          </a:prstGeom>
          <a:solidFill>
            <a:srgbClr val="D9573E"/>
          </a:solidFill>
          <a:ln w="12700">
            <a:solidFill>
              <a:srgbClr val="FFFFFF"/>
            </a:solidFill>
            <a:prstDash val="solid"/>
          </a:ln>
        </p:spPr>
      </p:sp>
      <p:sp>
        <p:nvSpPr>
          <p:cNvPr id="26" name="Text 24"/>
          <p:cNvSpPr txBox="1"/>
          <p:nvPr/>
        </p:nvSpPr>
        <p:spPr>
          <a:xfrm>
            <a:off x="7443919" y="2377440"/>
            <a:ext cx="2377440" cy="274320"/>
          </a:xfrm>
          <a:prstGeom prst="rect">
            <a:avLst/>
          </a:prstGeom>
          <a:noFill/>
          <a:ln/>
        </p:spPr>
        <p:txBody>
          <a:bodyPr wrap="square" lIns="0" tIns="0" rIns="0" bIns="0" rtlCol="0" anchor="t"/>
          <a:lstStyle/>
          <a:p>
            <a:pPr algn="r" indent="0" marL="0">
              <a:buNone/>
            </a:pPr>
            <a:r>
              <a:rPr lang="en-US" sz="1300" b="1" dirty="0">
                <a:solidFill>
                  <a:srgbClr val="A3402C"/>
                </a:solidFill>
                <a:latin typeface="BIZ UDPゴシック" pitchFamily="34" charset="0"/>
                <a:ea typeface="BIZ UDPゴシック" pitchFamily="34" charset="-122"/>
                <a:cs typeface="BIZ UDPゴシック" pitchFamily="34" charset="-120"/>
              </a:rPr>
              <a:t>2023年度（R5）更新</a:t>
            </a:r>
            <a:endParaRPr lang="en-US" sz="1300" dirty="0"/>
          </a:p>
        </p:txBody>
      </p:sp>
      <p:sp>
        <p:nvSpPr>
          <p:cNvPr id="27" name="Text 25"/>
          <p:cNvSpPr txBox="1"/>
          <p:nvPr/>
        </p:nvSpPr>
        <p:spPr>
          <a:xfrm>
            <a:off x="548640" y="283464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綿内小</a:t>
            </a:r>
            <a:endParaRPr lang="en-US" sz="1800" dirty="0"/>
          </a:p>
        </p:txBody>
      </p:sp>
      <p:sp>
        <p:nvSpPr>
          <p:cNvPr id="28" name="Text 26"/>
          <p:cNvSpPr txBox="1"/>
          <p:nvPr/>
        </p:nvSpPr>
        <p:spPr>
          <a:xfrm>
            <a:off x="1371600" y="2834640"/>
            <a:ext cx="1005840" cy="457200"/>
          </a:xfrm>
          <a:prstGeom prst="rect">
            <a:avLst/>
          </a:prstGeom>
          <a:noFill/>
          <a:ln/>
        </p:spPr>
        <p:txBody>
          <a:bodyPr wrap="square" lIns="0" tIns="0" rIns="0" bIns="0" rtlCol="0" anchor="ctr"/>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1980年度築</a:t>
            </a:r>
            <a:endParaRPr lang="en-US" sz="1300" dirty="0"/>
          </a:p>
        </p:txBody>
      </p:sp>
      <p:sp>
        <p:nvSpPr>
          <p:cNvPr id="29" name="Shape 27"/>
          <p:cNvSpPr/>
          <p:nvPr/>
        </p:nvSpPr>
        <p:spPr>
          <a:xfrm>
            <a:off x="3756074" y="2926080"/>
            <a:ext cx="6341716" cy="274320"/>
          </a:xfrm>
          <a:prstGeom prst="roundRect">
            <a:avLst>
              <a:gd name="adj" fmla="val 50000"/>
            </a:avLst>
          </a:prstGeom>
          <a:solidFill>
            <a:srgbClr val="4E8A6C"/>
          </a:solidFill>
          <a:ln/>
        </p:spPr>
      </p:sp>
      <p:sp>
        <p:nvSpPr>
          <p:cNvPr id="30" name="Text 28"/>
          <p:cNvSpPr txBox="1"/>
          <p:nvPr/>
        </p:nvSpPr>
        <p:spPr>
          <a:xfrm>
            <a:off x="3893234" y="2926080"/>
            <a:ext cx="1097280" cy="274320"/>
          </a:xfrm>
          <a:prstGeom prst="rect">
            <a:avLst/>
          </a:prstGeom>
          <a:noFill/>
          <a:ln/>
        </p:spPr>
        <p:txBody>
          <a:bodyPr wrap="square" lIns="0" tIns="0" rIns="0" bIns="0" rtlCol="0" anchor="ct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築46年</a:t>
            </a:r>
            <a:endParaRPr lang="en-US" sz="1300" dirty="0"/>
          </a:p>
        </p:txBody>
      </p:sp>
      <p:sp>
        <p:nvSpPr>
          <p:cNvPr id="31" name="Shape 29"/>
          <p:cNvSpPr/>
          <p:nvPr/>
        </p:nvSpPr>
        <p:spPr>
          <a:xfrm>
            <a:off x="10521227" y="2935224"/>
            <a:ext cx="256032" cy="256032"/>
          </a:xfrm>
          <a:prstGeom prst="diamond">
            <a:avLst/>
          </a:prstGeom>
          <a:solidFill>
            <a:srgbClr val="D9573E"/>
          </a:solidFill>
          <a:ln w="12700">
            <a:solidFill>
              <a:srgbClr val="FFFFFF"/>
            </a:solidFill>
            <a:prstDash val="solid"/>
          </a:ln>
        </p:spPr>
      </p:sp>
      <p:sp>
        <p:nvSpPr>
          <p:cNvPr id="32" name="Text 30"/>
          <p:cNvSpPr txBox="1"/>
          <p:nvPr/>
        </p:nvSpPr>
        <p:spPr>
          <a:xfrm>
            <a:off x="8408963" y="3246120"/>
            <a:ext cx="2377440" cy="274320"/>
          </a:xfrm>
          <a:prstGeom prst="rect">
            <a:avLst/>
          </a:prstGeom>
          <a:noFill/>
          <a:ln/>
        </p:spPr>
        <p:txBody>
          <a:bodyPr wrap="square" lIns="0" tIns="0" rIns="0" bIns="0" rtlCol="0" anchor="t"/>
          <a:lstStyle/>
          <a:p>
            <a:pPr algn="r" indent="0" marL="0">
              <a:buNone/>
            </a:pPr>
            <a:r>
              <a:rPr lang="en-US" sz="1300" b="1" dirty="0">
                <a:solidFill>
                  <a:srgbClr val="A3402C"/>
                </a:solidFill>
                <a:latin typeface="BIZ UDPゴシック" pitchFamily="34" charset="0"/>
                <a:ea typeface="BIZ UDPゴシック" pitchFamily="34" charset="-122"/>
                <a:cs typeface="BIZ UDPゴシック" pitchFamily="34" charset="-120"/>
              </a:rPr>
              <a:t>2030年度（R12）更新</a:t>
            </a:r>
            <a:endParaRPr lang="en-US" sz="1300" dirty="0"/>
          </a:p>
        </p:txBody>
      </p:sp>
      <p:sp>
        <p:nvSpPr>
          <p:cNvPr id="33" name="Text 31"/>
          <p:cNvSpPr txBox="1"/>
          <p:nvPr/>
        </p:nvSpPr>
        <p:spPr>
          <a:xfrm>
            <a:off x="548640" y="370332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若穂中</a:t>
            </a:r>
            <a:endParaRPr lang="en-US" sz="1800" dirty="0"/>
          </a:p>
        </p:txBody>
      </p:sp>
      <p:sp>
        <p:nvSpPr>
          <p:cNvPr id="34" name="Text 32"/>
          <p:cNvSpPr txBox="1"/>
          <p:nvPr/>
        </p:nvSpPr>
        <p:spPr>
          <a:xfrm>
            <a:off x="1371600" y="3703320"/>
            <a:ext cx="1005840" cy="457200"/>
          </a:xfrm>
          <a:prstGeom prst="rect">
            <a:avLst/>
          </a:prstGeom>
          <a:noFill/>
          <a:ln/>
        </p:spPr>
        <p:txBody>
          <a:bodyPr wrap="square" lIns="0" tIns="0" rIns="0" bIns="0" rtlCol="0" anchor="ctr"/>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1987年度築</a:t>
            </a:r>
            <a:endParaRPr lang="en-US" sz="1300" dirty="0"/>
          </a:p>
        </p:txBody>
      </p:sp>
      <p:sp>
        <p:nvSpPr>
          <p:cNvPr id="35" name="Shape 33"/>
          <p:cNvSpPr/>
          <p:nvPr/>
        </p:nvSpPr>
        <p:spPr>
          <a:xfrm>
            <a:off x="4721118" y="3794760"/>
            <a:ext cx="5376672" cy="274320"/>
          </a:xfrm>
          <a:prstGeom prst="roundRect">
            <a:avLst>
              <a:gd name="adj" fmla="val 50000"/>
            </a:avLst>
          </a:prstGeom>
          <a:solidFill>
            <a:srgbClr val="4E8A6C"/>
          </a:solidFill>
          <a:ln/>
        </p:spPr>
      </p:sp>
      <p:sp>
        <p:nvSpPr>
          <p:cNvPr id="36" name="Text 34"/>
          <p:cNvSpPr txBox="1"/>
          <p:nvPr/>
        </p:nvSpPr>
        <p:spPr>
          <a:xfrm>
            <a:off x="4858278" y="3794760"/>
            <a:ext cx="1097280" cy="274320"/>
          </a:xfrm>
          <a:prstGeom prst="rect">
            <a:avLst/>
          </a:prstGeom>
          <a:noFill/>
          <a:ln/>
        </p:spPr>
        <p:txBody>
          <a:bodyPr wrap="square" lIns="0" tIns="0" rIns="0" bIns="0" rtlCol="0" anchor="ct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築39年</a:t>
            </a:r>
            <a:endParaRPr lang="en-US" sz="1300" dirty="0"/>
          </a:p>
        </p:txBody>
      </p:sp>
      <p:sp>
        <p:nvSpPr>
          <p:cNvPr id="37" name="Shape 35"/>
          <p:cNvSpPr/>
          <p:nvPr/>
        </p:nvSpPr>
        <p:spPr>
          <a:xfrm>
            <a:off x="10107637" y="3803904"/>
            <a:ext cx="256032" cy="256032"/>
          </a:xfrm>
          <a:prstGeom prst="diamond">
            <a:avLst/>
          </a:prstGeom>
          <a:solidFill>
            <a:srgbClr val="D9573E"/>
          </a:solidFill>
          <a:ln w="12700">
            <a:solidFill>
              <a:srgbClr val="FFFFFF"/>
            </a:solidFill>
            <a:prstDash val="solid"/>
          </a:ln>
        </p:spPr>
      </p:sp>
      <p:sp>
        <p:nvSpPr>
          <p:cNvPr id="38" name="Text 36"/>
          <p:cNvSpPr txBox="1"/>
          <p:nvPr/>
        </p:nvSpPr>
        <p:spPr>
          <a:xfrm>
            <a:off x="7995373" y="4114800"/>
            <a:ext cx="2377440" cy="274320"/>
          </a:xfrm>
          <a:prstGeom prst="rect">
            <a:avLst/>
          </a:prstGeom>
          <a:noFill/>
          <a:ln/>
        </p:spPr>
        <p:txBody>
          <a:bodyPr wrap="square" lIns="0" tIns="0" rIns="0" bIns="0" rtlCol="0" anchor="t"/>
          <a:lstStyle/>
          <a:p>
            <a:pPr algn="r" indent="0" marL="0">
              <a:buNone/>
            </a:pPr>
            <a:r>
              <a:rPr lang="en-US" sz="1300" b="1" dirty="0">
                <a:solidFill>
                  <a:srgbClr val="A3402C"/>
                </a:solidFill>
                <a:latin typeface="BIZ UDPゴシック" pitchFamily="34" charset="0"/>
                <a:ea typeface="BIZ UDPゴシック" pitchFamily="34" charset="-122"/>
                <a:cs typeface="BIZ UDPゴシック" pitchFamily="34" charset="-120"/>
              </a:rPr>
              <a:t>2027年度（R9）改修</a:t>
            </a:r>
            <a:endParaRPr lang="en-US" sz="1300" dirty="0"/>
          </a:p>
        </p:txBody>
      </p:sp>
      <p:sp>
        <p:nvSpPr>
          <p:cNvPr id="39" name="Text 37"/>
          <p:cNvSpPr txBox="1"/>
          <p:nvPr/>
        </p:nvSpPr>
        <p:spPr>
          <a:xfrm>
            <a:off x="548640" y="4572000"/>
            <a:ext cx="914400" cy="45720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保科小</a:t>
            </a:r>
            <a:endParaRPr lang="en-US" sz="1800" dirty="0"/>
          </a:p>
        </p:txBody>
      </p:sp>
      <p:sp>
        <p:nvSpPr>
          <p:cNvPr id="40" name="Text 38"/>
          <p:cNvSpPr txBox="1"/>
          <p:nvPr/>
        </p:nvSpPr>
        <p:spPr>
          <a:xfrm>
            <a:off x="1371600" y="4572000"/>
            <a:ext cx="1005840" cy="457200"/>
          </a:xfrm>
          <a:prstGeom prst="rect">
            <a:avLst/>
          </a:prstGeom>
          <a:noFill/>
          <a:ln/>
        </p:spPr>
        <p:txBody>
          <a:bodyPr wrap="square" lIns="0" tIns="0" rIns="0" bIns="0" rtlCol="0" anchor="ctr"/>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2010年度築</a:t>
            </a:r>
            <a:endParaRPr lang="en-US" sz="1300" dirty="0"/>
          </a:p>
        </p:txBody>
      </p:sp>
      <p:sp>
        <p:nvSpPr>
          <p:cNvPr id="41" name="Shape 39"/>
          <p:cNvSpPr/>
          <p:nvPr/>
        </p:nvSpPr>
        <p:spPr>
          <a:xfrm>
            <a:off x="7891975" y="4663440"/>
            <a:ext cx="2205814" cy="274320"/>
          </a:xfrm>
          <a:prstGeom prst="roundRect">
            <a:avLst>
              <a:gd name="adj" fmla="val 50000"/>
            </a:avLst>
          </a:prstGeom>
          <a:solidFill>
            <a:srgbClr val="4E8A6C"/>
          </a:solidFill>
          <a:ln/>
        </p:spPr>
      </p:sp>
      <p:sp>
        <p:nvSpPr>
          <p:cNvPr id="42" name="Text 40"/>
          <p:cNvSpPr txBox="1"/>
          <p:nvPr/>
        </p:nvSpPr>
        <p:spPr>
          <a:xfrm>
            <a:off x="8029135" y="4663440"/>
            <a:ext cx="1097280" cy="274320"/>
          </a:xfrm>
          <a:prstGeom prst="rect">
            <a:avLst/>
          </a:prstGeom>
          <a:noFill/>
          <a:ln/>
        </p:spPr>
        <p:txBody>
          <a:bodyPr wrap="square" lIns="0" tIns="0" rIns="0" bIns="0" rtlCol="0" anchor="ct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築16年</a:t>
            </a:r>
            <a:endParaRPr lang="en-US" sz="1300" dirty="0"/>
          </a:p>
        </p:txBody>
      </p:sp>
      <p:sp>
        <p:nvSpPr>
          <p:cNvPr id="43" name="Shape 41"/>
          <p:cNvSpPr/>
          <p:nvPr/>
        </p:nvSpPr>
        <p:spPr>
          <a:xfrm>
            <a:off x="10521227" y="4672584"/>
            <a:ext cx="256032" cy="256032"/>
          </a:xfrm>
          <a:prstGeom prst="diamond">
            <a:avLst/>
          </a:prstGeom>
          <a:solidFill>
            <a:srgbClr val="D9573E"/>
          </a:solidFill>
          <a:ln w="12700">
            <a:solidFill>
              <a:srgbClr val="FFFFFF"/>
            </a:solidFill>
            <a:prstDash val="solid"/>
          </a:ln>
        </p:spPr>
      </p:sp>
      <p:sp>
        <p:nvSpPr>
          <p:cNvPr id="44" name="Text 42"/>
          <p:cNvSpPr txBox="1"/>
          <p:nvPr/>
        </p:nvSpPr>
        <p:spPr>
          <a:xfrm>
            <a:off x="8408963" y="4983480"/>
            <a:ext cx="2377440" cy="274320"/>
          </a:xfrm>
          <a:prstGeom prst="rect">
            <a:avLst/>
          </a:prstGeom>
          <a:noFill/>
          <a:ln/>
        </p:spPr>
        <p:txBody>
          <a:bodyPr wrap="square" lIns="0" tIns="0" rIns="0" bIns="0" rtlCol="0" anchor="t"/>
          <a:lstStyle/>
          <a:p>
            <a:pPr algn="r" indent="0" marL="0">
              <a:buNone/>
            </a:pPr>
            <a:r>
              <a:rPr lang="en-US" sz="1300" b="1" dirty="0">
                <a:solidFill>
                  <a:srgbClr val="A3402C"/>
                </a:solidFill>
                <a:latin typeface="BIZ UDPゴシック" pitchFamily="34" charset="0"/>
                <a:ea typeface="BIZ UDPゴシック" pitchFamily="34" charset="-122"/>
                <a:cs typeface="BIZ UDPゴシック" pitchFamily="34" charset="-120"/>
              </a:rPr>
              <a:t>2030年度（R12）改修</a:t>
            </a:r>
            <a:endParaRPr lang="en-US" sz="1300" dirty="0"/>
          </a:p>
        </p:txBody>
      </p:sp>
      <p:sp>
        <p:nvSpPr>
          <p:cNvPr id="45" name="Text 43"/>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◆計画上の更新・改修時期　出典：長野市学校施設長寿命化計画（令和2年時点）。実施済み工事・最新計画の確認が必要です。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03</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選択肢を比べる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大切にしたい視点と、考えられる選択肢</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若穂の学校で大切にしたい5つの視点</a:t>
            </a:r>
            <a:endParaRPr lang="en-US" sz="3000" dirty="0"/>
          </a:p>
        </p:txBody>
      </p:sp>
      <p:sp>
        <p:nvSpPr>
          <p:cNvPr id="4" name="Shape 2"/>
          <p:cNvSpPr/>
          <p:nvPr/>
        </p:nvSpPr>
        <p:spPr>
          <a:xfrm>
            <a:off x="548640" y="1554480"/>
            <a:ext cx="2066544" cy="4023360"/>
          </a:xfrm>
          <a:prstGeom prst="roundRect">
            <a:avLst>
              <a:gd name="adj" fmla="val 5310"/>
            </a:avLst>
          </a:prstGeom>
          <a:solidFill>
            <a:srgbClr val="E8F2EC"/>
          </a:solidFill>
          <a:ln/>
        </p:spPr>
      </p:sp>
      <p:sp>
        <p:nvSpPr>
          <p:cNvPr id="5" name="Shape 3"/>
          <p:cNvSpPr/>
          <p:nvPr/>
        </p:nvSpPr>
        <p:spPr>
          <a:xfrm>
            <a:off x="1033272" y="1920240"/>
            <a:ext cx="1097280" cy="109728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1274674" y="2161642"/>
            <a:ext cx="614477" cy="614477"/>
          </a:xfrm>
          <a:prstGeom prst="rect">
            <a:avLst/>
          </a:prstGeom>
        </p:spPr>
      </p:pic>
      <p:sp>
        <p:nvSpPr>
          <p:cNvPr id="7" name="Text 4"/>
          <p:cNvSpPr txBox="1"/>
          <p:nvPr/>
        </p:nvSpPr>
        <p:spPr>
          <a:xfrm>
            <a:off x="640080"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学び</a:t>
            </a:r>
            <a:endParaRPr lang="en-US" sz="2600" dirty="0"/>
          </a:p>
        </p:txBody>
      </p:sp>
      <p:sp>
        <p:nvSpPr>
          <p:cNvPr id="8" name="Text 5"/>
          <p:cNvSpPr txBox="1"/>
          <p:nvPr/>
        </p:nvSpPr>
        <p:spPr>
          <a:xfrm>
            <a:off x="731520"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多様な学習・交流機会</a:t>
            </a:r>
            <a:endParaRPr lang="en-US" sz="1600" dirty="0"/>
          </a:p>
        </p:txBody>
      </p:sp>
      <p:sp>
        <p:nvSpPr>
          <p:cNvPr id="9" name="Shape 6"/>
          <p:cNvSpPr/>
          <p:nvPr/>
        </p:nvSpPr>
        <p:spPr>
          <a:xfrm>
            <a:off x="2798064" y="1554480"/>
            <a:ext cx="2066544" cy="4023360"/>
          </a:xfrm>
          <a:prstGeom prst="roundRect">
            <a:avLst>
              <a:gd name="adj" fmla="val 5310"/>
            </a:avLst>
          </a:prstGeom>
          <a:solidFill>
            <a:srgbClr val="F4F7F5"/>
          </a:solidFill>
          <a:ln/>
        </p:spPr>
      </p:sp>
      <p:sp>
        <p:nvSpPr>
          <p:cNvPr id="10" name="Shape 7"/>
          <p:cNvSpPr/>
          <p:nvPr/>
        </p:nvSpPr>
        <p:spPr>
          <a:xfrm>
            <a:off x="3282696" y="1920240"/>
            <a:ext cx="1097280" cy="1097280"/>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3524098" y="2161642"/>
            <a:ext cx="614477" cy="614477"/>
          </a:xfrm>
          <a:prstGeom prst="rect">
            <a:avLst/>
          </a:prstGeom>
        </p:spPr>
      </p:pic>
      <p:sp>
        <p:nvSpPr>
          <p:cNvPr id="12" name="Text 8"/>
          <p:cNvSpPr txBox="1"/>
          <p:nvPr/>
        </p:nvSpPr>
        <p:spPr>
          <a:xfrm>
            <a:off x="2889504"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安心</a:t>
            </a:r>
            <a:endParaRPr lang="en-US" sz="2600" dirty="0"/>
          </a:p>
        </p:txBody>
      </p:sp>
      <p:sp>
        <p:nvSpPr>
          <p:cNvPr id="13" name="Text 9"/>
          <p:cNvSpPr txBox="1"/>
          <p:nvPr/>
        </p:nvSpPr>
        <p:spPr>
          <a:xfrm>
            <a:off x="2980944"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一人ひとりへの支援</a:t>
            </a:r>
            <a:endParaRPr lang="en-US" sz="1600" dirty="0"/>
          </a:p>
        </p:txBody>
      </p:sp>
      <p:sp>
        <p:nvSpPr>
          <p:cNvPr id="14" name="Shape 10"/>
          <p:cNvSpPr/>
          <p:nvPr/>
        </p:nvSpPr>
        <p:spPr>
          <a:xfrm>
            <a:off x="5047488" y="1554480"/>
            <a:ext cx="2066544" cy="4023360"/>
          </a:xfrm>
          <a:prstGeom prst="roundRect">
            <a:avLst>
              <a:gd name="adj" fmla="val 5310"/>
            </a:avLst>
          </a:prstGeom>
          <a:solidFill>
            <a:srgbClr val="E8F2EC"/>
          </a:solidFill>
          <a:ln/>
        </p:spPr>
      </p:sp>
      <p:sp>
        <p:nvSpPr>
          <p:cNvPr id="15" name="Shape 11"/>
          <p:cNvSpPr/>
          <p:nvPr/>
        </p:nvSpPr>
        <p:spPr>
          <a:xfrm>
            <a:off x="5532120" y="1920240"/>
            <a:ext cx="1097280" cy="1097280"/>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5773522" y="2161642"/>
            <a:ext cx="614477" cy="614477"/>
          </a:xfrm>
          <a:prstGeom prst="rect">
            <a:avLst/>
          </a:prstGeom>
        </p:spPr>
      </p:pic>
      <p:sp>
        <p:nvSpPr>
          <p:cNvPr id="17" name="Text 12"/>
          <p:cNvSpPr txBox="1"/>
          <p:nvPr/>
        </p:nvSpPr>
        <p:spPr>
          <a:xfrm>
            <a:off x="5138928"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安全</a:t>
            </a:r>
            <a:endParaRPr lang="en-US" sz="2600" dirty="0"/>
          </a:p>
        </p:txBody>
      </p:sp>
      <p:sp>
        <p:nvSpPr>
          <p:cNvPr id="18" name="Text 13"/>
          <p:cNvSpPr txBox="1"/>
          <p:nvPr/>
        </p:nvSpPr>
        <p:spPr>
          <a:xfrm>
            <a:off x="5230368"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無理のない通学と防災</a:t>
            </a:r>
            <a:endParaRPr lang="en-US" sz="1600" dirty="0"/>
          </a:p>
        </p:txBody>
      </p:sp>
      <p:sp>
        <p:nvSpPr>
          <p:cNvPr id="19" name="Shape 14"/>
          <p:cNvSpPr/>
          <p:nvPr/>
        </p:nvSpPr>
        <p:spPr>
          <a:xfrm>
            <a:off x="7296912" y="1554480"/>
            <a:ext cx="2066544" cy="4023360"/>
          </a:xfrm>
          <a:prstGeom prst="roundRect">
            <a:avLst>
              <a:gd name="adj" fmla="val 5310"/>
            </a:avLst>
          </a:prstGeom>
          <a:solidFill>
            <a:srgbClr val="F4F7F5"/>
          </a:solidFill>
          <a:ln/>
        </p:spPr>
      </p:sp>
      <p:sp>
        <p:nvSpPr>
          <p:cNvPr id="20" name="Shape 15"/>
          <p:cNvSpPr/>
          <p:nvPr/>
        </p:nvSpPr>
        <p:spPr>
          <a:xfrm>
            <a:off x="7781544" y="1920240"/>
            <a:ext cx="1097280" cy="1097280"/>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8022946" y="2161642"/>
            <a:ext cx="614477" cy="614477"/>
          </a:xfrm>
          <a:prstGeom prst="rect">
            <a:avLst/>
          </a:prstGeom>
        </p:spPr>
      </p:pic>
      <p:sp>
        <p:nvSpPr>
          <p:cNvPr id="22" name="Text 16"/>
          <p:cNvSpPr txBox="1"/>
          <p:nvPr/>
        </p:nvSpPr>
        <p:spPr>
          <a:xfrm>
            <a:off x="7388352"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地域</a:t>
            </a:r>
            <a:endParaRPr lang="en-US" sz="2600" dirty="0"/>
          </a:p>
        </p:txBody>
      </p:sp>
      <p:sp>
        <p:nvSpPr>
          <p:cNvPr id="23" name="Text 17"/>
          <p:cNvSpPr txBox="1"/>
          <p:nvPr/>
        </p:nvSpPr>
        <p:spPr>
          <a:xfrm>
            <a:off x="7479792"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行事・交流・つながり</a:t>
            </a:r>
            <a:endParaRPr lang="en-US" sz="1600" dirty="0"/>
          </a:p>
        </p:txBody>
      </p:sp>
      <p:sp>
        <p:nvSpPr>
          <p:cNvPr id="24" name="Shape 18"/>
          <p:cNvSpPr/>
          <p:nvPr/>
        </p:nvSpPr>
        <p:spPr>
          <a:xfrm>
            <a:off x="9546336" y="1554480"/>
            <a:ext cx="2066544" cy="4023360"/>
          </a:xfrm>
          <a:prstGeom prst="roundRect">
            <a:avLst>
              <a:gd name="adj" fmla="val 5310"/>
            </a:avLst>
          </a:prstGeom>
          <a:solidFill>
            <a:srgbClr val="E8F2EC"/>
          </a:solidFill>
          <a:ln/>
        </p:spPr>
      </p:sp>
      <p:sp>
        <p:nvSpPr>
          <p:cNvPr id="25" name="Shape 19"/>
          <p:cNvSpPr/>
          <p:nvPr/>
        </p:nvSpPr>
        <p:spPr>
          <a:xfrm>
            <a:off x="10030968" y="1920240"/>
            <a:ext cx="1097280" cy="1097280"/>
          </a:xfrm>
          <a:prstGeom prst="ellipse">
            <a:avLst/>
          </a:prstGeom>
          <a:solidFill>
            <a:srgbClr val="2E7D5B"/>
          </a:solidFill>
          <a:ln/>
        </p:spPr>
      </p:sp>
      <p:pic>
        <p:nvPicPr>
          <p:cNvPr id="26" name="Image 4" descr="preencoded.png">    </p:cNvPr>
          <p:cNvPicPr>
            <a:picLocks noChangeAspect="1"/>
          </p:cNvPicPr>
          <p:nvPr/>
        </p:nvPicPr>
        <p:blipFill>
          <a:blip r:embed="rId5"/>
          <a:stretch>
            <a:fillRect/>
          </a:stretch>
        </p:blipFill>
        <p:spPr>
          <a:xfrm>
            <a:off x="10272370" y="2161642"/>
            <a:ext cx="614477" cy="614477"/>
          </a:xfrm>
          <a:prstGeom prst="rect">
            <a:avLst/>
          </a:prstGeom>
        </p:spPr>
      </p:pic>
      <p:sp>
        <p:nvSpPr>
          <p:cNvPr id="27" name="Text 20"/>
          <p:cNvSpPr txBox="1"/>
          <p:nvPr/>
        </p:nvSpPr>
        <p:spPr>
          <a:xfrm>
            <a:off x="9637776" y="3291840"/>
            <a:ext cx="1883664" cy="548640"/>
          </a:xfrm>
          <a:prstGeom prst="rect">
            <a:avLst/>
          </a:prstGeom>
          <a:noFill/>
          <a:ln/>
        </p:spPr>
        <p:txBody>
          <a:bodyPr wrap="square" lIns="0" tIns="0" rIns="0" bIns="0" rtlCol="0" anchor="t"/>
          <a:lstStyle/>
          <a:p>
            <a:pPr algn="ctr" indent="0" marL="0">
              <a:buNone/>
            </a:pPr>
            <a:r>
              <a:rPr lang="en-US" sz="2600" b="1" dirty="0">
                <a:solidFill>
                  <a:srgbClr val="1D4636"/>
                </a:solidFill>
                <a:latin typeface="BIZ UDPゴシック" pitchFamily="34" charset="0"/>
                <a:ea typeface="BIZ UDPゴシック" pitchFamily="34" charset="-122"/>
                <a:cs typeface="BIZ UDPゴシック" pitchFamily="34" charset="-120"/>
              </a:rPr>
              <a:t>持続性</a:t>
            </a:r>
            <a:endParaRPr lang="en-US" sz="2600" dirty="0"/>
          </a:p>
        </p:txBody>
      </p:sp>
      <p:sp>
        <p:nvSpPr>
          <p:cNvPr id="28" name="Text 21"/>
          <p:cNvSpPr txBox="1"/>
          <p:nvPr/>
        </p:nvSpPr>
        <p:spPr>
          <a:xfrm>
            <a:off x="9729216" y="3977640"/>
            <a:ext cx="1700784" cy="1097280"/>
          </a:xfrm>
          <a:prstGeom prst="rect">
            <a:avLst/>
          </a:prstGeom>
          <a:noFill/>
          <a:ln/>
        </p:spPr>
        <p:txBody>
          <a:bodyPr wrap="square" lIns="0" tIns="0" rIns="0" bIns="0" rtlCol="0" anchor="t"/>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施設・人材・費用</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考えられる選択肢を公平に比較する</a:t>
            </a:r>
            <a:endParaRPr lang="en-US" sz="3000" dirty="0"/>
          </a:p>
        </p:txBody>
      </p:sp>
      <p:sp>
        <p:nvSpPr>
          <p:cNvPr id="4" name="Shape 2"/>
          <p:cNvSpPr/>
          <p:nvPr/>
        </p:nvSpPr>
        <p:spPr>
          <a:xfrm>
            <a:off x="548640" y="1463040"/>
            <a:ext cx="2615184" cy="4206240"/>
          </a:xfrm>
          <a:prstGeom prst="roundRect">
            <a:avLst>
              <a:gd name="adj" fmla="val 4196"/>
            </a:avLst>
          </a:prstGeom>
          <a:solidFill>
            <a:srgbClr val="F4F7F5"/>
          </a:solidFill>
          <a:ln/>
        </p:spPr>
      </p:sp>
      <p:sp>
        <p:nvSpPr>
          <p:cNvPr id="5" name="Shape 3"/>
          <p:cNvSpPr/>
          <p:nvPr/>
        </p:nvSpPr>
        <p:spPr>
          <a:xfrm>
            <a:off x="822960" y="1737360"/>
            <a:ext cx="777240" cy="777240"/>
          </a:xfrm>
          <a:prstGeom prst="ellipse">
            <a:avLst/>
          </a:prstGeom>
          <a:solidFill>
            <a:srgbClr val="1D4636"/>
          </a:solidFill>
          <a:ln/>
        </p:spPr>
      </p:sp>
      <p:sp>
        <p:nvSpPr>
          <p:cNvPr id="6" name="Text 4"/>
          <p:cNvSpPr txBox="1"/>
          <p:nvPr/>
        </p:nvSpPr>
        <p:spPr>
          <a:xfrm>
            <a:off x="822960"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A</a:t>
            </a:r>
            <a:endParaRPr lang="en-US" sz="2800" dirty="0"/>
          </a:p>
        </p:txBody>
      </p:sp>
      <p:sp>
        <p:nvSpPr>
          <p:cNvPr id="7" name="Text 5"/>
          <p:cNvSpPr txBox="1"/>
          <p:nvPr/>
        </p:nvSpPr>
        <p:spPr>
          <a:xfrm>
            <a:off x="822960"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現状維持</a:t>
            </a:r>
            <a:endParaRPr lang="en-US" sz="2100" dirty="0"/>
          </a:p>
        </p:txBody>
      </p:sp>
      <p:sp>
        <p:nvSpPr>
          <p:cNvPr id="8" name="Text 6"/>
          <p:cNvSpPr txBox="1"/>
          <p:nvPr/>
        </p:nvSpPr>
        <p:spPr>
          <a:xfrm>
            <a:off x="822960"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3小学校・中学校を維持</a:t>
            </a:r>
            <a:endParaRPr lang="en-US" sz="1600" dirty="0"/>
          </a:p>
        </p:txBody>
      </p:sp>
      <p:sp>
        <p:nvSpPr>
          <p:cNvPr id="9" name="Shape 7"/>
          <p:cNvSpPr/>
          <p:nvPr/>
        </p:nvSpPr>
        <p:spPr>
          <a:xfrm>
            <a:off x="822960" y="4434840"/>
            <a:ext cx="2066544" cy="0"/>
          </a:xfrm>
          <a:prstGeom prst="line">
            <a:avLst/>
          </a:prstGeom>
          <a:noFill/>
          <a:ln w="12700">
            <a:solidFill>
              <a:srgbClr val="D7DFDA"/>
            </a:solidFill>
            <a:prstDash val="solid"/>
          </a:ln>
        </p:spPr>
      </p:sp>
      <p:sp>
        <p:nvSpPr>
          <p:cNvPr id="10" name="Text 8"/>
          <p:cNvSpPr txBox="1"/>
          <p:nvPr/>
        </p:nvSpPr>
        <p:spPr>
          <a:xfrm>
            <a:off x="822960"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11" name="Text 9"/>
          <p:cNvSpPr txBox="1"/>
          <p:nvPr/>
        </p:nvSpPr>
        <p:spPr>
          <a:xfrm>
            <a:off x="822960"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小規模化への対応（複式学級の可能性など）</a:t>
            </a:r>
            <a:endParaRPr lang="en-US" sz="1500" dirty="0"/>
          </a:p>
        </p:txBody>
      </p:sp>
      <p:sp>
        <p:nvSpPr>
          <p:cNvPr id="12" name="Shape 10"/>
          <p:cNvSpPr/>
          <p:nvPr/>
        </p:nvSpPr>
        <p:spPr>
          <a:xfrm>
            <a:off x="3364992" y="1463040"/>
            <a:ext cx="2615184" cy="4206240"/>
          </a:xfrm>
          <a:prstGeom prst="roundRect">
            <a:avLst>
              <a:gd name="adj" fmla="val 4196"/>
            </a:avLst>
          </a:prstGeom>
          <a:solidFill>
            <a:srgbClr val="F4F7F5"/>
          </a:solidFill>
          <a:ln/>
        </p:spPr>
      </p:sp>
      <p:sp>
        <p:nvSpPr>
          <p:cNvPr id="13" name="Shape 11"/>
          <p:cNvSpPr/>
          <p:nvPr/>
        </p:nvSpPr>
        <p:spPr>
          <a:xfrm>
            <a:off x="3639312" y="1737360"/>
            <a:ext cx="777240" cy="777240"/>
          </a:xfrm>
          <a:prstGeom prst="ellipse">
            <a:avLst/>
          </a:prstGeom>
          <a:solidFill>
            <a:srgbClr val="1D4636"/>
          </a:solidFill>
          <a:ln/>
        </p:spPr>
      </p:sp>
      <p:sp>
        <p:nvSpPr>
          <p:cNvPr id="14" name="Text 12"/>
          <p:cNvSpPr txBox="1"/>
          <p:nvPr/>
        </p:nvSpPr>
        <p:spPr>
          <a:xfrm>
            <a:off x="3639312"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B</a:t>
            </a:r>
            <a:endParaRPr lang="en-US" sz="2800" dirty="0"/>
          </a:p>
        </p:txBody>
      </p:sp>
      <p:sp>
        <p:nvSpPr>
          <p:cNvPr id="15" name="Text 13"/>
          <p:cNvSpPr txBox="1"/>
          <p:nvPr/>
        </p:nvSpPr>
        <p:spPr>
          <a:xfrm>
            <a:off x="3639312"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一部統合</a:t>
            </a:r>
            <a:endParaRPr lang="en-US" sz="2100" dirty="0"/>
          </a:p>
        </p:txBody>
      </p:sp>
      <p:sp>
        <p:nvSpPr>
          <p:cNvPr id="16" name="Text 14"/>
          <p:cNvSpPr txBox="1"/>
          <p:nvPr/>
        </p:nvSpPr>
        <p:spPr>
          <a:xfrm>
            <a:off x="3639312"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2校の統合など。組み合わせと統合先を比較</a:t>
            </a:r>
            <a:endParaRPr lang="en-US" sz="1600" dirty="0"/>
          </a:p>
        </p:txBody>
      </p:sp>
      <p:sp>
        <p:nvSpPr>
          <p:cNvPr id="17" name="Shape 15"/>
          <p:cNvSpPr/>
          <p:nvPr/>
        </p:nvSpPr>
        <p:spPr>
          <a:xfrm>
            <a:off x="3639312" y="4434840"/>
            <a:ext cx="2066544" cy="0"/>
          </a:xfrm>
          <a:prstGeom prst="line">
            <a:avLst/>
          </a:prstGeom>
          <a:noFill/>
          <a:ln w="12700">
            <a:solidFill>
              <a:srgbClr val="D7DFDA"/>
            </a:solidFill>
            <a:prstDash val="solid"/>
          </a:ln>
        </p:spPr>
      </p:sp>
      <p:sp>
        <p:nvSpPr>
          <p:cNvPr id="18" name="Text 16"/>
          <p:cNvSpPr txBox="1"/>
          <p:nvPr/>
        </p:nvSpPr>
        <p:spPr>
          <a:xfrm>
            <a:off x="3639312"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19" name="Text 17"/>
          <p:cNvSpPr txBox="1"/>
          <p:nvPr/>
        </p:nvSpPr>
        <p:spPr>
          <a:xfrm>
            <a:off x="3639312"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地域間の公平性・通学</a:t>
            </a:r>
            <a:endParaRPr lang="en-US" sz="1500" dirty="0"/>
          </a:p>
        </p:txBody>
      </p:sp>
      <p:sp>
        <p:nvSpPr>
          <p:cNvPr id="20" name="Shape 18"/>
          <p:cNvSpPr/>
          <p:nvPr/>
        </p:nvSpPr>
        <p:spPr>
          <a:xfrm>
            <a:off x="6181344" y="1463040"/>
            <a:ext cx="2615184" cy="4206240"/>
          </a:xfrm>
          <a:prstGeom prst="roundRect">
            <a:avLst>
              <a:gd name="adj" fmla="val 4196"/>
            </a:avLst>
          </a:prstGeom>
          <a:solidFill>
            <a:srgbClr val="F4F7F5"/>
          </a:solidFill>
          <a:ln/>
        </p:spPr>
      </p:sp>
      <p:sp>
        <p:nvSpPr>
          <p:cNvPr id="21" name="Shape 19"/>
          <p:cNvSpPr/>
          <p:nvPr/>
        </p:nvSpPr>
        <p:spPr>
          <a:xfrm>
            <a:off x="6455664" y="1737360"/>
            <a:ext cx="777240" cy="777240"/>
          </a:xfrm>
          <a:prstGeom prst="ellipse">
            <a:avLst/>
          </a:prstGeom>
          <a:solidFill>
            <a:srgbClr val="1D4636"/>
          </a:solidFill>
          <a:ln/>
        </p:spPr>
      </p:sp>
      <p:sp>
        <p:nvSpPr>
          <p:cNvPr id="22" name="Text 20"/>
          <p:cNvSpPr txBox="1"/>
          <p:nvPr/>
        </p:nvSpPr>
        <p:spPr>
          <a:xfrm>
            <a:off x="6455664"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C</a:t>
            </a:r>
            <a:endParaRPr lang="en-US" sz="2800" dirty="0"/>
          </a:p>
        </p:txBody>
      </p:sp>
      <p:sp>
        <p:nvSpPr>
          <p:cNvPr id="23" name="Text 21"/>
          <p:cNvSpPr txBox="1"/>
          <p:nvPr/>
        </p:nvSpPr>
        <p:spPr>
          <a:xfrm>
            <a:off x="6455664"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小学校3校統合</a:t>
            </a:r>
            <a:endParaRPr lang="en-US" sz="2100" dirty="0"/>
          </a:p>
        </p:txBody>
      </p:sp>
      <p:sp>
        <p:nvSpPr>
          <p:cNvPr id="24" name="Text 22"/>
          <p:cNvSpPr txBox="1"/>
          <p:nvPr/>
        </p:nvSpPr>
        <p:spPr>
          <a:xfrm>
            <a:off x="6455664"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小学校を1校に集約</a:t>
            </a:r>
            <a:endParaRPr lang="en-US" sz="1600" dirty="0"/>
          </a:p>
        </p:txBody>
      </p:sp>
      <p:sp>
        <p:nvSpPr>
          <p:cNvPr id="25" name="Shape 23"/>
          <p:cNvSpPr/>
          <p:nvPr/>
        </p:nvSpPr>
        <p:spPr>
          <a:xfrm>
            <a:off x="6455664" y="4434840"/>
            <a:ext cx="2066544" cy="0"/>
          </a:xfrm>
          <a:prstGeom prst="line">
            <a:avLst/>
          </a:prstGeom>
          <a:noFill/>
          <a:ln w="12700">
            <a:solidFill>
              <a:srgbClr val="D7DFDA"/>
            </a:solidFill>
            <a:prstDash val="solid"/>
          </a:ln>
        </p:spPr>
      </p:sp>
      <p:sp>
        <p:nvSpPr>
          <p:cNvPr id="26" name="Text 24"/>
          <p:cNvSpPr txBox="1"/>
          <p:nvPr/>
        </p:nvSpPr>
        <p:spPr>
          <a:xfrm>
            <a:off x="6455664"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27" name="Text 25"/>
          <p:cNvSpPr txBox="1"/>
          <p:nvPr/>
        </p:nvSpPr>
        <p:spPr>
          <a:xfrm>
            <a:off x="6455664"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校地・規模・通学</a:t>
            </a:r>
            <a:endParaRPr lang="en-US" sz="1500" dirty="0"/>
          </a:p>
        </p:txBody>
      </p:sp>
      <p:sp>
        <p:nvSpPr>
          <p:cNvPr id="28" name="Shape 26"/>
          <p:cNvSpPr/>
          <p:nvPr/>
        </p:nvSpPr>
        <p:spPr>
          <a:xfrm>
            <a:off x="8997696" y="1463040"/>
            <a:ext cx="2615184" cy="4206240"/>
          </a:xfrm>
          <a:prstGeom prst="roundRect">
            <a:avLst>
              <a:gd name="adj" fmla="val 4196"/>
            </a:avLst>
          </a:prstGeom>
          <a:solidFill>
            <a:srgbClr val="F4F7F5"/>
          </a:solidFill>
          <a:ln/>
        </p:spPr>
      </p:sp>
      <p:sp>
        <p:nvSpPr>
          <p:cNvPr id="29" name="Shape 27"/>
          <p:cNvSpPr/>
          <p:nvPr/>
        </p:nvSpPr>
        <p:spPr>
          <a:xfrm>
            <a:off x="9272016" y="1737360"/>
            <a:ext cx="777240" cy="777240"/>
          </a:xfrm>
          <a:prstGeom prst="ellipse">
            <a:avLst/>
          </a:prstGeom>
          <a:solidFill>
            <a:srgbClr val="1D4636"/>
          </a:solidFill>
          <a:ln/>
        </p:spPr>
      </p:sp>
      <p:sp>
        <p:nvSpPr>
          <p:cNvPr id="30" name="Text 28"/>
          <p:cNvSpPr txBox="1"/>
          <p:nvPr/>
        </p:nvSpPr>
        <p:spPr>
          <a:xfrm>
            <a:off x="9272016" y="17373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Pゴシック" pitchFamily="34" charset="0"/>
                <a:ea typeface="BIZ UDPゴシック" pitchFamily="34" charset="-122"/>
                <a:cs typeface="BIZ UDPゴシック" pitchFamily="34" charset="-120"/>
              </a:rPr>
              <a:t>D</a:t>
            </a:r>
            <a:endParaRPr lang="en-US" sz="2800" dirty="0"/>
          </a:p>
        </p:txBody>
      </p:sp>
      <p:sp>
        <p:nvSpPr>
          <p:cNvPr id="31" name="Text 29"/>
          <p:cNvSpPr txBox="1"/>
          <p:nvPr/>
        </p:nvSpPr>
        <p:spPr>
          <a:xfrm>
            <a:off x="9272016" y="2697480"/>
            <a:ext cx="2194560" cy="868680"/>
          </a:xfrm>
          <a:prstGeom prst="rect">
            <a:avLst/>
          </a:prstGeom>
          <a:noFill/>
          <a:ln/>
        </p:spPr>
        <p:txBody>
          <a:bodyPr wrap="square" lIns="0" tIns="0" rIns="0" bIns="0" rtlCol="0" anchor="t"/>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小中一貫の制度活用</a:t>
            </a:r>
            <a:endParaRPr lang="en-US" sz="2100" dirty="0"/>
          </a:p>
        </p:txBody>
      </p:sp>
      <p:sp>
        <p:nvSpPr>
          <p:cNvPr id="32" name="Text 30"/>
          <p:cNvSpPr txBox="1"/>
          <p:nvPr/>
        </p:nvSpPr>
        <p:spPr>
          <a:xfrm>
            <a:off x="9272016" y="3611880"/>
            <a:ext cx="2194560" cy="731520"/>
          </a:xfrm>
          <a:prstGeom prst="rect">
            <a:avLst/>
          </a:prstGeom>
          <a:noFill/>
          <a:ln/>
        </p:spPr>
        <p:txBody>
          <a:bodyPr wrap="square" lIns="0" tIns="0" rIns="0" bIns="0" rtlCol="0" anchor="t"/>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義務教育学校等を検討</a:t>
            </a:r>
            <a:endParaRPr lang="en-US" sz="1600" dirty="0"/>
          </a:p>
        </p:txBody>
      </p:sp>
      <p:sp>
        <p:nvSpPr>
          <p:cNvPr id="33" name="Shape 31"/>
          <p:cNvSpPr/>
          <p:nvPr/>
        </p:nvSpPr>
        <p:spPr>
          <a:xfrm>
            <a:off x="9272016" y="4434840"/>
            <a:ext cx="2066544" cy="0"/>
          </a:xfrm>
          <a:prstGeom prst="line">
            <a:avLst/>
          </a:prstGeom>
          <a:noFill/>
          <a:ln w="12700">
            <a:solidFill>
              <a:srgbClr val="D7DFDA"/>
            </a:solidFill>
            <a:prstDash val="solid"/>
          </a:ln>
        </p:spPr>
      </p:sp>
      <p:sp>
        <p:nvSpPr>
          <p:cNvPr id="34" name="Text 32"/>
          <p:cNvSpPr txBox="1"/>
          <p:nvPr/>
        </p:nvSpPr>
        <p:spPr>
          <a:xfrm>
            <a:off x="9272016" y="4572000"/>
            <a:ext cx="2194560" cy="274320"/>
          </a:xfrm>
          <a:prstGeom prst="rect">
            <a:avLst/>
          </a:prstGeom>
          <a:noFill/>
          <a:ln/>
        </p:spPr>
        <p:txBody>
          <a:bodyPr wrap="square" lIns="0" tIns="0" rIns="0" bIns="0" rtlCol="0" anchor="t"/>
          <a:lstStyle/>
          <a:p>
            <a:pPr indent="0" marL="0">
              <a:buNone/>
            </a:pPr>
            <a:r>
              <a:rPr lang="en-US" sz="1200" b="1" dirty="0">
                <a:solidFill>
                  <a:srgbClr val="2E7D5B"/>
                </a:solidFill>
                <a:latin typeface="BIZ UDPゴシック" pitchFamily="34" charset="0"/>
                <a:ea typeface="BIZ UDPゴシック" pitchFamily="34" charset="-122"/>
                <a:cs typeface="BIZ UDPゴシック" pitchFamily="34" charset="-120"/>
              </a:rPr>
              <a:t>主な論点</a:t>
            </a:r>
            <a:endParaRPr lang="en-US" sz="1200" dirty="0"/>
          </a:p>
        </p:txBody>
      </p:sp>
      <p:sp>
        <p:nvSpPr>
          <p:cNvPr id="35" name="Text 33"/>
          <p:cNvSpPr txBox="1"/>
          <p:nvPr/>
        </p:nvSpPr>
        <p:spPr>
          <a:xfrm>
            <a:off x="9272016" y="4864608"/>
            <a:ext cx="2194560" cy="640080"/>
          </a:xfrm>
          <a:prstGeom prst="rect">
            <a:avLst/>
          </a:prstGeom>
          <a:noFill/>
          <a:ln/>
        </p:spPr>
        <p:txBody>
          <a:bodyPr wrap="square" lIns="0" tIns="0" rIns="0" bIns="0" rtlCol="0" anchor="t"/>
          <a:lstStyle/>
          <a:p>
            <a:pPr indent="0" marL="0">
              <a:buNone/>
            </a:pPr>
            <a:r>
              <a:rPr lang="en-US" sz="1500" dirty="0">
                <a:solidFill>
                  <a:srgbClr val="56635D"/>
                </a:solidFill>
                <a:latin typeface="BIZ UDPゴシック" pitchFamily="34" charset="0"/>
                <a:ea typeface="BIZ UDPゴシック" pitchFamily="34" charset="-122"/>
                <a:cs typeface="BIZ UDPゴシック" pitchFamily="34" charset="-120"/>
              </a:rPr>
              <a:t>教育課程・施設・通学</a:t>
            </a:r>
            <a:endParaRPr lang="en-US" sz="1500" dirty="0"/>
          </a:p>
        </p:txBody>
      </p:sp>
      <p:sp>
        <p:nvSpPr>
          <p:cNvPr id="36" name="Text 34"/>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学校配置と教育制度は別の軸です。複数の方式を組み合わせることも可能です。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選択肢は同じ物差しで比較する</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評価欄は、R9（2027年度）の調査結果をもとに記入し、R9後半の中間報告でお示しします</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188720"/>
                <a:gridCol w="4023360"/>
                <a:gridCol w="1463040"/>
                <a:gridCol w="1463040"/>
                <a:gridCol w="1463040"/>
                <a:gridCol w="1463040"/>
              </a:tblGrid>
              <a:tr h="713232">
                <a:tc>
                  <a:txBody>
                    <a:bodyPr/>
                    <a:lstStyle/>
                    <a:p>
                      <a:pP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視点</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比べる内容</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A 現状維持</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B 一部統合</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C 3校統合</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D 小中一貫</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教育</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学習環境・交流・教員体制・特別支援</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通学</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距離・時間・交通安全・放課後</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施設</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安全性・整備費・維持管理費</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地域</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防災・行事・跡地利用・児童センター</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713232">
                <a:tc>
                  <a:txBody>
                    <a:bodyPr/>
                    <a:lstStyle/>
                    <a:p>
                      <a:pPr indent="0" marL="0">
                        <a:buNone/>
                      </a:pPr>
                      <a:r>
                        <a:rPr lang="en-US" sz="1800" b="1" dirty="0">
                          <a:solidFill>
                            <a:srgbClr val="2E7D5B"/>
                          </a:solidFill>
                          <a:latin typeface="BIZ UDPゴシック" pitchFamily="34" charset="0"/>
                          <a:ea typeface="BIZ UDPゴシック" pitchFamily="34" charset="-122"/>
                          <a:cs typeface="BIZ UDPゴシック" pitchFamily="34" charset="-120"/>
                        </a:rPr>
                        <a:t>実現性</a:t>
                      </a:r>
                      <a:endParaRPr lang="en-US" sz="18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準備期間・財源・合意形成</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indent="0" marL="0">
                        <a:buNone/>
                      </a:pP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bl>
          </a:graphicData>
        </a:graphic>
      </p:graphicFrame>
      <p:sp>
        <p:nvSpPr>
          <p:cNvPr id="6" name="Text 3"/>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評価の付け方（案）：事務局の調査結果をもとに、委員会が視点ごとに「良い・課題あり・調査中」で記入し、地区別対話で確認します。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義務教育学校という選択肢</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9年間を見通した教育を一体的に進める学校制度</a:t>
            </a:r>
            <a:endParaRPr lang="en-US" sz="1600" dirty="0"/>
          </a:p>
        </p:txBody>
      </p:sp>
      <p:sp>
        <p:nvSpPr>
          <p:cNvPr id="5" name="Shape 3"/>
          <p:cNvSpPr/>
          <p:nvPr/>
        </p:nvSpPr>
        <p:spPr>
          <a:xfrm>
            <a:off x="548640" y="1508760"/>
            <a:ext cx="5440680" cy="3611880"/>
          </a:xfrm>
          <a:prstGeom prst="roundRect">
            <a:avLst>
              <a:gd name="adj" fmla="val 3038"/>
            </a:avLst>
          </a:prstGeom>
          <a:solidFill>
            <a:srgbClr val="E8F2EC"/>
          </a:solidFill>
          <a:ln/>
        </p:spPr>
      </p:sp>
      <p:sp>
        <p:nvSpPr>
          <p:cNvPr id="6" name="Shape 4"/>
          <p:cNvSpPr/>
          <p:nvPr/>
        </p:nvSpPr>
        <p:spPr>
          <a:xfrm>
            <a:off x="914400" y="1783080"/>
            <a:ext cx="685800" cy="68580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65276" y="1933956"/>
            <a:ext cx="384048" cy="384048"/>
          </a:xfrm>
          <a:prstGeom prst="rect">
            <a:avLst/>
          </a:prstGeom>
        </p:spPr>
      </p:pic>
      <p:sp>
        <p:nvSpPr>
          <p:cNvPr id="8" name="Text 5"/>
          <p:cNvSpPr txBox="1"/>
          <p:nvPr/>
        </p:nvSpPr>
        <p:spPr>
          <a:xfrm>
            <a:off x="1783080" y="178308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期待される点</a:t>
            </a:r>
            <a:endParaRPr lang="en-US" sz="2400" dirty="0"/>
          </a:p>
        </p:txBody>
      </p:sp>
      <p:sp>
        <p:nvSpPr>
          <p:cNvPr id="9" name="Shape 6"/>
          <p:cNvSpPr/>
          <p:nvPr/>
        </p:nvSpPr>
        <p:spPr>
          <a:xfrm>
            <a:off x="1051560" y="2843784"/>
            <a:ext cx="164592" cy="164592"/>
          </a:xfrm>
          <a:prstGeom prst="ellipse">
            <a:avLst/>
          </a:prstGeom>
          <a:solidFill>
            <a:srgbClr val="2E7D5B"/>
          </a:solidFill>
          <a:ln/>
        </p:spPr>
      </p:sp>
      <p:sp>
        <p:nvSpPr>
          <p:cNvPr id="10" name="Text 7"/>
          <p:cNvSpPr txBox="1"/>
          <p:nvPr/>
        </p:nvSpPr>
        <p:spPr>
          <a:xfrm>
            <a:off x="1417320" y="269748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小中の学びの連続性</a:t>
            </a:r>
            <a:endParaRPr lang="en-US" sz="1900" dirty="0"/>
          </a:p>
        </p:txBody>
      </p:sp>
      <p:sp>
        <p:nvSpPr>
          <p:cNvPr id="11" name="Shape 8"/>
          <p:cNvSpPr/>
          <p:nvPr/>
        </p:nvSpPr>
        <p:spPr>
          <a:xfrm>
            <a:off x="1051560" y="3438144"/>
            <a:ext cx="164592" cy="164592"/>
          </a:xfrm>
          <a:prstGeom prst="ellipse">
            <a:avLst/>
          </a:prstGeom>
          <a:solidFill>
            <a:srgbClr val="2E7D5B"/>
          </a:solidFill>
          <a:ln/>
        </p:spPr>
      </p:sp>
      <p:sp>
        <p:nvSpPr>
          <p:cNvPr id="12" name="Text 9"/>
          <p:cNvSpPr txBox="1"/>
          <p:nvPr/>
        </p:nvSpPr>
        <p:spPr>
          <a:xfrm>
            <a:off x="1417320" y="329184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教員同士の連携</a:t>
            </a:r>
            <a:endParaRPr lang="en-US" sz="1900" dirty="0"/>
          </a:p>
        </p:txBody>
      </p:sp>
      <p:sp>
        <p:nvSpPr>
          <p:cNvPr id="13" name="Shape 10"/>
          <p:cNvSpPr/>
          <p:nvPr/>
        </p:nvSpPr>
        <p:spPr>
          <a:xfrm>
            <a:off x="1051560" y="4032504"/>
            <a:ext cx="164592" cy="164592"/>
          </a:xfrm>
          <a:prstGeom prst="ellipse">
            <a:avLst/>
          </a:prstGeom>
          <a:solidFill>
            <a:srgbClr val="2E7D5B"/>
          </a:solidFill>
          <a:ln/>
        </p:spPr>
      </p:sp>
      <p:sp>
        <p:nvSpPr>
          <p:cNvPr id="14" name="Text 11"/>
          <p:cNvSpPr txBox="1"/>
          <p:nvPr/>
        </p:nvSpPr>
        <p:spPr>
          <a:xfrm>
            <a:off x="1417320" y="388620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異学年交流</a:t>
            </a:r>
            <a:endParaRPr lang="en-US" sz="1900" dirty="0"/>
          </a:p>
        </p:txBody>
      </p:sp>
      <p:sp>
        <p:nvSpPr>
          <p:cNvPr id="15" name="Shape 12"/>
          <p:cNvSpPr/>
          <p:nvPr/>
        </p:nvSpPr>
        <p:spPr>
          <a:xfrm>
            <a:off x="1051560" y="4626864"/>
            <a:ext cx="164592" cy="164592"/>
          </a:xfrm>
          <a:prstGeom prst="ellipse">
            <a:avLst/>
          </a:prstGeom>
          <a:solidFill>
            <a:srgbClr val="2E7D5B"/>
          </a:solidFill>
          <a:ln/>
        </p:spPr>
      </p:sp>
      <p:sp>
        <p:nvSpPr>
          <p:cNvPr id="16" name="Text 13"/>
          <p:cNvSpPr txBox="1"/>
          <p:nvPr/>
        </p:nvSpPr>
        <p:spPr>
          <a:xfrm>
            <a:off x="1417320" y="448056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中学校進学時の不安軽減</a:t>
            </a:r>
            <a:endParaRPr lang="en-US" sz="1900" dirty="0"/>
          </a:p>
        </p:txBody>
      </p:sp>
      <p:sp>
        <p:nvSpPr>
          <p:cNvPr id="17" name="Shape 14"/>
          <p:cNvSpPr/>
          <p:nvPr/>
        </p:nvSpPr>
        <p:spPr>
          <a:xfrm>
            <a:off x="6172200" y="1508760"/>
            <a:ext cx="5440680" cy="3611880"/>
          </a:xfrm>
          <a:prstGeom prst="roundRect">
            <a:avLst>
              <a:gd name="adj" fmla="val 3038"/>
            </a:avLst>
          </a:prstGeom>
          <a:solidFill>
            <a:srgbClr val="FCEBE6"/>
          </a:solidFill>
          <a:ln/>
        </p:spPr>
      </p:sp>
      <p:sp>
        <p:nvSpPr>
          <p:cNvPr id="18" name="Shape 15"/>
          <p:cNvSpPr/>
          <p:nvPr/>
        </p:nvSpPr>
        <p:spPr>
          <a:xfrm>
            <a:off x="6537960" y="1783080"/>
            <a:ext cx="685800" cy="685800"/>
          </a:xfrm>
          <a:prstGeom prst="ellipse">
            <a:avLst/>
          </a:prstGeom>
          <a:solidFill>
            <a:srgbClr val="D9573E"/>
          </a:solidFill>
          <a:ln/>
        </p:spPr>
      </p:sp>
      <p:pic>
        <p:nvPicPr>
          <p:cNvPr id="19" name="Image 1" descr="preencoded.png">    </p:cNvPr>
          <p:cNvPicPr>
            <a:picLocks noChangeAspect="1"/>
          </p:cNvPicPr>
          <p:nvPr/>
        </p:nvPicPr>
        <p:blipFill>
          <a:blip r:embed="rId2"/>
          <a:stretch>
            <a:fillRect/>
          </a:stretch>
        </p:blipFill>
        <p:spPr>
          <a:xfrm>
            <a:off x="6688836" y="1933956"/>
            <a:ext cx="384048" cy="384048"/>
          </a:xfrm>
          <a:prstGeom prst="rect">
            <a:avLst/>
          </a:prstGeom>
        </p:spPr>
      </p:pic>
      <p:sp>
        <p:nvSpPr>
          <p:cNvPr id="20" name="Text 16"/>
          <p:cNvSpPr txBox="1"/>
          <p:nvPr/>
        </p:nvSpPr>
        <p:spPr>
          <a:xfrm>
            <a:off x="7406640" y="1783080"/>
            <a:ext cx="3931920" cy="685800"/>
          </a:xfrm>
          <a:prstGeom prst="rect">
            <a:avLst/>
          </a:prstGeom>
          <a:noFill/>
          <a:ln/>
        </p:spPr>
        <p:txBody>
          <a:bodyPr wrap="square" lIns="0" tIns="0" rIns="0" bIns="0" rtlCol="0" anchor="ctr"/>
          <a:lstStyle/>
          <a:p>
            <a:pPr indent="0" marL="0">
              <a:buNone/>
            </a:pPr>
            <a:r>
              <a:rPr lang="en-US" sz="2400" b="1" dirty="0">
                <a:solidFill>
                  <a:srgbClr val="1D4636"/>
                </a:solidFill>
                <a:latin typeface="BIZ UDPゴシック" pitchFamily="34" charset="0"/>
                <a:ea typeface="BIZ UDPゴシック" pitchFamily="34" charset="-122"/>
                <a:cs typeface="BIZ UDPゴシック" pitchFamily="34" charset="-120"/>
              </a:rPr>
              <a:t>慎重に考える点</a:t>
            </a:r>
            <a:endParaRPr lang="en-US" sz="2400" dirty="0"/>
          </a:p>
        </p:txBody>
      </p:sp>
      <p:sp>
        <p:nvSpPr>
          <p:cNvPr id="21" name="Shape 17"/>
          <p:cNvSpPr/>
          <p:nvPr/>
        </p:nvSpPr>
        <p:spPr>
          <a:xfrm>
            <a:off x="6675120" y="2843784"/>
            <a:ext cx="164592" cy="164592"/>
          </a:xfrm>
          <a:prstGeom prst="ellipse">
            <a:avLst/>
          </a:prstGeom>
          <a:solidFill>
            <a:srgbClr val="D9573E"/>
          </a:solidFill>
          <a:ln/>
        </p:spPr>
      </p:sp>
      <p:sp>
        <p:nvSpPr>
          <p:cNvPr id="22" name="Text 18"/>
          <p:cNvSpPr txBox="1"/>
          <p:nvPr/>
        </p:nvSpPr>
        <p:spPr>
          <a:xfrm>
            <a:off x="7040880" y="269748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人間関係の固定化への配慮</a:t>
            </a:r>
            <a:endParaRPr lang="en-US" sz="1900" dirty="0"/>
          </a:p>
        </p:txBody>
      </p:sp>
      <p:sp>
        <p:nvSpPr>
          <p:cNvPr id="23" name="Shape 19"/>
          <p:cNvSpPr/>
          <p:nvPr/>
        </p:nvSpPr>
        <p:spPr>
          <a:xfrm>
            <a:off x="6675120" y="3438144"/>
            <a:ext cx="164592" cy="164592"/>
          </a:xfrm>
          <a:prstGeom prst="ellipse">
            <a:avLst/>
          </a:prstGeom>
          <a:solidFill>
            <a:srgbClr val="D9573E"/>
          </a:solidFill>
          <a:ln/>
        </p:spPr>
      </p:sp>
      <p:sp>
        <p:nvSpPr>
          <p:cNvPr id="24" name="Text 20"/>
          <p:cNvSpPr txBox="1"/>
          <p:nvPr/>
        </p:nvSpPr>
        <p:spPr>
          <a:xfrm>
            <a:off x="7040880" y="329184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年齢差の大きい子どもの生活</a:t>
            </a:r>
            <a:endParaRPr lang="en-US" sz="1900" dirty="0"/>
          </a:p>
        </p:txBody>
      </p:sp>
      <p:sp>
        <p:nvSpPr>
          <p:cNvPr id="25" name="Shape 21"/>
          <p:cNvSpPr/>
          <p:nvPr/>
        </p:nvSpPr>
        <p:spPr>
          <a:xfrm>
            <a:off x="6675120" y="4032504"/>
            <a:ext cx="164592" cy="164592"/>
          </a:xfrm>
          <a:prstGeom prst="ellipse">
            <a:avLst/>
          </a:prstGeom>
          <a:solidFill>
            <a:srgbClr val="D9573E"/>
          </a:solidFill>
          <a:ln/>
        </p:spPr>
      </p:sp>
      <p:sp>
        <p:nvSpPr>
          <p:cNvPr id="26" name="Text 22"/>
          <p:cNvSpPr txBox="1"/>
          <p:nvPr/>
        </p:nvSpPr>
        <p:spPr>
          <a:xfrm>
            <a:off x="7040880" y="388620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通学距離と安全</a:t>
            </a:r>
            <a:endParaRPr lang="en-US" sz="1900" dirty="0"/>
          </a:p>
        </p:txBody>
      </p:sp>
      <p:sp>
        <p:nvSpPr>
          <p:cNvPr id="27" name="Shape 23"/>
          <p:cNvSpPr/>
          <p:nvPr/>
        </p:nvSpPr>
        <p:spPr>
          <a:xfrm>
            <a:off x="6675120" y="4626864"/>
            <a:ext cx="164592" cy="164592"/>
          </a:xfrm>
          <a:prstGeom prst="ellipse">
            <a:avLst/>
          </a:prstGeom>
          <a:solidFill>
            <a:srgbClr val="D9573E"/>
          </a:solidFill>
          <a:ln/>
        </p:spPr>
      </p:sp>
      <p:sp>
        <p:nvSpPr>
          <p:cNvPr id="28" name="Text 24"/>
          <p:cNvSpPr txBox="1"/>
          <p:nvPr/>
        </p:nvSpPr>
        <p:spPr>
          <a:xfrm>
            <a:off x="7040880" y="4480560"/>
            <a:ext cx="4389120" cy="457200"/>
          </a:xfrm>
          <a:prstGeom prst="rect">
            <a:avLst/>
          </a:prstGeom>
          <a:noFill/>
          <a:ln/>
        </p:spPr>
        <p:txBody>
          <a:bodyPr wrap="square" lIns="0" tIns="0" rIns="0" bIns="0" rtlCol="0" anchor="ctr"/>
          <a:lstStyle/>
          <a:p>
            <a:pPr indent="0" marL="0">
              <a:buNone/>
            </a:pPr>
            <a:r>
              <a:rPr lang="en-US" sz="1900" dirty="0">
                <a:solidFill>
                  <a:srgbClr val="1E2A26"/>
                </a:solidFill>
                <a:latin typeface="BIZ UDPゴシック" pitchFamily="34" charset="0"/>
                <a:ea typeface="BIZ UDPゴシック" pitchFamily="34" charset="-122"/>
                <a:cs typeface="BIZ UDPゴシック" pitchFamily="34" charset="-120"/>
              </a:rPr>
              <a:t>施設配置と運営体制</a:t>
            </a:r>
            <a:endParaRPr lang="en-US" sz="1900" dirty="0"/>
          </a:p>
        </p:txBody>
      </p:sp>
      <p:sp>
        <p:nvSpPr>
          <p:cNvPr id="29" name="Shape 25"/>
          <p:cNvSpPr/>
          <p:nvPr/>
        </p:nvSpPr>
        <p:spPr>
          <a:xfrm>
            <a:off x="548640" y="5303520"/>
            <a:ext cx="11064240" cy="640080"/>
          </a:xfrm>
          <a:prstGeom prst="roundRect">
            <a:avLst>
              <a:gd name="adj" fmla="val 17143"/>
            </a:avLst>
          </a:prstGeom>
          <a:solidFill>
            <a:srgbClr val="1D4636"/>
          </a:solidFill>
          <a:ln/>
        </p:spPr>
      </p:sp>
      <p:sp>
        <p:nvSpPr>
          <p:cNvPr id="30" name="Text 26"/>
          <p:cNvSpPr txBox="1"/>
          <p:nvPr/>
        </p:nvSpPr>
        <p:spPr>
          <a:xfrm>
            <a:off x="868680" y="5303520"/>
            <a:ext cx="10515600" cy="64008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義務教育学校＝必ず施設を一つに集約する、という意味ではありません。</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学校と学校の距離・移動時間の目安</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各小学校の間、各小学校と若穂中の間（地図は位置関係を示す概略図）</a:t>
            </a:r>
            <a:endParaRPr lang="en-US" sz="1600" dirty="0"/>
          </a:p>
        </p:txBody>
      </p:sp>
      <p:sp>
        <p:nvSpPr>
          <p:cNvPr id="5" name="Shape 3"/>
          <p:cNvSpPr/>
          <p:nvPr/>
        </p:nvSpPr>
        <p:spPr>
          <a:xfrm>
            <a:off x="548640" y="1463040"/>
            <a:ext cx="5577840" cy="4572000"/>
          </a:xfrm>
          <a:prstGeom prst="roundRect">
            <a:avLst>
              <a:gd name="adj" fmla="val 2400"/>
            </a:avLst>
          </a:prstGeom>
          <a:solidFill>
            <a:srgbClr val="F4F7F5"/>
          </a:solidFill>
          <a:ln/>
        </p:spPr>
      </p:sp>
      <p:sp>
        <p:nvSpPr>
          <p:cNvPr id="6" name="Shape 4"/>
          <p:cNvSpPr/>
          <p:nvPr/>
        </p:nvSpPr>
        <p:spPr>
          <a:xfrm flipH="1">
            <a:off x="2770055" y="1960720"/>
            <a:ext cx="1587232" cy="1717474"/>
          </a:xfrm>
          <a:prstGeom prst="line">
            <a:avLst/>
          </a:prstGeom>
          <a:noFill/>
          <a:ln w="31750">
            <a:solidFill>
              <a:srgbClr val="2E7D5B"/>
            </a:solidFill>
            <a:prstDash val="solid"/>
            <a:headEnd type="triangle"/>
            <a:tailEnd type="triangle"/>
          </a:ln>
        </p:spPr>
      </p:sp>
      <p:sp>
        <p:nvSpPr>
          <p:cNvPr id="7" name="Shape 5"/>
          <p:cNvSpPr/>
          <p:nvPr/>
        </p:nvSpPr>
        <p:spPr>
          <a:xfrm>
            <a:off x="3408223" y="2664009"/>
            <a:ext cx="310896" cy="310896"/>
          </a:xfrm>
          <a:prstGeom prst="ellipse">
            <a:avLst/>
          </a:prstGeom>
          <a:solidFill>
            <a:srgbClr val="FFFFFF"/>
          </a:solidFill>
          <a:ln w="19050">
            <a:solidFill>
              <a:srgbClr val="2E7D5B"/>
            </a:solidFill>
            <a:prstDash val="solid"/>
          </a:ln>
        </p:spPr>
      </p:sp>
      <p:sp>
        <p:nvSpPr>
          <p:cNvPr id="8" name="Text 6"/>
          <p:cNvSpPr txBox="1"/>
          <p:nvPr/>
        </p:nvSpPr>
        <p:spPr>
          <a:xfrm>
            <a:off x="3408223" y="2664009"/>
            <a:ext cx="310896" cy="310896"/>
          </a:xfrm>
          <a:prstGeom prst="rect">
            <a:avLst/>
          </a:prstGeom>
          <a:noFill/>
          <a:ln/>
        </p:spPr>
        <p:txBody>
          <a:bodyPr wrap="square" lIns="0" tIns="0" rIns="0" bIns="0" rtlCol="0" anchor="ct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1</a:t>
            </a:r>
            <a:endParaRPr lang="en-US" sz="1300" dirty="0"/>
          </a:p>
        </p:txBody>
      </p:sp>
      <p:sp>
        <p:nvSpPr>
          <p:cNvPr id="9" name="Shape 7"/>
          <p:cNvSpPr/>
          <p:nvPr/>
        </p:nvSpPr>
        <p:spPr>
          <a:xfrm>
            <a:off x="2787608" y="3982326"/>
            <a:ext cx="1825956" cy="1567826"/>
          </a:xfrm>
          <a:prstGeom prst="line">
            <a:avLst/>
          </a:prstGeom>
          <a:noFill/>
          <a:ln w="31750">
            <a:solidFill>
              <a:srgbClr val="2E7D5B"/>
            </a:solidFill>
            <a:prstDash val="solid"/>
            <a:headEnd type="triangle"/>
            <a:tailEnd type="triangle"/>
          </a:ln>
        </p:spPr>
      </p:sp>
      <p:sp>
        <p:nvSpPr>
          <p:cNvPr id="10" name="Shape 8"/>
          <p:cNvSpPr/>
          <p:nvPr/>
        </p:nvSpPr>
        <p:spPr>
          <a:xfrm>
            <a:off x="3545138" y="4610791"/>
            <a:ext cx="310896" cy="310896"/>
          </a:xfrm>
          <a:prstGeom prst="ellipse">
            <a:avLst/>
          </a:prstGeom>
          <a:solidFill>
            <a:srgbClr val="FFFFFF"/>
          </a:solidFill>
          <a:ln w="19050">
            <a:solidFill>
              <a:srgbClr val="2E7D5B"/>
            </a:solidFill>
            <a:prstDash val="solid"/>
          </a:ln>
        </p:spPr>
      </p:sp>
      <p:sp>
        <p:nvSpPr>
          <p:cNvPr id="11" name="Text 9"/>
          <p:cNvSpPr txBox="1"/>
          <p:nvPr/>
        </p:nvSpPr>
        <p:spPr>
          <a:xfrm>
            <a:off x="3545138" y="4610791"/>
            <a:ext cx="310896" cy="310896"/>
          </a:xfrm>
          <a:prstGeom prst="rect">
            <a:avLst/>
          </a:prstGeom>
          <a:noFill/>
          <a:ln/>
        </p:spPr>
        <p:txBody>
          <a:bodyPr wrap="square" lIns="0" tIns="0" rIns="0" bIns="0" rtlCol="0" anchor="ct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2</a:t>
            </a:r>
            <a:endParaRPr lang="en-US" sz="1300" dirty="0"/>
          </a:p>
        </p:txBody>
      </p:sp>
      <p:sp>
        <p:nvSpPr>
          <p:cNvPr id="12" name="Shape 10"/>
          <p:cNvSpPr/>
          <p:nvPr/>
        </p:nvSpPr>
        <p:spPr>
          <a:xfrm>
            <a:off x="4521631" y="2018465"/>
            <a:ext cx="243039" cy="3455734"/>
          </a:xfrm>
          <a:prstGeom prst="line">
            <a:avLst/>
          </a:prstGeom>
          <a:noFill/>
          <a:ln w="31750">
            <a:solidFill>
              <a:srgbClr val="2E7D5B"/>
            </a:solidFill>
            <a:prstDash val="solid"/>
            <a:headEnd type="triangle"/>
            <a:tailEnd type="triangle"/>
          </a:ln>
        </p:spPr>
      </p:sp>
      <p:sp>
        <p:nvSpPr>
          <p:cNvPr id="13" name="Shape 11"/>
          <p:cNvSpPr/>
          <p:nvPr/>
        </p:nvSpPr>
        <p:spPr>
          <a:xfrm>
            <a:off x="4487702" y="3590885"/>
            <a:ext cx="310896" cy="310896"/>
          </a:xfrm>
          <a:prstGeom prst="ellipse">
            <a:avLst/>
          </a:prstGeom>
          <a:solidFill>
            <a:srgbClr val="FFFFFF"/>
          </a:solidFill>
          <a:ln w="19050">
            <a:solidFill>
              <a:srgbClr val="2E7D5B"/>
            </a:solidFill>
            <a:prstDash val="solid"/>
          </a:ln>
        </p:spPr>
      </p:sp>
      <p:sp>
        <p:nvSpPr>
          <p:cNvPr id="14" name="Text 12"/>
          <p:cNvSpPr txBox="1"/>
          <p:nvPr/>
        </p:nvSpPr>
        <p:spPr>
          <a:xfrm>
            <a:off x="4487702" y="3590885"/>
            <a:ext cx="310896" cy="310896"/>
          </a:xfrm>
          <a:prstGeom prst="rect">
            <a:avLst/>
          </a:prstGeom>
          <a:noFill/>
          <a:ln/>
        </p:spPr>
        <p:txBody>
          <a:bodyPr wrap="square" lIns="0" tIns="0" rIns="0" bIns="0" rtlCol="0" anchor="ctr"/>
          <a:lstStyle/>
          <a:p>
            <a:pPr algn="ctr" indent="0" marL="0">
              <a:buNone/>
            </a:pPr>
            <a:r>
              <a:rPr lang="en-US" sz="1300" b="1" dirty="0">
                <a:solidFill>
                  <a:srgbClr val="2E7D5B"/>
                </a:solidFill>
                <a:latin typeface="BIZ UDPゴシック" pitchFamily="34" charset="0"/>
                <a:ea typeface="BIZ UDPゴシック" pitchFamily="34" charset="-122"/>
                <a:cs typeface="BIZ UDPゴシック" pitchFamily="34" charset="-120"/>
              </a:rPr>
              <a:t>3</a:t>
            </a:r>
            <a:endParaRPr lang="en-US" sz="1300" dirty="0"/>
          </a:p>
        </p:txBody>
      </p:sp>
      <p:sp>
        <p:nvSpPr>
          <p:cNvPr id="15" name="Shape 13"/>
          <p:cNvSpPr/>
          <p:nvPr/>
        </p:nvSpPr>
        <p:spPr>
          <a:xfrm flipH="1">
            <a:off x="3590462" y="1994488"/>
            <a:ext cx="814975" cy="1576137"/>
          </a:xfrm>
          <a:prstGeom prst="line">
            <a:avLst/>
          </a:prstGeom>
          <a:noFill/>
          <a:ln w="31750">
            <a:solidFill>
              <a:srgbClr val="D9573E"/>
            </a:solidFill>
            <a:prstDash val="dash"/>
            <a:headEnd type="triangle"/>
            <a:tailEnd type="triangle"/>
          </a:ln>
        </p:spPr>
      </p:sp>
      <p:sp>
        <p:nvSpPr>
          <p:cNvPr id="16" name="Shape 14"/>
          <p:cNvSpPr/>
          <p:nvPr/>
        </p:nvSpPr>
        <p:spPr>
          <a:xfrm>
            <a:off x="3842502" y="2627109"/>
            <a:ext cx="310896" cy="310896"/>
          </a:xfrm>
          <a:prstGeom prst="ellipse">
            <a:avLst/>
          </a:prstGeom>
          <a:solidFill>
            <a:srgbClr val="FFFFFF"/>
          </a:solidFill>
          <a:ln w="19050">
            <a:solidFill>
              <a:srgbClr val="D9573E"/>
            </a:solidFill>
            <a:prstDash val="solid"/>
          </a:ln>
        </p:spPr>
      </p:sp>
      <p:sp>
        <p:nvSpPr>
          <p:cNvPr id="17" name="Text 15"/>
          <p:cNvSpPr txBox="1"/>
          <p:nvPr/>
        </p:nvSpPr>
        <p:spPr>
          <a:xfrm>
            <a:off x="3842502" y="2627109"/>
            <a:ext cx="310896" cy="310896"/>
          </a:xfrm>
          <a:prstGeom prst="rect">
            <a:avLst/>
          </a:prstGeom>
          <a:noFill/>
          <a:ln/>
        </p:spPr>
        <p:txBody>
          <a:bodyPr wrap="square" lIns="0" tIns="0" rIns="0" bIns="0" rtlCol="0" anchor="ct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4</a:t>
            </a:r>
            <a:endParaRPr lang="en-US" sz="1300" dirty="0"/>
          </a:p>
        </p:txBody>
      </p:sp>
      <p:sp>
        <p:nvSpPr>
          <p:cNvPr id="18" name="Shape 16"/>
          <p:cNvSpPr/>
          <p:nvPr/>
        </p:nvSpPr>
        <p:spPr>
          <a:xfrm flipH="1">
            <a:off x="2839776" y="3784144"/>
            <a:ext cx="431221" cy="36640"/>
          </a:xfrm>
          <a:prstGeom prst="line">
            <a:avLst/>
          </a:prstGeom>
          <a:noFill/>
          <a:ln w="31750">
            <a:solidFill>
              <a:srgbClr val="D9573E"/>
            </a:solidFill>
            <a:prstDash val="dash"/>
            <a:headEnd type="triangle"/>
            <a:tailEnd type="triangle"/>
          </a:ln>
        </p:spPr>
      </p:sp>
      <p:sp>
        <p:nvSpPr>
          <p:cNvPr id="19" name="Shape 17"/>
          <p:cNvSpPr/>
          <p:nvPr/>
        </p:nvSpPr>
        <p:spPr>
          <a:xfrm>
            <a:off x="2899938" y="3647016"/>
            <a:ext cx="310896" cy="310896"/>
          </a:xfrm>
          <a:prstGeom prst="ellipse">
            <a:avLst/>
          </a:prstGeom>
          <a:solidFill>
            <a:srgbClr val="FFFFFF"/>
          </a:solidFill>
          <a:ln w="19050">
            <a:solidFill>
              <a:srgbClr val="D9573E"/>
            </a:solidFill>
            <a:prstDash val="solid"/>
          </a:ln>
        </p:spPr>
      </p:sp>
      <p:sp>
        <p:nvSpPr>
          <p:cNvPr id="20" name="Text 18"/>
          <p:cNvSpPr txBox="1"/>
          <p:nvPr/>
        </p:nvSpPr>
        <p:spPr>
          <a:xfrm>
            <a:off x="2899938" y="3647016"/>
            <a:ext cx="310896" cy="310896"/>
          </a:xfrm>
          <a:prstGeom prst="rect">
            <a:avLst/>
          </a:prstGeom>
          <a:noFill/>
          <a:ln/>
        </p:spPr>
        <p:txBody>
          <a:bodyPr wrap="square" lIns="0" tIns="0" rIns="0" bIns="0" rtlCol="0" anchor="ct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5</a:t>
            </a:r>
            <a:endParaRPr lang="en-US" sz="1300" dirty="0"/>
          </a:p>
        </p:txBody>
      </p:sp>
      <p:sp>
        <p:nvSpPr>
          <p:cNvPr id="21" name="Shape 19"/>
          <p:cNvSpPr/>
          <p:nvPr/>
        </p:nvSpPr>
        <p:spPr>
          <a:xfrm>
            <a:off x="3611749" y="3947928"/>
            <a:ext cx="1046233" cy="1562823"/>
          </a:xfrm>
          <a:prstGeom prst="line">
            <a:avLst/>
          </a:prstGeom>
          <a:noFill/>
          <a:ln w="31750">
            <a:solidFill>
              <a:srgbClr val="D9573E"/>
            </a:solidFill>
            <a:prstDash val="dash"/>
            <a:headEnd type="triangle"/>
            <a:tailEnd type="triangle"/>
          </a:ln>
        </p:spPr>
      </p:sp>
      <p:sp>
        <p:nvSpPr>
          <p:cNvPr id="22" name="Shape 20"/>
          <p:cNvSpPr/>
          <p:nvPr/>
        </p:nvSpPr>
        <p:spPr>
          <a:xfrm>
            <a:off x="3979417" y="4573891"/>
            <a:ext cx="310896" cy="310896"/>
          </a:xfrm>
          <a:prstGeom prst="ellipse">
            <a:avLst/>
          </a:prstGeom>
          <a:solidFill>
            <a:srgbClr val="FFFFFF"/>
          </a:solidFill>
          <a:ln w="19050">
            <a:solidFill>
              <a:srgbClr val="D9573E"/>
            </a:solidFill>
            <a:prstDash val="solid"/>
          </a:ln>
        </p:spPr>
      </p:sp>
      <p:sp>
        <p:nvSpPr>
          <p:cNvPr id="23" name="Text 21"/>
          <p:cNvSpPr txBox="1"/>
          <p:nvPr/>
        </p:nvSpPr>
        <p:spPr>
          <a:xfrm>
            <a:off x="3979417" y="4573891"/>
            <a:ext cx="310896" cy="310896"/>
          </a:xfrm>
          <a:prstGeom prst="rect">
            <a:avLst/>
          </a:prstGeom>
          <a:noFill/>
          <a:ln/>
        </p:spPr>
        <p:txBody>
          <a:bodyPr wrap="square" lIns="0" tIns="0" rIns="0" bIns="0" rtlCol="0" anchor="ctr"/>
          <a:lstStyle/>
          <a:p>
            <a:pPr algn="ct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6</a:t>
            </a:r>
            <a:endParaRPr lang="en-US" sz="1300" dirty="0"/>
          </a:p>
        </p:txBody>
      </p:sp>
      <p:sp>
        <p:nvSpPr>
          <p:cNvPr id="24" name="Shape 22"/>
          <p:cNvSpPr/>
          <p:nvPr/>
        </p:nvSpPr>
        <p:spPr>
          <a:xfrm>
            <a:off x="4323354" y="1616670"/>
            <a:ext cx="365760" cy="365760"/>
          </a:xfrm>
          <a:prstGeom prst="ellipse">
            <a:avLst>
              <a:gd name="adj" fmla="val 15000"/>
            </a:avLst>
          </a:prstGeom>
          <a:solidFill>
            <a:srgbClr val="2E7D5B"/>
          </a:solidFill>
          <a:ln w="25400">
            <a:solidFill>
              <a:srgbClr val="FFFFFF"/>
            </a:solidFill>
            <a:prstDash val="solid"/>
          </a:ln>
        </p:spPr>
      </p:sp>
      <p:sp>
        <p:nvSpPr>
          <p:cNvPr id="25" name="Text 23"/>
          <p:cNvSpPr txBox="1"/>
          <p:nvPr/>
        </p:nvSpPr>
        <p:spPr>
          <a:xfrm>
            <a:off x="4762266" y="1616670"/>
            <a:ext cx="1051560" cy="365760"/>
          </a:xfrm>
          <a:prstGeom prst="rect">
            <a:avLst/>
          </a:prstGeom>
          <a:noFill/>
          <a:ln/>
        </p:spPr>
        <p:txBody>
          <a:bodyPr wrap="square" lIns="0" tIns="0" rIns="0" bIns="0" rtlCol="0" anchor="ctr"/>
          <a:lstStyle/>
          <a:p>
            <a:pPr algn="l"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綿内小</a:t>
            </a:r>
            <a:endParaRPr lang="en-US" sz="1600" dirty="0"/>
          </a:p>
        </p:txBody>
      </p:sp>
      <p:sp>
        <p:nvSpPr>
          <p:cNvPr id="26" name="Shape 24"/>
          <p:cNvSpPr/>
          <p:nvPr/>
        </p:nvSpPr>
        <p:spPr>
          <a:xfrm>
            <a:off x="2438228" y="3656483"/>
            <a:ext cx="365760" cy="365760"/>
          </a:xfrm>
          <a:prstGeom prst="ellipse">
            <a:avLst>
              <a:gd name="adj" fmla="val 15000"/>
            </a:avLst>
          </a:prstGeom>
          <a:solidFill>
            <a:srgbClr val="2E7D5B"/>
          </a:solidFill>
          <a:ln w="25400">
            <a:solidFill>
              <a:srgbClr val="FFFFFF"/>
            </a:solidFill>
            <a:prstDash val="solid"/>
          </a:ln>
        </p:spPr>
      </p:sp>
      <p:sp>
        <p:nvSpPr>
          <p:cNvPr id="27" name="Text 25"/>
          <p:cNvSpPr txBox="1"/>
          <p:nvPr/>
        </p:nvSpPr>
        <p:spPr>
          <a:xfrm>
            <a:off x="1295228" y="3656483"/>
            <a:ext cx="1051560" cy="365760"/>
          </a:xfrm>
          <a:prstGeom prst="rect">
            <a:avLst/>
          </a:prstGeom>
          <a:noFill/>
          <a:ln/>
        </p:spPr>
        <p:txBody>
          <a:bodyPr wrap="square" lIns="0" tIns="0" rIns="0" bIns="0" rtlCol="0" anchor="ctr"/>
          <a:lstStyle/>
          <a:p>
            <a:pPr algn="r"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川田小</a:t>
            </a:r>
            <a:endParaRPr lang="en-US" sz="1600" dirty="0"/>
          </a:p>
        </p:txBody>
      </p:sp>
      <p:sp>
        <p:nvSpPr>
          <p:cNvPr id="28" name="Shape 26"/>
          <p:cNvSpPr/>
          <p:nvPr/>
        </p:nvSpPr>
        <p:spPr>
          <a:xfrm>
            <a:off x="4597185" y="5510235"/>
            <a:ext cx="365760" cy="365760"/>
          </a:xfrm>
          <a:prstGeom prst="ellipse">
            <a:avLst>
              <a:gd name="adj" fmla="val 15000"/>
            </a:avLst>
          </a:prstGeom>
          <a:solidFill>
            <a:srgbClr val="2E7D5B"/>
          </a:solidFill>
          <a:ln w="25400">
            <a:solidFill>
              <a:srgbClr val="FFFFFF"/>
            </a:solidFill>
            <a:prstDash val="solid"/>
          </a:ln>
        </p:spPr>
      </p:sp>
      <p:sp>
        <p:nvSpPr>
          <p:cNvPr id="29" name="Text 27"/>
          <p:cNvSpPr txBox="1"/>
          <p:nvPr/>
        </p:nvSpPr>
        <p:spPr>
          <a:xfrm>
            <a:off x="5036097" y="5510235"/>
            <a:ext cx="1051560" cy="365760"/>
          </a:xfrm>
          <a:prstGeom prst="rect">
            <a:avLst/>
          </a:prstGeom>
          <a:noFill/>
          <a:ln/>
        </p:spPr>
        <p:txBody>
          <a:bodyPr wrap="square" lIns="0" tIns="0" rIns="0" bIns="0" rtlCol="0" anchor="ctr"/>
          <a:lstStyle/>
          <a:p>
            <a:pPr algn="l"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保科小</a:t>
            </a:r>
            <a:endParaRPr lang="en-US" sz="1600" dirty="0"/>
          </a:p>
        </p:txBody>
      </p:sp>
      <p:sp>
        <p:nvSpPr>
          <p:cNvPr id="30" name="Shape 28"/>
          <p:cNvSpPr/>
          <p:nvPr/>
        </p:nvSpPr>
        <p:spPr>
          <a:xfrm>
            <a:off x="3306785" y="3582684"/>
            <a:ext cx="365760" cy="365760"/>
          </a:xfrm>
          <a:prstGeom prst="roundRect">
            <a:avLst>
              <a:gd name="adj" fmla="val 15000"/>
            </a:avLst>
          </a:prstGeom>
          <a:solidFill>
            <a:srgbClr val="1D4636"/>
          </a:solidFill>
          <a:ln w="25400">
            <a:solidFill>
              <a:srgbClr val="FFFFFF"/>
            </a:solidFill>
            <a:prstDash val="solid"/>
          </a:ln>
        </p:spPr>
      </p:sp>
      <p:sp>
        <p:nvSpPr>
          <p:cNvPr id="31" name="Text 29"/>
          <p:cNvSpPr txBox="1"/>
          <p:nvPr/>
        </p:nvSpPr>
        <p:spPr>
          <a:xfrm>
            <a:off x="3745697" y="3582684"/>
            <a:ext cx="1051560" cy="365760"/>
          </a:xfrm>
          <a:prstGeom prst="rect">
            <a:avLst/>
          </a:prstGeom>
          <a:noFill/>
          <a:ln/>
        </p:spPr>
        <p:txBody>
          <a:bodyPr wrap="square" lIns="0" tIns="0" rIns="0" bIns="0" rtlCol="0" anchor="ctr"/>
          <a:lstStyle/>
          <a:p>
            <a:pPr algn="l" indent="0" marL="0">
              <a:buNone/>
            </a:pPr>
            <a:r>
              <a:rPr lang="en-US" sz="1600" b="1" dirty="0">
                <a:solidFill>
                  <a:srgbClr val="1D4636"/>
                </a:solidFill>
                <a:latin typeface="BIZ UDPゴシック" pitchFamily="34" charset="0"/>
                <a:ea typeface="BIZ UDPゴシック" pitchFamily="34" charset="-122"/>
                <a:cs typeface="BIZ UDPゴシック" pitchFamily="34" charset="-120"/>
              </a:rPr>
              <a:t>若穂中</a:t>
            </a:r>
            <a:endParaRPr lang="en-US" sz="1600" dirty="0"/>
          </a:p>
        </p:txBody>
      </p:sp>
      <p:sp>
        <p:nvSpPr>
          <p:cNvPr id="32" name="Shape 30"/>
          <p:cNvSpPr/>
          <p:nvPr/>
        </p:nvSpPr>
        <p:spPr>
          <a:xfrm>
            <a:off x="822960" y="5760720"/>
            <a:ext cx="1005840" cy="0"/>
          </a:xfrm>
          <a:prstGeom prst="line">
            <a:avLst/>
          </a:prstGeom>
          <a:noFill/>
          <a:ln w="25400">
            <a:solidFill>
              <a:srgbClr val="56635D"/>
            </a:solidFill>
            <a:prstDash val="solid"/>
          </a:ln>
        </p:spPr>
      </p:sp>
      <p:sp>
        <p:nvSpPr>
          <p:cNvPr id="33" name="Text 31"/>
          <p:cNvSpPr txBox="1"/>
          <p:nvPr/>
        </p:nvSpPr>
        <p:spPr>
          <a:xfrm>
            <a:off x="1901952" y="5623560"/>
            <a:ext cx="548640" cy="274320"/>
          </a:xfrm>
          <a:prstGeom prst="rect">
            <a:avLst/>
          </a:prstGeom>
          <a:noFill/>
          <a:ln/>
        </p:spPr>
        <p:txBody>
          <a:bodyPr wrap="square" lIns="0" tIns="0" rIns="0" bIns="0" rtlCol="0" anchor="t"/>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1km</a:t>
            </a:r>
            <a:endParaRPr lang="en-US" sz="1300" dirty="0"/>
          </a:p>
        </p:txBody>
      </p:sp>
      <p:sp>
        <p:nvSpPr>
          <p:cNvPr id="34" name="Text 32"/>
          <p:cNvSpPr txBox="1"/>
          <p:nvPr/>
        </p:nvSpPr>
        <p:spPr>
          <a:xfrm>
            <a:off x="2651760" y="5623560"/>
            <a:ext cx="640080" cy="274320"/>
          </a:xfrm>
          <a:prstGeom prst="rect">
            <a:avLst/>
          </a:prstGeom>
          <a:noFill/>
          <a:ln/>
        </p:spPr>
        <p:txBody>
          <a:bodyPr wrap="square" lIns="0" tIns="0" rIns="0" bIns="0" rtlCol="0" anchor="t"/>
          <a:lstStyle/>
          <a:p>
            <a:pPr indent="0" marL="0">
              <a:buNone/>
            </a:pPr>
            <a:r>
              <a:rPr lang="en-US" sz="1300" b="1" dirty="0">
                <a:solidFill>
                  <a:srgbClr val="56635D"/>
                </a:solidFill>
                <a:latin typeface="BIZ UDPゴシック" pitchFamily="34" charset="0"/>
                <a:ea typeface="BIZ UDPゴシック" pitchFamily="34" charset="-122"/>
                <a:cs typeface="BIZ UDPゴシック" pitchFamily="34" charset="-120"/>
              </a:rPr>
              <a:t>↑ 北</a:t>
            </a:r>
            <a:endParaRPr lang="en-US" sz="1300" dirty="0"/>
          </a:p>
        </p:txBody>
      </p:sp>
      <p:sp>
        <p:nvSpPr>
          <p:cNvPr id="35" name="Shape 33"/>
          <p:cNvSpPr/>
          <p:nvPr/>
        </p:nvSpPr>
        <p:spPr>
          <a:xfrm>
            <a:off x="822960" y="1737360"/>
            <a:ext cx="411480" cy="0"/>
          </a:xfrm>
          <a:prstGeom prst="line">
            <a:avLst/>
          </a:prstGeom>
          <a:noFill/>
          <a:ln w="31750">
            <a:solidFill>
              <a:srgbClr val="2E7D5B"/>
            </a:solidFill>
            <a:prstDash val="solid"/>
          </a:ln>
        </p:spPr>
      </p:sp>
      <p:sp>
        <p:nvSpPr>
          <p:cNvPr id="36" name="Text 34"/>
          <p:cNvSpPr txBox="1"/>
          <p:nvPr/>
        </p:nvSpPr>
        <p:spPr>
          <a:xfrm>
            <a:off x="1298448" y="1600200"/>
            <a:ext cx="1645920" cy="274320"/>
          </a:xfrm>
          <a:prstGeom prst="rect">
            <a:avLst/>
          </a:prstGeom>
          <a:noFill/>
          <a:ln/>
        </p:spPr>
        <p:txBody>
          <a:bodyPr wrap="square" lIns="0" tIns="0" rIns="0" bIns="0" rtlCol="0" anchor="t"/>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小学校どうし</a:t>
            </a:r>
            <a:endParaRPr lang="en-US" sz="1300" dirty="0"/>
          </a:p>
        </p:txBody>
      </p:sp>
      <p:sp>
        <p:nvSpPr>
          <p:cNvPr id="37" name="Shape 35"/>
          <p:cNvSpPr/>
          <p:nvPr/>
        </p:nvSpPr>
        <p:spPr>
          <a:xfrm>
            <a:off x="822960" y="2011680"/>
            <a:ext cx="411480" cy="0"/>
          </a:xfrm>
          <a:prstGeom prst="line">
            <a:avLst/>
          </a:prstGeom>
          <a:noFill/>
          <a:ln w="31750">
            <a:solidFill>
              <a:srgbClr val="D9573E"/>
            </a:solidFill>
            <a:prstDash val="dash"/>
          </a:ln>
        </p:spPr>
      </p:sp>
      <p:sp>
        <p:nvSpPr>
          <p:cNvPr id="38" name="Text 36"/>
          <p:cNvSpPr txBox="1"/>
          <p:nvPr/>
        </p:nvSpPr>
        <p:spPr>
          <a:xfrm>
            <a:off x="1298448" y="1874520"/>
            <a:ext cx="1645920" cy="274320"/>
          </a:xfrm>
          <a:prstGeom prst="rect">
            <a:avLst/>
          </a:prstGeom>
          <a:noFill/>
          <a:ln/>
        </p:spPr>
        <p:txBody>
          <a:bodyPr wrap="square" lIns="0" tIns="0" rIns="0" bIns="0" rtlCol="0" anchor="t"/>
          <a:lstStyle/>
          <a:p>
            <a:pPr indent="0" marL="0">
              <a:buNone/>
            </a:pPr>
            <a:r>
              <a:rPr lang="en-US" sz="1300" dirty="0">
                <a:solidFill>
                  <a:srgbClr val="56635D"/>
                </a:solidFill>
                <a:latin typeface="BIZ UDPゴシック" pitchFamily="34" charset="0"/>
                <a:ea typeface="BIZ UDPゴシック" pitchFamily="34" charset="-122"/>
                <a:cs typeface="BIZ UDPゴシック" pitchFamily="34" charset="-120"/>
              </a:rPr>
              <a:t>小学校と若穂中</a:t>
            </a:r>
            <a:endParaRPr lang="en-US" sz="1300" dirty="0"/>
          </a:p>
        </p:txBody>
      </p:sp>
      <p:sp>
        <p:nvSpPr>
          <p:cNvPr id="39" name="Text 37"/>
          <p:cNvSpPr txBox="1"/>
          <p:nvPr/>
        </p:nvSpPr>
        <p:spPr>
          <a:xfrm>
            <a:off x="822960" y="2240280"/>
            <a:ext cx="2743200" cy="594360"/>
          </a:xfrm>
          <a:prstGeom prst="rect">
            <a:avLst/>
          </a:prstGeom>
          <a:noFill/>
          <a:ln/>
        </p:spPr>
        <p:txBody>
          <a:bodyPr wrap="square" lIns="0" tIns="0" rIns="0" bIns="0" rtlCol="0" anchor="t"/>
          <a:lstStyle/>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保科小は、ほかの3校より</a:t>
            </a:r>
            <a:endParaRPr lang="en-US" sz="1400" dirty="0"/>
          </a:p>
          <a:p>
            <a:pPr indent="0" marL="0">
              <a:buNone/>
            </a:pPr>
            <a:r>
              <a:rPr lang="en-US" sz="1400" dirty="0">
                <a:solidFill>
                  <a:srgbClr val="56635D"/>
                </a:solidFill>
                <a:latin typeface="BIZ UDPゴシック" pitchFamily="34" charset="0"/>
                <a:ea typeface="BIZ UDPゴシック" pitchFamily="34" charset="-122"/>
                <a:cs typeface="BIZ UDPゴシック" pitchFamily="34" charset="-120"/>
              </a:rPr>
              <a:t>約100m高い所にあります</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09360" y="1463040"/>
          <a:ext cx="5303520" cy="914400"/>
        </p:xfrm>
        <a:graphic>
          <a:graphicData uri="http://schemas.openxmlformats.org/drawingml/2006/table">
            <a:tbl>
              <a:tblPr/>
              <a:tblGrid>
                <a:gridCol w="457200"/>
                <a:gridCol w="1645920"/>
                <a:gridCol w="822960"/>
                <a:gridCol w="731520"/>
                <a:gridCol w="822960"/>
                <a:gridCol w="822960"/>
              </a:tblGrid>
              <a:tr h="347472">
                <a:tc rowSpan="2">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No</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rowSpan="2">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区間</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gridSpan="2">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徒歩</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hMerge="1">
                  <a:tcPr/>
                </a:tc>
                <a:tc gridSpan="2">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車</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hMerge="1">
                  <a:tcPr/>
                </a:tc>
              </a:tr>
              <a:tr h="347472">
                <a:tc vMerge="1">
                  <a:tcPr/>
                </a:tc>
                <a:tc vMerge="1">
                  <a:tcPr/>
                </a:tc>
                <a:tc>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道のり</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時間</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道のり</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時間</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420624">
                <a:tc>
                  <a:txBody>
                    <a:bodyPr/>
                    <a:lstStyle/>
                    <a:p>
                      <a:pPr algn="ctr" indent="0" marL="0">
                        <a:buNone/>
                      </a:pPr>
                      <a:r>
                        <a:rPr lang="en-US" sz="1400" b="1" dirty="0">
                          <a:solidFill>
                            <a:srgbClr val="2E7D5B"/>
                          </a:solidFill>
                          <a:latin typeface="BIZ UDPゴシック" pitchFamily="34" charset="0"/>
                          <a:ea typeface="BIZ UDPゴシック" pitchFamily="34" charset="-122"/>
                          <a:cs typeface="BIZ UDPゴシック" pitchFamily="34" charset="-120"/>
                        </a:rPr>
                        <a:t>1</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綿内小 ⇔ 川田小</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3.2km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44分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3.5km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6分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420624">
                <a:tc>
                  <a:txBody>
                    <a:bodyPr/>
                    <a:lstStyle/>
                    <a:p>
                      <a:pPr algn="ctr" indent="0" marL="0">
                        <a:buNone/>
                      </a:pPr>
                      <a:r>
                        <a:rPr lang="en-US" sz="1400" b="1" dirty="0">
                          <a:solidFill>
                            <a:srgbClr val="2E7D5B"/>
                          </a:solidFill>
                          <a:latin typeface="BIZ UDPゴシック" pitchFamily="34" charset="0"/>
                          <a:ea typeface="BIZ UDPゴシック" pitchFamily="34" charset="-122"/>
                          <a:cs typeface="BIZ UDPゴシック" pitchFamily="34" charset="-120"/>
                        </a:rPr>
                        <a:t>2</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川田小 ⇔ 保科小</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3.0km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46分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3.2km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5分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420624">
                <a:tc>
                  <a:txBody>
                    <a:bodyPr/>
                    <a:lstStyle/>
                    <a:p>
                      <a:pPr algn="ctr" indent="0" marL="0">
                        <a:buNone/>
                      </a:pPr>
                      <a:r>
                        <a:rPr lang="en-US" sz="1400" b="1" dirty="0">
                          <a:solidFill>
                            <a:srgbClr val="2E7D5B"/>
                          </a:solidFill>
                          <a:latin typeface="BIZ UDPゴシック" pitchFamily="34" charset="0"/>
                          <a:ea typeface="BIZ UDPゴシック" pitchFamily="34" charset="-122"/>
                          <a:cs typeface="BIZ UDPゴシック" pitchFamily="34" charset="-120"/>
                        </a:rPr>
                        <a:t>3</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綿内小 ⇔ 保科小</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4.9km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72分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5.6km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8分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420624">
                <a:tc>
                  <a:txBody>
                    <a:bodyPr/>
                    <a:lstStyle/>
                    <a:p>
                      <a:pPr algn="ct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4</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綿内小 ⇔ 若穂中</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2.5km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33分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2.9km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5分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420624">
                <a:tc>
                  <a:txBody>
                    <a:bodyPr/>
                    <a:lstStyle/>
                    <a:p>
                      <a:pPr algn="ct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5</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川田小 ⇔ 若穂中</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1.1km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16分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1.2km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3分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420624">
                <a:tc>
                  <a:txBody>
                    <a:bodyPr/>
                    <a:lstStyle/>
                    <a:p>
                      <a:pPr algn="ct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6</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保科小 ⇔ 若穂中</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2.5km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A26"/>
                          </a:solidFill>
                          <a:latin typeface="BIZ UDPゴシック" pitchFamily="34" charset="0"/>
                          <a:ea typeface="BIZ UDPゴシック" pitchFamily="34" charset="-122"/>
                          <a:cs typeface="BIZ UDPゴシック" pitchFamily="34" charset="-120"/>
                        </a:rPr>
                        <a:t>39分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2.5km</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26"/>
                          </a:solidFill>
                          <a:latin typeface="BIZ UDPゴシック" pitchFamily="34" charset="0"/>
                          <a:ea typeface="BIZ UDPゴシック" pitchFamily="34" charset="-122"/>
                          <a:cs typeface="BIZ UDPゴシック" pitchFamily="34" charset="-120"/>
                        </a:rPr>
                        <a:t>4分</a:t>
                      </a:r>
                      <a:endParaRPr lang="en-US" sz="14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bl>
          </a:graphicData>
        </a:graphic>
      </p:graphicFrame>
      <p:sp>
        <p:nvSpPr>
          <p:cNvPr id="41" name="Shape 38"/>
          <p:cNvSpPr/>
          <p:nvPr/>
        </p:nvSpPr>
        <p:spPr>
          <a:xfrm>
            <a:off x="6309360" y="4800600"/>
            <a:ext cx="5303520" cy="621792"/>
          </a:xfrm>
          <a:prstGeom prst="roundRect">
            <a:avLst>
              <a:gd name="adj" fmla="val 17647"/>
            </a:avLst>
          </a:prstGeom>
          <a:solidFill>
            <a:srgbClr val="E8F2EC"/>
          </a:solidFill>
          <a:ln/>
        </p:spPr>
      </p:sp>
      <p:sp>
        <p:nvSpPr>
          <p:cNvPr id="42" name="Text 39"/>
          <p:cNvSpPr txBox="1"/>
          <p:nvPr/>
        </p:nvSpPr>
        <p:spPr>
          <a:xfrm>
            <a:off x="6492240" y="4800600"/>
            <a:ext cx="4937760" cy="621792"/>
          </a:xfrm>
          <a:prstGeom prst="rect">
            <a:avLst/>
          </a:prstGeom>
          <a:noFill/>
          <a:ln/>
        </p:spPr>
        <p:txBody>
          <a:bodyPr wrap="square" lIns="0" tIns="0" rIns="0" bIns="0" rtlCol="0" anchor="ctr"/>
          <a:lstStyle/>
          <a:p>
            <a:pPr indent="0" marL="0">
              <a:buNone/>
            </a:pPr>
            <a:r>
              <a:rPr lang="en-US" sz="1300" b="1" dirty="0">
                <a:solidFill>
                  <a:srgbClr val="1D4636"/>
                </a:solidFill>
                <a:latin typeface="BIZ UDPゴシック" pitchFamily="34" charset="0"/>
                <a:ea typeface="BIZ UDPゴシック" pitchFamily="34" charset="-122"/>
                <a:cs typeface="BIZ UDPゴシック" pitchFamily="34" charset="-120"/>
              </a:rPr>
              <a:t>国の目安：通学距離は小学校おおむね4km以内・中学校おおむね6km以内、通学時間はおおむね1時間以内</a:t>
            </a:r>
            <a:endParaRPr lang="en-US" sz="1300" dirty="0"/>
          </a:p>
        </p:txBody>
      </p:sp>
      <p:sp>
        <p:nvSpPr>
          <p:cNvPr id="43" name="Shape 40"/>
          <p:cNvSpPr/>
          <p:nvPr/>
        </p:nvSpPr>
        <p:spPr>
          <a:xfrm>
            <a:off x="6309360" y="5486400"/>
            <a:ext cx="5303520" cy="566928"/>
          </a:xfrm>
          <a:prstGeom prst="roundRect">
            <a:avLst>
              <a:gd name="adj" fmla="val 19355"/>
            </a:avLst>
          </a:prstGeom>
          <a:solidFill>
            <a:srgbClr val="FCEBE6"/>
          </a:solidFill>
          <a:ln/>
        </p:spPr>
      </p:sp>
      <p:sp>
        <p:nvSpPr>
          <p:cNvPr id="44" name="Text 41"/>
          <p:cNvSpPr txBox="1"/>
          <p:nvPr/>
        </p:nvSpPr>
        <p:spPr>
          <a:xfrm>
            <a:off x="6492240" y="5486400"/>
            <a:ext cx="4937760" cy="566928"/>
          </a:xfrm>
          <a:prstGeom prst="rect">
            <a:avLst/>
          </a:prstGeom>
          <a:noFill/>
          <a:ln/>
        </p:spPr>
        <p:txBody>
          <a:bodyPr wrap="square" lIns="0" tIns="0" rIns="0" bIns="0" rtlCol="0" anchor="ctr"/>
          <a:lstStyle/>
          <a:p>
            <a:pPr indent="0" marL="0">
              <a:buNone/>
            </a:pPr>
            <a:r>
              <a:rPr lang="en-US" sz="1200" dirty="0">
                <a:solidFill>
                  <a:srgbClr val="A3402C"/>
                </a:solidFill>
                <a:latin typeface="BIZ UDPゴシック" pitchFamily="34" charset="0"/>
                <a:ea typeface="BIZ UDPゴシック" pitchFamily="34" charset="-122"/>
                <a:cs typeface="BIZ UDPゴシック" pitchFamily="34" charset="-120"/>
              </a:rPr>
              <a:t>学校と学校の距離で、子どもの通学距離ではありません。徒歩は大人の速さの目安で、子どもはもっとかかります。</a:t>
            </a:r>
            <a:endParaRPr lang="en-US" sz="1200" dirty="0"/>
          </a:p>
        </p:txBody>
      </p:sp>
      <p:sp>
        <p:nvSpPr>
          <p:cNvPr id="45" name="Text 42"/>
          <p:cNvSpPr txBox="1"/>
          <p:nvPr/>
        </p:nvSpPr>
        <p:spPr>
          <a:xfrm>
            <a:off x="548640" y="6144768"/>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Google マップの経路検索（2026年10月27日夜）。2・3・6は保科小へ向かう上りの時間。国の目安：文部科学省の手引（2015年）。</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小中学校は、すべて地域の避難所</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災害時の役割も、学校のあり方を考える大事な視点です</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011680"/>
                <a:gridCol w="1645920"/>
                <a:gridCol w="1645920"/>
                <a:gridCol w="2834640"/>
                <a:gridCol w="2926080"/>
              </a:tblGrid>
              <a:tr h="731520">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所在地</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指定避難所</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災害の種類ごとの指定</a:t>
                      </a:r>
                      <a:endParaRPr lang="en-US" sz="1600" dirty="0">
                        <a:latin typeface="BIZ UDPゴシック" charset="0"/>
                        <a:ea typeface="BIZ UDPゴシック" charset="0"/>
                        <a:cs typeface="BIZ UDPゴシック" charset="0"/>
                      </a:endParaRPr>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（洪水・土砂・地震など）</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c>
                  <a:txBody>
                    <a:bodyP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備考</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1D4636"/>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綿内小学校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若穂綿内</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川田小学校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若穂川田</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保科小学校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若穂保科</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児童センター併設、防災備蓄倉庫あり</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4F7F5"/>
                    </a:solidFill>
                  </a:tcPr>
                </a:tc>
              </a:tr>
              <a:tr h="640080">
                <a:tc>
                  <a:txBody>
                    <a:bodyPr/>
                    <a:lstStyle/>
                    <a:p>
                      <a:pPr algn="l" indent="0" marL="0">
                        <a:buNone/>
                      </a:pPr>
                      <a:r>
                        <a:rPr lang="en-US" sz="1600" b="1" dirty="0">
                          <a:solidFill>
                            <a:srgbClr val="1E2A26"/>
                          </a:solidFill>
                          <a:latin typeface="BIZ UDPゴシック" pitchFamily="34" charset="0"/>
                          <a:ea typeface="BIZ UDPゴシック" pitchFamily="34" charset="-122"/>
                          <a:cs typeface="BIZ UDPゴシック" pitchFamily="34" charset="-120"/>
                        </a:rPr>
                        <a:t>若穂中学校</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E2A26"/>
                          </a:solidFill>
                          <a:latin typeface="BIZ UDPゴシック" pitchFamily="34" charset="0"/>
                          <a:ea typeface="BIZ UDPゴシック" pitchFamily="34" charset="-122"/>
                          <a:cs typeface="BIZ UDPゴシック" pitchFamily="34" charset="-120"/>
                        </a:rPr>
                        <a:t>若穂川田</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2200" b="1" dirty="0">
                          <a:solidFill>
                            <a:srgbClr val="2E7D5B"/>
                          </a:solidFill>
                          <a:latin typeface="BIZ UDPゴシック" pitchFamily="34" charset="0"/>
                          <a:ea typeface="BIZ UDPゴシック" pitchFamily="34" charset="-122"/>
                          <a:cs typeface="BIZ UDPゴシック" pitchFamily="34" charset="-120"/>
                        </a:rPr>
                        <a:t>◯</a:t>
                      </a:r>
                      <a:endParaRPr lang="en-US" sz="22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要確認</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E2A26"/>
                          </a:solidFill>
                          <a:latin typeface="BIZ UDPゴシック" pitchFamily="34" charset="0"/>
                          <a:ea typeface="BIZ UDPゴシック" pitchFamily="34" charset="-122"/>
                          <a:cs typeface="BIZ UDPゴシック" pitchFamily="34" charset="-120"/>
                        </a:rPr>
                        <a:t>—</a:t>
                      </a:r>
                      <a:endParaRPr lang="en-US" sz="1600" dirty="0">
                        <a:latin typeface="BIZ UDPゴシック" charset="0"/>
                        <a:ea typeface="BIZ UDPゴシック" charset="0"/>
                        <a:cs typeface="BIZ UDPゴシック" charset="0"/>
                      </a:endParaRPr>
                    </a:p>
                  </a:txBody>
                  <a:tcPr marL="91440" marR="91440" marT="45720" marB="45720" anchor="ctr">
                    <a:lnL w="12700" cap="flat" cmpd="sng" algn="ctr">
                      <a:solidFill>
                        <a:srgbClr val="D7DFDA"/>
                      </a:solidFill>
                      <a:prstDash val="solid"/>
                      <a:round/>
                      <a:headEnd type="none" w="med" len="med"/>
                      <a:tailEnd type="none" w="med" len="med"/>
                    </a:lnL>
                    <a:lnR w="12700" cap="flat" cmpd="sng" algn="ctr">
                      <a:solidFill>
                        <a:srgbClr val="D7DFDA"/>
                      </a:solidFill>
                      <a:prstDash val="solid"/>
                      <a:round/>
                      <a:headEnd type="none" w="med" len="med"/>
                      <a:tailEnd type="none" w="med" len="med"/>
                    </a:lnR>
                    <a:lnT w="12700" cap="flat" cmpd="sng" algn="ctr">
                      <a:solidFill>
                        <a:srgbClr val="D7DFDA"/>
                      </a:solidFill>
                      <a:prstDash val="solid"/>
                      <a:round/>
                      <a:headEnd type="none" w="med" len="med"/>
                      <a:tailEnd type="none" w="med" len="med"/>
                    </a:lnT>
                    <a:lnB w="12700" cap="flat" cmpd="sng" algn="ctr">
                      <a:solidFill>
                        <a:srgbClr val="D7DFDA"/>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92040"/>
            <a:ext cx="11064240" cy="868680"/>
          </a:xfrm>
          <a:prstGeom prst="roundRect">
            <a:avLst>
              <a:gd name="adj" fmla="val 12632"/>
            </a:avLst>
          </a:prstGeom>
          <a:solidFill>
            <a:srgbClr val="E8F2EC"/>
          </a:solidFill>
          <a:ln/>
        </p:spPr>
      </p:sp>
      <p:sp>
        <p:nvSpPr>
          <p:cNvPr id="7" name="Text 4"/>
          <p:cNvSpPr txBox="1"/>
          <p:nvPr/>
        </p:nvSpPr>
        <p:spPr>
          <a:xfrm>
            <a:off x="868680" y="4892040"/>
            <a:ext cx="10515600" cy="868680"/>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再編で使わなくなる校舎が出る場合は、避難所の機能をどう保つかを、地域と一緒に考える必要があります。</a:t>
            </a:r>
            <a:endParaRPr lang="en-US" sz="1800" dirty="0"/>
          </a:p>
        </p:txBody>
      </p:sp>
      <p:sp>
        <p:nvSpPr>
          <p:cNvPr id="8" name="Text 5"/>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指定避難所：長野市学校施設長寿命化計画 添付資料（令和2年4月時点）。災害種別ごとの指定は、市「指定緊急避難場所・指定避難所一覧」（令和7年7月17日）で確認してください。</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再編を考えるなら、生活への影響も見える化する</a:t>
            </a:r>
            <a:endParaRPr lang="en-US" sz="3000" dirty="0"/>
          </a:p>
        </p:txBody>
      </p:sp>
      <p:sp>
        <p:nvSpPr>
          <p:cNvPr id="4" name="Shape 2"/>
          <p:cNvSpPr/>
          <p:nvPr/>
        </p:nvSpPr>
        <p:spPr>
          <a:xfrm>
            <a:off x="548640" y="1234440"/>
            <a:ext cx="11064240" cy="521208"/>
          </a:xfrm>
          <a:prstGeom prst="roundRect">
            <a:avLst>
              <a:gd name="adj" fmla="val 21053"/>
            </a:avLst>
          </a:prstGeom>
          <a:solidFill>
            <a:srgbClr val="F4F7F5"/>
          </a:solidFill>
          <a:ln/>
        </p:spPr>
      </p:sp>
      <p:sp>
        <p:nvSpPr>
          <p:cNvPr id="5" name="Shape 3"/>
          <p:cNvSpPr/>
          <p:nvPr/>
        </p:nvSpPr>
        <p:spPr>
          <a:xfrm>
            <a:off x="731520" y="1289304"/>
            <a:ext cx="411480" cy="41148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822046" y="1379830"/>
            <a:ext cx="230429" cy="230429"/>
          </a:xfrm>
          <a:prstGeom prst="rect">
            <a:avLst/>
          </a:prstGeom>
        </p:spPr>
      </p:pic>
      <p:sp>
        <p:nvSpPr>
          <p:cNvPr id="7" name="Text 4"/>
          <p:cNvSpPr txBox="1"/>
          <p:nvPr/>
        </p:nvSpPr>
        <p:spPr>
          <a:xfrm>
            <a:off x="1371600" y="1234440"/>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通学</a:t>
            </a:r>
            <a:endParaRPr lang="en-US" sz="1800" dirty="0"/>
          </a:p>
        </p:txBody>
      </p:sp>
      <p:sp>
        <p:nvSpPr>
          <p:cNvPr id="8" name="Text 5"/>
          <p:cNvSpPr txBox="1"/>
          <p:nvPr/>
        </p:nvSpPr>
        <p:spPr>
          <a:xfrm>
            <a:off x="3566160" y="1234440"/>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各地区からの所要時間・スクールバスの要否・冬の安全対策</a:t>
            </a:r>
            <a:endParaRPr lang="en-US" sz="1700" dirty="0"/>
          </a:p>
        </p:txBody>
      </p:sp>
      <p:sp>
        <p:nvSpPr>
          <p:cNvPr id="9" name="Shape 6"/>
          <p:cNvSpPr/>
          <p:nvPr/>
        </p:nvSpPr>
        <p:spPr>
          <a:xfrm>
            <a:off x="548640" y="1819656"/>
            <a:ext cx="11064240" cy="521208"/>
          </a:xfrm>
          <a:prstGeom prst="roundRect">
            <a:avLst>
              <a:gd name="adj" fmla="val 21053"/>
            </a:avLst>
          </a:prstGeom>
          <a:solidFill>
            <a:srgbClr val="FFFFFF"/>
          </a:solidFill>
          <a:ln w="12700">
            <a:solidFill>
              <a:srgbClr val="D7DFDA"/>
            </a:solidFill>
            <a:prstDash val="solid"/>
          </a:ln>
        </p:spPr>
      </p:sp>
      <p:sp>
        <p:nvSpPr>
          <p:cNvPr id="10" name="Shape 7"/>
          <p:cNvSpPr/>
          <p:nvPr/>
        </p:nvSpPr>
        <p:spPr>
          <a:xfrm>
            <a:off x="731520" y="1874520"/>
            <a:ext cx="411480" cy="411480"/>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822046" y="1965046"/>
            <a:ext cx="230429" cy="230429"/>
          </a:xfrm>
          <a:prstGeom prst="rect">
            <a:avLst/>
          </a:prstGeom>
        </p:spPr>
      </p:pic>
      <p:sp>
        <p:nvSpPr>
          <p:cNvPr id="12" name="Text 8"/>
          <p:cNvSpPr txBox="1"/>
          <p:nvPr/>
        </p:nvSpPr>
        <p:spPr>
          <a:xfrm>
            <a:off x="1371600" y="1819656"/>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送迎</a:t>
            </a:r>
            <a:endParaRPr lang="en-US" sz="1800" dirty="0"/>
          </a:p>
        </p:txBody>
      </p:sp>
      <p:sp>
        <p:nvSpPr>
          <p:cNvPr id="13" name="Text 9"/>
          <p:cNvSpPr txBox="1"/>
          <p:nvPr/>
        </p:nvSpPr>
        <p:spPr>
          <a:xfrm>
            <a:off x="3566160" y="1819656"/>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保護者の送り迎えの負担、学校周辺の駐車と交通安全</a:t>
            </a:r>
            <a:endParaRPr lang="en-US" sz="1700" dirty="0"/>
          </a:p>
        </p:txBody>
      </p:sp>
      <p:sp>
        <p:nvSpPr>
          <p:cNvPr id="14" name="Shape 10"/>
          <p:cNvSpPr/>
          <p:nvPr/>
        </p:nvSpPr>
        <p:spPr>
          <a:xfrm>
            <a:off x="548640" y="2404872"/>
            <a:ext cx="11064240" cy="521208"/>
          </a:xfrm>
          <a:prstGeom prst="roundRect">
            <a:avLst>
              <a:gd name="adj" fmla="val 21053"/>
            </a:avLst>
          </a:prstGeom>
          <a:solidFill>
            <a:srgbClr val="F4F7F5"/>
          </a:solidFill>
          <a:ln/>
        </p:spPr>
      </p:sp>
      <p:sp>
        <p:nvSpPr>
          <p:cNvPr id="15" name="Shape 11"/>
          <p:cNvSpPr/>
          <p:nvPr/>
        </p:nvSpPr>
        <p:spPr>
          <a:xfrm>
            <a:off x="731520" y="2459736"/>
            <a:ext cx="411480" cy="411480"/>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822046" y="2550262"/>
            <a:ext cx="230429" cy="230429"/>
          </a:xfrm>
          <a:prstGeom prst="rect">
            <a:avLst/>
          </a:prstGeom>
        </p:spPr>
      </p:pic>
      <p:sp>
        <p:nvSpPr>
          <p:cNvPr id="17" name="Text 12"/>
          <p:cNvSpPr txBox="1"/>
          <p:nvPr/>
        </p:nvSpPr>
        <p:spPr>
          <a:xfrm>
            <a:off x="1371600" y="2404872"/>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放課後</a:t>
            </a:r>
            <a:endParaRPr lang="en-US" sz="1800" dirty="0"/>
          </a:p>
        </p:txBody>
      </p:sp>
      <p:sp>
        <p:nvSpPr>
          <p:cNvPr id="18" name="Text 13"/>
          <p:cNvSpPr txBox="1"/>
          <p:nvPr/>
        </p:nvSpPr>
        <p:spPr>
          <a:xfrm>
            <a:off x="3566160" y="2404872"/>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放課後児童クラブ（※）・児童センターの場所と定員、帰り道</a:t>
            </a:r>
            <a:endParaRPr lang="en-US" sz="1700" dirty="0"/>
          </a:p>
        </p:txBody>
      </p:sp>
      <p:sp>
        <p:nvSpPr>
          <p:cNvPr id="19" name="Shape 14"/>
          <p:cNvSpPr/>
          <p:nvPr/>
        </p:nvSpPr>
        <p:spPr>
          <a:xfrm>
            <a:off x="548640" y="2990088"/>
            <a:ext cx="11064240" cy="521208"/>
          </a:xfrm>
          <a:prstGeom prst="roundRect">
            <a:avLst>
              <a:gd name="adj" fmla="val 21053"/>
            </a:avLst>
          </a:prstGeom>
          <a:solidFill>
            <a:srgbClr val="FFFFFF"/>
          </a:solidFill>
          <a:ln w="12700">
            <a:solidFill>
              <a:srgbClr val="D7DFDA"/>
            </a:solidFill>
            <a:prstDash val="solid"/>
          </a:ln>
        </p:spPr>
      </p:sp>
      <p:sp>
        <p:nvSpPr>
          <p:cNvPr id="20" name="Shape 15"/>
          <p:cNvSpPr/>
          <p:nvPr/>
        </p:nvSpPr>
        <p:spPr>
          <a:xfrm>
            <a:off x="731520" y="3044952"/>
            <a:ext cx="411480" cy="411480"/>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822046" y="3135478"/>
            <a:ext cx="230429" cy="230429"/>
          </a:xfrm>
          <a:prstGeom prst="rect">
            <a:avLst/>
          </a:prstGeom>
        </p:spPr>
      </p:pic>
      <p:sp>
        <p:nvSpPr>
          <p:cNvPr id="22" name="Text 16"/>
          <p:cNvSpPr txBox="1"/>
          <p:nvPr/>
        </p:nvSpPr>
        <p:spPr>
          <a:xfrm>
            <a:off x="1371600" y="2990088"/>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部活動</a:t>
            </a:r>
            <a:endParaRPr lang="en-US" sz="1800" dirty="0"/>
          </a:p>
        </p:txBody>
      </p:sp>
      <p:sp>
        <p:nvSpPr>
          <p:cNvPr id="23" name="Text 17"/>
          <p:cNvSpPr txBox="1"/>
          <p:nvPr/>
        </p:nvSpPr>
        <p:spPr>
          <a:xfrm>
            <a:off x="3566160" y="2990088"/>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中学校の部活動の種類と人数、地域のクラブへの移行の動き</a:t>
            </a:r>
            <a:endParaRPr lang="en-US" sz="1700" dirty="0"/>
          </a:p>
        </p:txBody>
      </p:sp>
      <p:sp>
        <p:nvSpPr>
          <p:cNvPr id="24" name="Shape 18"/>
          <p:cNvSpPr/>
          <p:nvPr/>
        </p:nvSpPr>
        <p:spPr>
          <a:xfrm>
            <a:off x="548640" y="3575304"/>
            <a:ext cx="11064240" cy="521208"/>
          </a:xfrm>
          <a:prstGeom prst="roundRect">
            <a:avLst>
              <a:gd name="adj" fmla="val 21053"/>
            </a:avLst>
          </a:prstGeom>
          <a:solidFill>
            <a:srgbClr val="F4F7F5"/>
          </a:solidFill>
          <a:ln/>
        </p:spPr>
      </p:sp>
      <p:sp>
        <p:nvSpPr>
          <p:cNvPr id="25" name="Shape 19"/>
          <p:cNvSpPr/>
          <p:nvPr/>
        </p:nvSpPr>
        <p:spPr>
          <a:xfrm>
            <a:off x="731520" y="3630168"/>
            <a:ext cx="411480" cy="411480"/>
          </a:xfrm>
          <a:prstGeom prst="ellipse">
            <a:avLst/>
          </a:prstGeom>
          <a:solidFill>
            <a:srgbClr val="2E7D5B"/>
          </a:solidFill>
          <a:ln/>
        </p:spPr>
      </p:sp>
      <p:pic>
        <p:nvPicPr>
          <p:cNvPr id="26" name="Image 4" descr="preencoded.png">    </p:cNvPr>
          <p:cNvPicPr>
            <a:picLocks noChangeAspect="1"/>
          </p:cNvPicPr>
          <p:nvPr/>
        </p:nvPicPr>
        <p:blipFill>
          <a:blip r:embed="rId5"/>
          <a:stretch>
            <a:fillRect/>
          </a:stretch>
        </p:blipFill>
        <p:spPr>
          <a:xfrm>
            <a:off x="822046" y="3720694"/>
            <a:ext cx="230429" cy="230429"/>
          </a:xfrm>
          <a:prstGeom prst="rect">
            <a:avLst/>
          </a:prstGeom>
        </p:spPr>
      </p:pic>
      <p:sp>
        <p:nvSpPr>
          <p:cNvPr id="27" name="Text 20"/>
          <p:cNvSpPr txBox="1"/>
          <p:nvPr/>
        </p:nvSpPr>
        <p:spPr>
          <a:xfrm>
            <a:off x="1371600" y="3575304"/>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学校生活</a:t>
            </a:r>
            <a:endParaRPr lang="en-US" sz="1800" dirty="0"/>
          </a:p>
        </p:txBody>
      </p:sp>
      <p:sp>
        <p:nvSpPr>
          <p:cNvPr id="28" name="Text 21"/>
          <p:cNvSpPr txBox="1"/>
          <p:nvPr/>
        </p:nvSpPr>
        <p:spPr>
          <a:xfrm>
            <a:off x="3566160" y="3575304"/>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行事、学級の人数、友だち関係</a:t>
            </a:r>
            <a:endParaRPr lang="en-US" sz="1700" dirty="0"/>
          </a:p>
        </p:txBody>
      </p:sp>
      <p:sp>
        <p:nvSpPr>
          <p:cNvPr id="29" name="Shape 22"/>
          <p:cNvSpPr/>
          <p:nvPr/>
        </p:nvSpPr>
        <p:spPr>
          <a:xfrm>
            <a:off x="548640" y="4160520"/>
            <a:ext cx="11064240" cy="521208"/>
          </a:xfrm>
          <a:prstGeom prst="roundRect">
            <a:avLst>
              <a:gd name="adj" fmla="val 21053"/>
            </a:avLst>
          </a:prstGeom>
          <a:solidFill>
            <a:srgbClr val="FFFFFF"/>
          </a:solidFill>
          <a:ln w="12700">
            <a:solidFill>
              <a:srgbClr val="D7DFDA"/>
            </a:solidFill>
            <a:prstDash val="solid"/>
          </a:ln>
        </p:spPr>
      </p:sp>
      <p:sp>
        <p:nvSpPr>
          <p:cNvPr id="30" name="Shape 23"/>
          <p:cNvSpPr/>
          <p:nvPr/>
        </p:nvSpPr>
        <p:spPr>
          <a:xfrm>
            <a:off x="731520" y="4215384"/>
            <a:ext cx="411480" cy="411480"/>
          </a:xfrm>
          <a:prstGeom prst="ellipse">
            <a:avLst/>
          </a:prstGeom>
          <a:solidFill>
            <a:srgbClr val="2E7D5B"/>
          </a:solidFill>
          <a:ln/>
        </p:spPr>
      </p:sp>
      <p:pic>
        <p:nvPicPr>
          <p:cNvPr id="31" name="Image 5" descr="preencoded.png">    </p:cNvPr>
          <p:cNvPicPr>
            <a:picLocks noChangeAspect="1"/>
          </p:cNvPicPr>
          <p:nvPr/>
        </p:nvPicPr>
        <p:blipFill>
          <a:blip r:embed="rId6"/>
          <a:stretch>
            <a:fillRect/>
          </a:stretch>
        </p:blipFill>
        <p:spPr>
          <a:xfrm>
            <a:off x="822046" y="4305910"/>
            <a:ext cx="230429" cy="230429"/>
          </a:xfrm>
          <a:prstGeom prst="rect">
            <a:avLst/>
          </a:prstGeom>
        </p:spPr>
      </p:pic>
      <p:sp>
        <p:nvSpPr>
          <p:cNvPr id="32" name="Text 24"/>
          <p:cNvSpPr txBox="1"/>
          <p:nvPr/>
        </p:nvSpPr>
        <p:spPr>
          <a:xfrm>
            <a:off x="1371600" y="4160520"/>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支援が必要な子</a:t>
            </a:r>
            <a:endParaRPr lang="en-US" sz="1800" dirty="0"/>
          </a:p>
        </p:txBody>
      </p:sp>
      <p:sp>
        <p:nvSpPr>
          <p:cNvPr id="33" name="Text 25"/>
          <p:cNvSpPr txBox="1"/>
          <p:nvPr/>
        </p:nvSpPr>
        <p:spPr>
          <a:xfrm>
            <a:off x="3566160" y="4160520"/>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特別支援学級・通級、医療的ケア、学校に行きづらい子の居場所</a:t>
            </a:r>
            <a:endParaRPr lang="en-US" sz="1700" dirty="0"/>
          </a:p>
        </p:txBody>
      </p:sp>
      <p:sp>
        <p:nvSpPr>
          <p:cNvPr id="34" name="Shape 26"/>
          <p:cNvSpPr/>
          <p:nvPr/>
        </p:nvSpPr>
        <p:spPr>
          <a:xfrm>
            <a:off x="548640" y="4745736"/>
            <a:ext cx="11064240" cy="521208"/>
          </a:xfrm>
          <a:prstGeom prst="roundRect">
            <a:avLst>
              <a:gd name="adj" fmla="val 21053"/>
            </a:avLst>
          </a:prstGeom>
          <a:solidFill>
            <a:srgbClr val="F4F7F5"/>
          </a:solidFill>
          <a:ln/>
        </p:spPr>
      </p:sp>
      <p:sp>
        <p:nvSpPr>
          <p:cNvPr id="35" name="Shape 27"/>
          <p:cNvSpPr/>
          <p:nvPr/>
        </p:nvSpPr>
        <p:spPr>
          <a:xfrm>
            <a:off x="731520" y="4800600"/>
            <a:ext cx="411480" cy="411480"/>
          </a:xfrm>
          <a:prstGeom prst="ellipse">
            <a:avLst/>
          </a:prstGeom>
          <a:solidFill>
            <a:srgbClr val="2E7D5B"/>
          </a:solidFill>
          <a:ln/>
        </p:spPr>
      </p:sp>
      <p:pic>
        <p:nvPicPr>
          <p:cNvPr id="36" name="Image 6" descr="preencoded.png">    </p:cNvPr>
          <p:cNvPicPr>
            <a:picLocks noChangeAspect="1"/>
          </p:cNvPicPr>
          <p:nvPr/>
        </p:nvPicPr>
        <p:blipFill>
          <a:blip r:embed="rId7"/>
          <a:stretch>
            <a:fillRect/>
          </a:stretch>
        </p:blipFill>
        <p:spPr>
          <a:xfrm>
            <a:off x="822046" y="4891126"/>
            <a:ext cx="230429" cy="230429"/>
          </a:xfrm>
          <a:prstGeom prst="rect">
            <a:avLst/>
          </a:prstGeom>
        </p:spPr>
      </p:pic>
      <p:sp>
        <p:nvSpPr>
          <p:cNvPr id="37" name="Text 28"/>
          <p:cNvSpPr txBox="1"/>
          <p:nvPr/>
        </p:nvSpPr>
        <p:spPr>
          <a:xfrm>
            <a:off x="1371600" y="4745736"/>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地域</a:t>
            </a:r>
            <a:endParaRPr lang="en-US" sz="1800" dirty="0"/>
          </a:p>
        </p:txBody>
      </p:sp>
      <p:sp>
        <p:nvSpPr>
          <p:cNvPr id="38" name="Text 29"/>
          <p:cNvSpPr txBox="1"/>
          <p:nvPr/>
        </p:nvSpPr>
        <p:spPr>
          <a:xfrm>
            <a:off x="3566160" y="4745736"/>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運動会や祭りなど地区の行事、防災拠点、交流の継続</a:t>
            </a:r>
            <a:endParaRPr lang="en-US" sz="1700" dirty="0"/>
          </a:p>
        </p:txBody>
      </p:sp>
      <p:sp>
        <p:nvSpPr>
          <p:cNvPr id="39" name="Shape 30"/>
          <p:cNvSpPr/>
          <p:nvPr/>
        </p:nvSpPr>
        <p:spPr>
          <a:xfrm>
            <a:off x="548640" y="5330952"/>
            <a:ext cx="11064240" cy="521208"/>
          </a:xfrm>
          <a:prstGeom prst="roundRect">
            <a:avLst>
              <a:gd name="adj" fmla="val 21053"/>
            </a:avLst>
          </a:prstGeom>
          <a:solidFill>
            <a:srgbClr val="FFFFFF"/>
          </a:solidFill>
          <a:ln w="12700">
            <a:solidFill>
              <a:srgbClr val="D7DFDA"/>
            </a:solidFill>
            <a:prstDash val="solid"/>
          </a:ln>
        </p:spPr>
      </p:sp>
      <p:sp>
        <p:nvSpPr>
          <p:cNvPr id="40" name="Shape 31"/>
          <p:cNvSpPr/>
          <p:nvPr/>
        </p:nvSpPr>
        <p:spPr>
          <a:xfrm>
            <a:off x="731520" y="5385816"/>
            <a:ext cx="411480" cy="411480"/>
          </a:xfrm>
          <a:prstGeom prst="ellipse">
            <a:avLst/>
          </a:prstGeom>
          <a:solidFill>
            <a:srgbClr val="2E7D5B"/>
          </a:solidFill>
          <a:ln/>
        </p:spPr>
      </p:sp>
      <p:pic>
        <p:nvPicPr>
          <p:cNvPr id="41" name="Image 7" descr="preencoded.png">    </p:cNvPr>
          <p:cNvPicPr>
            <a:picLocks noChangeAspect="1"/>
          </p:cNvPicPr>
          <p:nvPr/>
        </p:nvPicPr>
        <p:blipFill>
          <a:blip r:embed="rId8"/>
          <a:stretch>
            <a:fillRect/>
          </a:stretch>
        </p:blipFill>
        <p:spPr>
          <a:xfrm>
            <a:off x="822046" y="5476342"/>
            <a:ext cx="230429" cy="230429"/>
          </a:xfrm>
          <a:prstGeom prst="rect">
            <a:avLst/>
          </a:prstGeom>
        </p:spPr>
      </p:pic>
      <p:sp>
        <p:nvSpPr>
          <p:cNvPr id="42" name="Text 32"/>
          <p:cNvSpPr txBox="1"/>
          <p:nvPr/>
        </p:nvSpPr>
        <p:spPr>
          <a:xfrm>
            <a:off x="1371600" y="5330952"/>
            <a:ext cx="2194560" cy="521208"/>
          </a:xfrm>
          <a:prstGeom prst="rect">
            <a:avLst/>
          </a:prstGeom>
          <a:noFill/>
          <a:ln/>
        </p:spPr>
        <p:txBody>
          <a:bodyPr wrap="square" lIns="0" tIns="0" rIns="0" bIns="0" rtlCol="0" anchor="ctr"/>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施設・費用</a:t>
            </a:r>
            <a:endParaRPr lang="en-US" sz="1800" dirty="0"/>
          </a:p>
        </p:txBody>
      </p:sp>
      <p:sp>
        <p:nvSpPr>
          <p:cNvPr id="43" name="Text 33"/>
          <p:cNvSpPr txBox="1"/>
          <p:nvPr/>
        </p:nvSpPr>
        <p:spPr>
          <a:xfrm>
            <a:off x="3566160" y="5330952"/>
            <a:ext cx="7909560" cy="521208"/>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校舎・跡地の使い方、整備費・運営費・保護者の負担</a:t>
            </a:r>
            <a:endParaRPr lang="en-US" sz="1700" dirty="0"/>
          </a:p>
        </p:txBody>
      </p:sp>
      <p:sp>
        <p:nvSpPr>
          <p:cNvPr id="44" name="Text 34"/>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※放課後児童クラブ：保護者が働いている家庭などの小学生が、放課後を過ごす場。</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03  選択肢を比べる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どの選択肢でも、すぐに始められる学びの例</a:t>
            </a:r>
            <a:endParaRPr lang="en-US" sz="3000" dirty="0"/>
          </a:p>
        </p:txBody>
      </p:sp>
      <p:sp>
        <p:nvSpPr>
          <p:cNvPr id="4" name="Text 2"/>
          <p:cNvSpPr txBox="1"/>
          <p:nvPr/>
        </p:nvSpPr>
        <p:spPr>
          <a:xfrm>
            <a:off x="548640" y="1024128"/>
            <a:ext cx="11064240" cy="3657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再編の結論を待たずに、3校と中学校で試せること</a:t>
            </a:r>
            <a:endParaRPr lang="en-US" sz="1600" dirty="0"/>
          </a:p>
        </p:txBody>
      </p:sp>
      <p:sp>
        <p:nvSpPr>
          <p:cNvPr id="5" name="Shape 3"/>
          <p:cNvSpPr/>
          <p:nvPr/>
        </p:nvSpPr>
        <p:spPr>
          <a:xfrm>
            <a:off x="548640" y="1554480"/>
            <a:ext cx="5440680" cy="1874520"/>
          </a:xfrm>
          <a:prstGeom prst="roundRect">
            <a:avLst>
              <a:gd name="adj" fmla="val 5854"/>
            </a:avLst>
          </a:prstGeom>
          <a:solidFill>
            <a:srgbClr val="F4F7F5"/>
          </a:solidFill>
          <a:ln/>
        </p:spPr>
      </p:sp>
      <p:sp>
        <p:nvSpPr>
          <p:cNvPr id="6" name="Shape 4"/>
          <p:cNvSpPr/>
          <p:nvPr/>
        </p:nvSpPr>
        <p:spPr>
          <a:xfrm>
            <a:off x="868680" y="1874520"/>
            <a:ext cx="822960" cy="822960"/>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49731" y="2055571"/>
            <a:ext cx="460858" cy="460858"/>
          </a:xfrm>
          <a:prstGeom prst="rect">
            <a:avLst/>
          </a:prstGeom>
        </p:spPr>
      </p:pic>
      <p:sp>
        <p:nvSpPr>
          <p:cNvPr id="8" name="Text 5"/>
          <p:cNvSpPr txBox="1"/>
          <p:nvPr/>
        </p:nvSpPr>
        <p:spPr>
          <a:xfrm>
            <a:off x="1920240" y="18288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3校合同の授業・行事</a:t>
            </a:r>
            <a:endParaRPr lang="en-US" sz="2100" dirty="0"/>
          </a:p>
        </p:txBody>
      </p:sp>
      <p:sp>
        <p:nvSpPr>
          <p:cNvPr id="9" name="Text 6"/>
          <p:cNvSpPr txBox="1"/>
          <p:nvPr/>
        </p:nvSpPr>
        <p:spPr>
          <a:xfrm>
            <a:off x="1920240" y="24231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合同の体育・音楽、合同の遠足や宿泊学習など、大きな集団での活動</a:t>
            </a:r>
            <a:endParaRPr lang="en-US" sz="1600" dirty="0"/>
          </a:p>
        </p:txBody>
      </p:sp>
      <p:sp>
        <p:nvSpPr>
          <p:cNvPr id="10" name="Shape 7"/>
          <p:cNvSpPr/>
          <p:nvPr/>
        </p:nvSpPr>
        <p:spPr>
          <a:xfrm>
            <a:off x="6172200" y="1554480"/>
            <a:ext cx="5440680" cy="1874520"/>
          </a:xfrm>
          <a:prstGeom prst="roundRect">
            <a:avLst>
              <a:gd name="adj" fmla="val 5854"/>
            </a:avLst>
          </a:prstGeom>
          <a:solidFill>
            <a:srgbClr val="F4F7F5"/>
          </a:solidFill>
          <a:ln/>
        </p:spPr>
      </p:sp>
      <p:sp>
        <p:nvSpPr>
          <p:cNvPr id="11" name="Shape 8"/>
          <p:cNvSpPr/>
          <p:nvPr/>
        </p:nvSpPr>
        <p:spPr>
          <a:xfrm>
            <a:off x="6492240" y="1874520"/>
            <a:ext cx="822960" cy="822960"/>
          </a:xfrm>
          <a:prstGeom prst="ellipse">
            <a:avLst/>
          </a:prstGeom>
          <a:solidFill>
            <a:srgbClr val="2E7D5B"/>
          </a:solidFill>
          <a:ln/>
        </p:spPr>
      </p:sp>
      <p:pic>
        <p:nvPicPr>
          <p:cNvPr id="12" name="Image 1" descr="preencoded.png">    </p:cNvPr>
          <p:cNvPicPr>
            <a:picLocks noChangeAspect="1"/>
          </p:cNvPicPr>
          <p:nvPr/>
        </p:nvPicPr>
        <p:blipFill>
          <a:blip r:embed="rId2"/>
          <a:stretch>
            <a:fillRect/>
          </a:stretch>
        </p:blipFill>
        <p:spPr>
          <a:xfrm>
            <a:off x="6673291" y="2055571"/>
            <a:ext cx="460858" cy="460858"/>
          </a:xfrm>
          <a:prstGeom prst="rect">
            <a:avLst/>
          </a:prstGeom>
        </p:spPr>
      </p:pic>
      <p:sp>
        <p:nvSpPr>
          <p:cNvPr id="13" name="Text 9"/>
          <p:cNvSpPr txBox="1"/>
          <p:nvPr/>
        </p:nvSpPr>
        <p:spPr>
          <a:xfrm>
            <a:off x="7543800" y="18288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保育園から中学校までの連携</a:t>
            </a:r>
            <a:endParaRPr lang="en-US" sz="2100" dirty="0"/>
          </a:p>
        </p:txBody>
      </p:sp>
      <p:sp>
        <p:nvSpPr>
          <p:cNvPr id="14" name="Text 10"/>
          <p:cNvSpPr txBox="1"/>
          <p:nvPr/>
        </p:nvSpPr>
        <p:spPr>
          <a:xfrm>
            <a:off x="7543800" y="24231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保育園・幼稚園児の学校体験、中学校の先生による出前授業、小6の中学校体験</a:t>
            </a:r>
            <a:endParaRPr lang="en-US" sz="1600" dirty="0"/>
          </a:p>
        </p:txBody>
      </p:sp>
      <p:sp>
        <p:nvSpPr>
          <p:cNvPr id="15" name="Shape 11"/>
          <p:cNvSpPr/>
          <p:nvPr/>
        </p:nvSpPr>
        <p:spPr>
          <a:xfrm>
            <a:off x="548640" y="3611880"/>
            <a:ext cx="5440680" cy="1874520"/>
          </a:xfrm>
          <a:prstGeom prst="roundRect">
            <a:avLst>
              <a:gd name="adj" fmla="val 5854"/>
            </a:avLst>
          </a:prstGeom>
          <a:solidFill>
            <a:srgbClr val="F4F7F5"/>
          </a:solidFill>
          <a:ln/>
        </p:spPr>
      </p:sp>
      <p:sp>
        <p:nvSpPr>
          <p:cNvPr id="16" name="Shape 12"/>
          <p:cNvSpPr/>
          <p:nvPr/>
        </p:nvSpPr>
        <p:spPr>
          <a:xfrm>
            <a:off x="868680" y="3931920"/>
            <a:ext cx="822960" cy="822960"/>
          </a:xfrm>
          <a:prstGeom prst="ellipse">
            <a:avLst/>
          </a:prstGeom>
          <a:solidFill>
            <a:srgbClr val="2E7D5B"/>
          </a:solidFill>
          <a:ln/>
        </p:spPr>
      </p:sp>
      <p:pic>
        <p:nvPicPr>
          <p:cNvPr id="17" name="Image 2" descr="preencoded.png">    </p:cNvPr>
          <p:cNvPicPr>
            <a:picLocks noChangeAspect="1"/>
          </p:cNvPicPr>
          <p:nvPr/>
        </p:nvPicPr>
        <p:blipFill>
          <a:blip r:embed="rId3"/>
          <a:stretch>
            <a:fillRect/>
          </a:stretch>
        </p:blipFill>
        <p:spPr>
          <a:xfrm>
            <a:off x="1049731" y="4112971"/>
            <a:ext cx="460858" cy="460858"/>
          </a:xfrm>
          <a:prstGeom prst="rect">
            <a:avLst/>
          </a:prstGeom>
        </p:spPr>
      </p:pic>
      <p:sp>
        <p:nvSpPr>
          <p:cNvPr id="18" name="Text 13"/>
          <p:cNvSpPr txBox="1"/>
          <p:nvPr/>
        </p:nvSpPr>
        <p:spPr>
          <a:xfrm>
            <a:off x="1920240" y="38862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オンラインの交流授業</a:t>
            </a:r>
            <a:endParaRPr lang="en-US" sz="2100" dirty="0"/>
          </a:p>
        </p:txBody>
      </p:sp>
      <p:sp>
        <p:nvSpPr>
          <p:cNvPr id="19" name="Text 14"/>
          <p:cNvSpPr txBox="1"/>
          <p:nvPr/>
        </p:nvSpPr>
        <p:spPr>
          <a:xfrm>
            <a:off x="1920240" y="44805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タブレットで3校の教室をつなぎ、一緒に話し合う授業</a:t>
            </a:r>
            <a:endParaRPr lang="en-US" sz="1600" dirty="0"/>
          </a:p>
        </p:txBody>
      </p:sp>
      <p:sp>
        <p:nvSpPr>
          <p:cNvPr id="20" name="Shape 15"/>
          <p:cNvSpPr/>
          <p:nvPr/>
        </p:nvSpPr>
        <p:spPr>
          <a:xfrm>
            <a:off x="6172200" y="3611880"/>
            <a:ext cx="5440680" cy="1874520"/>
          </a:xfrm>
          <a:prstGeom prst="roundRect">
            <a:avLst>
              <a:gd name="adj" fmla="val 5854"/>
            </a:avLst>
          </a:prstGeom>
          <a:solidFill>
            <a:srgbClr val="F4F7F5"/>
          </a:solidFill>
          <a:ln/>
        </p:spPr>
      </p:sp>
      <p:sp>
        <p:nvSpPr>
          <p:cNvPr id="21" name="Shape 16"/>
          <p:cNvSpPr/>
          <p:nvPr/>
        </p:nvSpPr>
        <p:spPr>
          <a:xfrm>
            <a:off x="6492240" y="3931920"/>
            <a:ext cx="822960" cy="822960"/>
          </a:xfrm>
          <a:prstGeom prst="ellipse">
            <a:avLst/>
          </a:prstGeom>
          <a:solidFill>
            <a:srgbClr val="2E7D5B"/>
          </a:solidFill>
          <a:ln/>
        </p:spPr>
      </p:sp>
      <p:pic>
        <p:nvPicPr>
          <p:cNvPr id="22" name="Image 3" descr="preencoded.png">    </p:cNvPr>
          <p:cNvPicPr>
            <a:picLocks noChangeAspect="1"/>
          </p:cNvPicPr>
          <p:nvPr/>
        </p:nvPicPr>
        <p:blipFill>
          <a:blip r:embed="rId4"/>
          <a:stretch>
            <a:fillRect/>
          </a:stretch>
        </p:blipFill>
        <p:spPr>
          <a:xfrm>
            <a:off x="6673291" y="4112971"/>
            <a:ext cx="460858" cy="460858"/>
          </a:xfrm>
          <a:prstGeom prst="rect">
            <a:avLst/>
          </a:prstGeom>
        </p:spPr>
      </p:pic>
      <p:sp>
        <p:nvSpPr>
          <p:cNvPr id="23" name="Text 17"/>
          <p:cNvSpPr txBox="1"/>
          <p:nvPr/>
        </p:nvSpPr>
        <p:spPr>
          <a:xfrm>
            <a:off x="7543800" y="3886200"/>
            <a:ext cx="3840480" cy="548640"/>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地域と一緒の学び</a:t>
            </a:r>
            <a:endParaRPr lang="en-US" sz="2100" dirty="0"/>
          </a:p>
        </p:txBody>
      </p:sp>
      <p:sp>
        <p:nvSpPr>
          <p:cNvPr id="24" name="Text 18"/>
          <p:cNvSpPr txBox="1"/>
          <p:nvPr/>
        </p:nvSpPr>
        <p:spPr>
          <a:xfrm>
            <a:off x="7543800" y="4480560"/>
            <a:ext cx="3840480" cy="82296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地域の方を先生に迎える授業、地区の行事への参加</a:t>
            </a:r>
            <a:endParaRPr lang="en-US" sz="1600" dirty="0"/>
          </a:p>
        </p:txBody>
      </p:sp>
      <p:sp>
        <p:nvSpPr>
          <p:cNvPr id="25" name="Text 19"/>
          <p:cNvSpPr txBox="1"/>
          <p:nvPr/>
        </p:nvSpPr>
        <p:spPr>
          <a:xfrm>
            <a:off x="548640" y="5669280"/>
            <a:ext cx="11064240" cy="365760"/>
          </a:xfrm>
          <a:prstGeom prst="rect">
            <a:avLst/>
          </a:prstGeom>
          <a:noFill/>
          <a:ln/>
        </p:spPr>
        <p:txBody>
          <a:bodyPr wrap="square" lIns="0" tIns="0" rIns="0" bIns="0" rtlCol="0" anchor="t"/>
          <a:lstStyle/>
          <a:p>
            <a:pPr algn="ctr" indent="0" marL="0">
              <a:buNone/>
            </a:pPr>
            <a:r>
              <a:rPr lang="en-US" sz="1600" b="1" dirty="0">
                <a:solidFill>
                  <a:srgbClr val="56635D"/>
                </a:solidFill>
                <a:latin typeface="BIZ UDPゴシック" pitchFamily="34" charset="0"/>
                <a:ea typeface="BIZ UDPゴシック" pitchFamily="34" charset="-122"/>
                <a:cs typeface="BIZ UDPゴシック" pitchFamily="34" charset="-120"/>
              </a:rPr>
              <a:t>試した結果は、選択肢を比べるときの材料にもなります。</a:t>
            </a:r>
            <a:endParaRPr lang="en-US" sz="1600" dirty="0"/>
          </a:p>
        </p:txBody>
      </p:sp>
      <p:sp>
        <p:nvSpPr>
          <p:cNvPr id="26" name="Text 20"/>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例として示すものです。実施するかどうかと内容は、各学校と教育委員会が検討します。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2286000" y="5120640"/>
            <a:ext cx="8686800" cy="3840480"/>
          </a:xfrm>
          <a:prstGeom prst="ellipse">
            <a:avLst/>
          </a:prstGeom>
          <a:solidFill>
            <a:srgbClr val="2A5C47"/>
          </a:solidFill>
          <a:ln/>
        </p:spPr>
      </p:sp>
      <p:sp>
        <p:nvSpPr>
          <p:cNvPr id="3" name="Shape 1"/>
          <p:cNvSpPr/>
          <p:nvPr/>
        </p:nvSpPr>
        <p:spPr>
          <a:xfrm>
            <a:off x="4754880" y="5486400"/>
            <a:ext cx="9601200" cy="3657600"/>
          </a:xfrm>
          <a:prstGeom prst="ellipse">
            <a:avLst/>
          </a:prstGeom>
          <a:solidFill>
            <a:srgbClr val="3B7259"/>
          </a:solidFill>
          <a:ln/>
        </p:spPr>
      </p:sp>
      <p:sp>
        <p:nvSpPr>
          <p:cNvPr id="4" name="Shape 2"/>
          <p:cNvSpPr/>
          <p:nvPr/>
        </p:nvSpPr>
        <p:spPr>
          <a:xfrm>
            <a:off x="1828800" y="6035040"/>
            <a:ext cx="7315200" cy="2743200"/>
          </a:xfrm>
          <a:prstGeom prst="ellipse">
            <a:avLst/>
          </a:prstGeom>
          <a:solidFill>
            <a:srgbClr val="4E8A6C"/>
          </a:solidFill>
          <a:ln/>
        </p:spPr>
      </p:sp>
      <p:sp>
        <p:nvSpPr>
          <p:cNvPr id="5" name="Text 3"/>
          <p:cNvSpPr txBox="1"/>
          <p:nvPr/>
        </p:nvSpPr>
        <p:spPr>
          <a:xfrm>
            <a:off x="822960" y="1097280"/>
            <a:ext cx="2743200" cy="1463040"/>
          </a:xfrm>
          <a:prstGeom prst="rect">
            <a:avLst/>
          </a:prstGeom>
          <a:noFill/>
          <a:ln/>
        </p:spPr>
        <p:txBody>
          <a:bodyPr wrap="square" lIns="0" tIns="0" rIns="0" bIns="0" rtlCol="0" anchor="t"/>
          <a:lstStyle/>
          <a:p>
            <a:pPr indent="0" marL="0">
              <a:buNone/>
            </a:pPr>
            <a:r>
              <a:rPr lang="en-US" sz="9600" b="1" dirty="0">
                <a:solidFill>
                  <a:srgbClr val="D9573E"/>
                </a:solidFill>
                <a:latin typeface="BIZ UDPゴシック" pitchFamily="34" charset="0"/>
                <a:ea typeface="BIZ UDPゴシック" pitchFamily="34" charset="-122"/>
                <a:cs typeface="BIZ UDPゴシック" pitchFamily="34" charset="-120"/>
              </a:rPr>
              <a:t>04</a:t>
            </a:r>
            <a:endParaRPr lang="en-US" sz="9600" dirty="0"/>
          </a:p>
        </p:txBody>
      </p:sp>
      <p:sp>
        <p:nvSpPr>
          <p:cNvPr id="6" name="Text 4"/>
          <p:cNvSpPr txBox="1"/>
          <p:nvPr/>
        </p:nvSpPr>
        <p:spPr>
          <a:xfrm>
            <a:off x="82296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意見を寄せる</a:t>
            </a:r>
            <a:endParaRPr lang="en-US" sz="4800" dirty="0"/>
          </a:p>
        </p:txBody>
      </p:sp>
      <p:sp>
        <p:nvSpPr>
          <p:cNvPr id="7" name="Text 5"/>
          <p:cNvSpPr txBox="1"/>
          <p:nvPr/>
        </p:nvSpPr>
        <p:spPr>
          <a:xfrm>
            <a:off x="822960" y="3703320"/>
            <a:ext cx="10058400" cy="548640"/>
          </a:xfrm>
          <a:prstGeom prst="rect">
            <a:avLst/>
          </a:prstGeom>
          <a:noFill/>
          <a:ln/>
        </p:spPr>
        <p:txBody>
          <a:bodyPr wrap="square" lIns="0" tIns="0" rIns="0" bIns="0" rtlCol="0" anchor="t"/>
          <a:lstStyle/>
          <a:p>
            <a:pPr indent="0" marL="0">
              <a:buNone/>
            </a:pPr>
            <a:r>
              <a:rPr lang="en-US" sz="2000" dirty="0">
                <a:solidFill>
                  <a:srgbClr val="CFE0D6"/>
                </a:solidFill>
                <a:latin typeface="BIZ UDPゴシック" pitchFamily="34" charset="0"/>
                <a:ea typeface="BIZ UDPゴシック" pitchFamily="34" charset="-122"/>
                <a:cs typeface="BIZ UDPゴシック" pitchFamily="34" charset="-120"/>
              </a:rPr>
              <a:t>これからの進め方と、皆さんに考えてほしいこと</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04  意見を寄せる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今後の進め方｜検討ロードマップ（案）</a:t>
            </a:r>
            <a:endParaRPr lang="en-US" sz="3000" dirty="0"/>
          </a:p>
        </p:txBody>
      </p:sp>
      <p:sp>
        <p:nvSpPr>
          <p:cNvPr id="4" name="Shape 2"/>
          <p:cNvSpPr/>
          <p:nvPr/>
        </p:nvSpPr>
        <p:spPr>
          <a:xfrm>
            <a:off x="548640" y="1371600"/>
            <a:ext cx="2286000" cy="822960"/>
          </a:xfrm>
          <a:prstGeom prst="chevron">
            <a:avLst/>
          </a:prstGeom>
          <a:solidFill>
            <a:srgbClr val="D9573E"/>
          </a:solidFill>
          <a:ln/>
        </p:spPr>
      </p:sp>
      <p:sp>
        <p:nvSpPr>
          <p:cNvPr id="5" name="Text 3"/>
          <p:cNvSpPr txBox="1"/>
          <p:nvPr/>
        </p:nvSpPr>
        <p:spPr>
          <a:xfrm>
            <a:off x="914400"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R8（2026）</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秋～冬</a:t>
            </a:r>
            <a:endParaRPr lang="en-US" sz="1600" dirty="0"/>
          </a:p>
        </p:txBody>
      </p:sp>
      <p:sp>
        <p:nvSpPr>
          <p:cNvPr id="6" name="Shape 4"/>
          <p:cNvSpPr/>
          <p:nvPr/>
        </p:nvSpPr>
        <p:spPr>
          <a:xfrm>
            <a:off x="594360" y="2331720"/>
            <a:ext cx="2057400" cy="1828800"/>
          </a:xfrm>
          <a:prstGeom prst="roundRect">
            <a:avLst>
              <a:gd name="adj" fmla="val 6000"/>
            </a:avLst>
          </a:prstGeom>
          <a:solidFill>
            <a:srgbClr val="FCEBE6"/>
          </a:solidFill>
          <a:ln/>
        </p:spPr>
      </p:sp>
      <p:sp>
        <p:nvSpPr>
          <p:cNvPr id="7" name="Text 5"/>
          <p:cNvSpPr txBox="1"/>
          <p:nvPr/>
        </p:nvSpPr>
        <p:spPr>
          <a:xfrm>
            <a:off x="822960" y="2423160"/>
            <a:ext cx="1371600" cy="274320"/>
          </a:xfrm>
          <a:prstGeom prst="rect">
            <a:avLst/>
          </a:prstGeom>
          <a:noFill/>
          <a:ln/>
        </p:spPr>
        <p:txBody>
          <a:bodyPr wrap="square" lIns="0" tIns="0" rIns="0" bIns="0" rtlCol="0" anchor="t"/>
          <a:lstStyle/>
          <a:p>
            <a:pPr indent="0" marL="0">
              <a:buNone/>
            </a:pPr>
            <a:r>
              <a:rPr lang="en-US" sz="1300" b="1" dirty="0">
                <a:solidFill>
                  <a:srgbClr val="D9573E"/>
                </a:solidFill>
                <a:latin typeface="BIZ UDPゴシック" pitchFamily="34" charset="0"/>
                <a:ea typeface="BIZ UDPゴシック" pitchFamily="34" charset="-122"/>
                <a:cs typeface="BIZ UDPゴシック" pitchFamily="34" charset="-120"/>
              </a:rPr>
              <a:t>今ここ</a:t>
            </a:r>
            <a:endParaRPr lang="en-US" sz="1300" dirty="0"/>
          </a:p>
        </p:txBody>
      </p:sp>
      <p:sp>
        <p:nvSpPr>
          <p:cNvPr id="8" name="Text 6"/>
          <p:cNvSpPr txBox="1"/>
          <p:nvPr/>
        </p:nvSpPr>
        <p:spPr>
          <a:xfrm>
            <a:off x="822960"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現状・課題の共有</a:t>
            </a:r>
            <a:endParaRPr lang="en-US" sz="1800" dirty="0"/>
          </a:p>
        </p:txBody>
      </p:sp>
      <p:sp>
        <p:nvSpPr>
          <p:cNvPr id="9" name="Text 7"/>
          <p:cNvSpPr txBox="1"/>
          <p:nvPr/>
        </p:nvSpPr>
        <p:spPr>
          <a:xfrm>
            <a:off x="822960"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住民意見の収集</a:t>
            </a:r>
            <a:endParaRPr lang="en-US" sz="1600" dirty="0"/>
          </a:p>
        </p:txBody>
      </p:sp>
      <p:sp>
        <p:nvSpPr>
          <p:cNvPr id="10" name="Shape 8"/>
          <p:cNvSpPr/>
          <p:nvPr/>
        </p:nvSpPr>
        <p:spPr>
          <a:xfrm>
            <a:off x="2779776" y="1371600"/>
            <a:ext cx="2286000" cy="822960"/>
          </a:xfrm>
          <a:prstGeom prst="chevron">
            <a:avLst/>
          </a:prstGeom>
          <a:solidFill>
            <a:srgbClr val="2E7D5B"/>
          </a:solidFill>
          <a:ln/>
        </p:spPr>
      </p:sp>
      <p:sp>
        <p:nvSpPr>
          <p:cNvPr id="11" name="Text 9"/>
          <p:cNvSpPr txBox="1"/>
          <p:nvPr/>
        </p:nvSpPr>
        <p:spPr>
          <a:xfrm>
            <a:off x="3145536"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R9（2027）</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前半</a:t>
            </a:r>
            <a:endParaRPr lang="en-US" sz="1600" dirty="0"/>
          </a:p>
        </p:txBody>
      </p:sp>
      <p:sp>
        <p:nvSpPr>
          <p:cNvPr id="12" name="Shape 10"/>
          <p:cNvSpPr/>
          <p:nvPr/>
        </p:nvSpPr>
        <p:spPr>
          <a:xfrm>
            <a:off x="2825496" y="2331720"/>
            <a:ext cx="2057400" cy="1828800"/>
          </a:xfrm>
          <a:prstGeom prst="roundRect">
            <a:avLst>
              <a:gd name="adj" fmla="val 6000"/>
            </a:avLst>
          </a:prstGeom>
          <a:solidFill>
            <a:srgbClr val="F4F7F5"/>
          </a:solidFill>
          <a:ln/>
        </p:spPr>
      </p:sp>
      <p:sp>
        <p:nvSpPr>
          <p:cNvPr id="13" name="Text 11"/>
          <p:cNvSpPr txBox="1"/>
          <p:nvPr/>
        </p:nvSpPr>
        <p:spPr>
          <a:xfrm>
            <a:off x="3054096"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保護者・子どもの意見を聞く</a:t>
            </a:r>
            <a:endParaRPr lang="en-US" sz="1800" dirty="0"/>
          </a:p>
        </p:txBody>
      </p:sp>
      <p:sp>
        <p:nvSpPr>
          <p:cNvPr id="14" name="Text 12"/>
          <p:cNvSpPr txBox="1"/>
          <p:nvPr/>
        </p:nvSpPr>
        <p:spPr>
          <a:xfrm>
            <a:off x="3054096"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未就学児の保護者も対象</a:t>
            </a:r>
            <a:endParaRPr lang="en-US" sz="1600" dirty="0"/>
          </a:p>
        </p:txBody>
      </p:sp>
      <p:sp>
        <p:nvSpPr>
          <p:cNvPr id="15" name="Shape 13"/>
          <p:cNvSpPr/>
          <p:nvPr/>
        </p:nvSpPr>
        <p:spPr>
          <a:xfrm>
            <a:off x="5010912" y="1371600"/>
            <a:ext cx="2286000" cy="822960"/>
          </a:xfrm>
          <a:prstGeom prst="chevron">
            <a:avLst/>
          </a:prstGeom>
          <a:solidFill>
            <a:srgbClr val="2E7D5B"/>
          </a:solidFill>
          <a:ln/>
        </p:spPr>
      </p:sp>
      <p:sp>
        <p:nvSpPr>
          <p:cNvPr id="16" name="Text 14"/>
          <p:cNvSpPr txBox="1"/>
          <p:nvPr/>
        </p:nvSpPr>
        <p:spPr>
          <a:xfrm>
            <a:off x="5376672"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R9（2027）</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後半</a:t>
            </a:r>
            <a:endParaRPr lang="en-US" sz="1600" dirty="0"/>
          </a:p>
        </p:txBody>
      </p:sp>
      <p:sp>
        <p:nvSpPr>
          <p:cNvPr id="17" name="Shape 15"/>
          <p:cNvSpPr/>
          <p:nvPr/>
        </p:nvSpPr>
        <p:spPr>
          <a:xfrm>
            <a:off x="5056632" y="2331720"/>
            <a:ext cx="2057400" cy="1828800"/>
          </a:xfrm>
          <a:prstGeom prst="roundRect">
            <a:avLst>
              <a:gd name="adj" fmla="val 6000"/>
            </a:avLst>
          </a:prstGeom>
          <a:solidFill>
            <a:srgbClr val="F4F7F5"/>
          </a:solidFill>
          <a:ln/>
        </p:spPr>
      </p:sp>
      <p:sp>
        <p:nvSpPr>
          <p:cNvPr id="18" name="Text 16"/>
          <p:cNvSpPr txBox="1"/>
          <p:nvPr/>
        </p:nvSpPr>
        <p:spPr>
          <a:xfrm>
            <a:off x="5285232"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複数案の比較</a:t>
            </a:r>
            <a:endParaRPr lang="en-US" sz="1800" dirty="0"/>
          </a:p>
        </p:txBody>
      </p:sp>
      <p:sp>
        <p:nvSpPr>
          <p:cNvPr id="19" name="Text 17"/>
          <p:cNvSpPr txBox="1"/>
          <p:nvPr/>
        </p:nvSpPr>
        <p:spPr>
          <a:xfrm>
            <a:off x="5285232"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通学・施設の調査を反映し中間報告</a:t>
            </a:r>
            <a:endParaRPr lang="en-US" sz="1600" dirty="0"/>
          </a:p>
        </p:txBody>
      </p:sp>
      <p:sp>
        <p:nvSpPr>
          <p:cNvPr id="20" name="Shape 18"/>
          <p:cNvSpPr/>
          <p:nvPr/>
        </p:nvSpPr>
        <p:spPr>
          <a:xfrm>
            <a:off x="7242048" y="1371600"/>
            <a:ext cx="2286000" cy="822960"/>
          </a:xfrm>
          <a:prstGeom prst="chevron">
            <a:avLst/>
          </a:prstGeom>
          <a:solidFill>
            <a:srgbClr val="2E7D5B"/>
          </a:solidFill>
          <a:ln/>
        </p:spPr>
      </p:sp>
      <p:sp>
        <p:nvSpPr>
          <p:cNvPr id="21" name="Text 19"/>
          <p:cNvSpPr txBox="1"/>
          <p:nvPr/>
        </p:nvSpPr>
        <p:spPr>
          <a:xfrm>
            <a:off x="7607808"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R10（2028）</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前半</a:t>
            </a:r>
            <a:endParaRPr lang="en-US" sz="1600" dirty="0"/>
          </a:p>
        </p:txBody>
      </p:sp>
      <p:sp>
        <p:nvSpPr>
          <p:cNvPr id="22" name="Shape 20"/>
          <p:cNvSpPr/>
          <p:nvPr/>
        </p:nvSpPr>
        <p:spPr>
          <a:xfrm>
            <a:off x="7287768" y="2331720"/>
            <a:ext cx="2057400" cy="1828800"/>
          </a:xfrm>
          <a:prstGeom prst="roundRect">
            <a:avLst>
              <a:gd name="adj" fmla="val 6000"/>
            </a:avLst>
          </a:prstGeom>
          <a:solidFill>
            <a:srgbClr val="F4F7F5"/>
          </a:solidFill>
          <a:ln/>
        </p:spPr>
      </p:sp>
      <p:sp>
        <p:nvSpPr>
          <p:cNvPr id="23" name="Text 21"/>
          <p:cNvSpPr txBox="1"/>
          <p:nvPr/>
        </p:nvSpPr>
        <p:spPr>
          <a:xfrm>
            <a:off x="7516368"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地区別対話</a:t>
            </a:r>
            <a:endParaRPr lang="en-US" sz="1800" dirty="0"/>
          </a:p>
        </p:txBody>
      </p:sp>
      <p:sp>
        <p:nvSpPr>
          <p:cNvPr id="24" name="Text 22"/>
          <p:cNvSpPr txBox="1"/>
          <p:nvPr/>
        </p:nvSpPr>
        <p:spPr>
          <a:xfrm>
            <a:off x="7516368"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地域の方向性の整理</a:t>
            </a:r>
            <a:endParaRPr lang="en-US" sz="1600" dirty="0"/>
          </a:p>
        </p:txBody>
      </p:sp>
      <p:sp>
        <p:nvSpPr>
          <p:cNvPr id="25" name="Shape 23"/>
          <p:cNvSpPr/>
          <p:nvPr/>
        </p:nvSpPr>
        <p:spPr>
          <a:xfrm>
            <a:off x="9473184" y="1371600"/>
            <a:ext cx="2286000" cy="822960"/>
          </a:xfrm>
          <a:prstGeom prst="chevron">
            <a:avLst/>
          </a:prstGeom>
          <a:solidFill>
            <a:srgbClr val="1D4636"/>
          </a:solidFill>
          <a:ln/>
        </p:spPr>
      </p:sp>
      <p:sp>
        <p:nvSpPr>
          <p:cNvPr id="26" name="Text 24"/>
          <p:cNvSpPr txBox="1"/>
          <p:nvPr/>
        </p:nvSpPr>
        <p:spPr>
          <a:xfrm>
            <a:off x="9838944" y="1371600"/>
            <a:ext cx="164592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R10（2028）</a:t>
            </a:r>
            <a:endParaRPr lang="en-US" sz="1600" dirty="0"/>
          </a:p>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後半以降</a:t>
            </a:r>
            <a:endParaRPr lang="en-US" sz="1600" dirty="0"/>
          </a:p>
        </p:txBody>
      </p:sp>
      <p:sp>
        <p:nvSpPr>
          <p:cNvPr id="27" name="Shape 25"/>
          <p:cNvSpPr/>
          <p:nvPr/>
        </p:nvSpPr>
        <p:spPr>
          <a:xfrm>
            <a:off x="9518904" y="2331720"/>
            <a:ext cx="2057400" cy="1828800"/>
          </a:xfrm>
          <a:prstGeom prst="roundRect">
            <a:avLst>
              <a:gd name="adj" fmla="val 6000"/>
            </a:avLst>
          </a:prstGeom>
          <a:solidFill>
            <a:srgbClr val="F4F7F5"/>
          </a:solidFill>
          <a:ln/>
        </p:spPr>
      </p:sp>
      <p:sp>
        <p:nvSpPr>
          <p:cNvPr id="28" name="Text 26"/>
          <p:cNvSpPr txBox="1"/>
          <p:nvPr/>
        </p:nvSpPr>
        <p:spPr>
          <a:xfrm>
            <a:off x="9747504" y="2697480"/>
            <a:ext cx="1691640" cy="68580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地域提言</a:t>
            </a:r>
            <a:endParaRPr lang="en-US" sz="1800" dirty="0"/>
          </a:p>
        </p:txBody>
      </p:sp>
      <p:sp>
        <p:nvSpPr>
          <p:cNvPr id="29" name="Text 27"/>
          <p:cNvSpPr txBox="1"/>
          <p:nvPr/>
        </p:nvSpPr>
        <p:spPr>
          <a:xfrm>
            <a:off x="9747504" y="3429000"/>
            <a:ext cx="1691640" cy="685800"/>
          </a:xfrm>
          <a:prstGeom prst="rect">
            <a:avLst/>
          </a:prstGeom>
          <a:noFill/>
          <a:ln/>
        </p:spPr>
        <p:txBody>
          <a:bodyPr wrap="square" lIns="0" tIns="0" rIns="0" bIns="0" rtlCol="0" anchor="t"/>
          <a:lstStyle/>
          <a:p>
            <a:pPr indent="0" marL="0">
              <a:buNone/>
            </a:pPr>
            <a:r>
              <a:rPr lang="en-US" sz="1600" dirty="0">
                <a:solidFill>
                  <a:srgbClr val="56635D"/>
                </a:solidFill>
                <a:latin typeface="BIZ UDPゴシック" pitchFamily="34" charset="0"/>
                <a:ea typeface="BIZ UDPゴシック" pitchFamily="34" charset="-122"/>
                <a:cs typeface="BIZ UDPゴシック" pitchFamily="34" charset="-120"/>
              </a:rPr>
              <a:t>市による検討・判断</a:t>
            </a:r>
            <a:endParaRPr lang="en-US" sz="1600" dirty="0"/>
          </a:p>
        </p:txBody>
      </p:sp>
      <p:sp>
        <p:nvSpPr>
          <p:cNvPr id="30" name="Text 28"/>
          <p:cNvSpPr txBox="1"/>
          <p:nvPr/>
        </p:nvSpPr>
        <p:spPr>
          <a:xfrm>
            <a:off x="548640" y="4343400"/>
            <a:ext cx="3657600" cy="365760"/>
          </a:xfrm>
          <a:prstGeom prst="rect">
            <a:avLst/>
          </a:prstGeom>
          <a:noFill/>
          <a:ln/>
        </p:spPr>
        <p:txBody>
          <a:bodyPr wrap="square" lIns="0" tIns="0" rIns="0" bIns="0" rtlCol="0" anchor="t"/>
          <a:lstStyle/>
          <a:p>
            <a:pPr indent="0" marL="0">
              <a:buNone/>
            </a:pPr>
            <a:r>
              <a:rPr lang="en-US" sz="1800" b="1" dirty="0">
                <a:solidFill>
                  <a:srgbClr val="1D4636"/>
                </a:solidFill>
                <a:latin typeface="BIZ UDPゴシック" pitchFamily="34" charset="0"/>
                <a:ea typeface="BIZ UDPゴシック" pitchFamily="34" charset="-122"/>
                <a:cs typeface="BIZ UDPゴシック" pitchFamily="34" charset="-120"/>
              </a:rPr>
              <a:t>誰が決めるのか</a:t>
            </a:r>
            <a:endParaRPr lang="en-US" sz="1800" dirty="0"/>
          </a:p>
        </p:txBody>
      </p:sp>
      <p:sp>
        <p:nvSpPr>
          <p:cNvPr id="31" name="Shape 29"/>
          <p:cNvSpPr/>
          <p:nvPr/>
        </p:nvSpPr>
        <p:spPr>
          <a:xfrm>
            <a:off x="548640" y="4754880"/>
            <a:ext cx="3429000" cy="1051560"/>
          </a:xfrm>
          <a:prstGeom prst="roundRect">
            <a:avLst>
              <a:gd name="adj" fmla="val 10435"/>
            </a:avLst>
          </a:prstGeom>
          <a:solidFill>
            <a:srgbClr val="E8F2EC"/>
          </a:solidFill>
          <a:ln/>
        </p:spPr>
      </p:sp>
      <p:sp>
        <p:nvSpPr>
          <p:cNvPr id="32" name="Text 30"/>
          <p:cNvSpPr txBox="1"/>
          <p:nvPr/>
        </p:nvSpPr>
        <p:spPr>
          <a:xfrm>
            <a:off x="731520" y="4818888"/>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地域（検討委員会）</a:t>
            </a:r>
            <a:endParaRPr lang="en-US" sz="1700" dirty="0"/>
          </a:p>
        </p:txBody>
      </p:sp>
      <p:sp>
        <p:nvSpPr>
          <p:cNvPr id="33" name="Text 31"/>
          <p:cNvSpPr txBox="1"/>
          <p:nvPr/>
        </p:nvSpPr>
        <p:spPr>
          <a:xfrm>
            <a:off x="731520" y="5184648"/>
            <a:ext cx="3108960" cy="59436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意見をまとめ、市へ提言する</a:t>
            </a:r>
            <a:endParaRPr lang="en-US" sz="1500" dirty="0"/>
          </a:p>
        </p:txBody>
      </p:sp>
      <p:sp>
        <p:nvSpPr>
          <p:cNvPr id="34" name="Shape 32"/>
          <p:cNvSpPr/>
          <p:nvPr/>
        </p:nvSpPr>
        <p:spPr>
          <a:xfrm>
            <a:off x="4023360" y="5120640"/>
            <a:ext cx="228600" cy="320040"/>
          </a:xfrm>
          <a:prstGeom prst="rightArrow">
            <a:avLst/>
          </a:prstGeom>
          <a:solidFill>
            <a:srgbClr val="2E7D5B"/>
          </a:solidFill>
          <a:ln/>
        </p:spPr>
      </p:sp>
      <p:sp>
        <p:nvSpPr>
          <p:cNvPr id="35" name="Shape 33"/>
          <p:cNvSpPr/>
          <p:nvPr/>
        </p:nvSpPr>
        <p:spPr>
          <a:xfrm>
            <a:off x="4297680" y="4754880"/>
            <a:ext cx="3429000" cy="1051560"/>
          </a:xfrm>
          <a:prstGeom prst="roundRect">
            <a:avLst>
              <a:gd name="adj" fmla="val 10435"/>
            </a:avLst>
          </a:prstGeom>
          <a:solidFill>
            <a:srgbClr val="E8F2EC"/>
          </a:solidFill>
          <a:ln/>
        </p:spPr>
      </p:sp>
      <p:sp>
        <p:nvSpPr>
          <p:cNvPr id="36" name="Text 34"/>
          <p:cNvSpPr txBox="1"/>
          <p:nvPr/>
        </p:nvSpPr>
        <p:spPr>
          <a:xfrm>
            <a:off x="4480560" y="4818888"/>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長野市教育委員会</a:t>
            </a:r>
            <a:endParaRPr lang="en-US" sz="1700" dirty="0"/>
          </a:p>
        </p:txBody>
      </p:sp>
      <p:sp>
        <p:nvSpPr>
          <p:cNvPr id="37" name="Text 35"/>
          <p:cNvSpPr txBox="1"/>
          <p:nvPr/>
        </p:nvSpPr>
        <p:spPr>
          <a:xfrm>
            <a:off x="4480560" y="5184648"/>
            <a:ext cx="3108960" cy="59436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提言を受けて、方針を検討・決定する</a:t>
            </a:r>
            <a:endParaRPr lang="en-US" sz="1500" dirty="0"/>
          </a:p>
        </p:txBody>
      </p:sp>
      <p:sp>
        <p:nvSpPr>
          <p:cNvPr id="38" name="Shape 36"/>
          <p:cNvSpPr/>
          <p:nvPr/>
        </p:nvSpPr>
        <p:spPr>
          <a:xfrm>
            <a:off x="7772400" y="5120640"/>
            <a:ext cx="228600" cy="320040"/>
          </a:xfrm>
          <a:prstGeom prst="rightArrow">
            <a:avLst/>
          </a:prstGeom>
          <a:solidFill>
            <a:srgbClr val="2E7D5B"/>
          </a:solidFill>
          <a:ln/>
        </p:spPr>
      </p:sp>
      <p:sp>
        <p:nvSpPr>
          <p:cNvPr id="39" name="Shape 37"/>
          <p:cNvSpPr/>
          <p:nvPr/>
        </p:nvSpPr>
        <p:spPr>
          <a:xfrm>
            <a:off x="8046720" y="4754880"/>
            <a:ext cx="3429000" cy="1051560"/>
          </a:xfrm>
          <a:prstGeom prst="roundRect">
            <a:avLst>
              <a:gd name="adj" fmla="val 10435"/>
            </a:avLst>
          </a:prstGeom>
          <a:solidFill>
            <a:srgbClr val="E8F2EC"/>
          </a:solidFill>
          <a:ln/>
        </p:spPr>
      </p:sp>
      <p:sp>
        <p:nvSpPr>
          <p:cNvPr id="40" name="Text 38"/>
          <p:cNvSpPr txBox="1"/>
          <p:nvPr/>
        </p:nvSpPr>
        <p:spPr>
          <a:xfrm>
            <a:off x="8229600" y="4818888"/>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長野市議会</a:t>
            </a:r>
            <a:endParaRPr lang="en-US" sz="1700" dirty="0"/>
          </a:p>
        </p:txBody>
      </p:sp>
      <p:sp>
        <p:nvSpPr>
          <p:cNvPr id="41" name="Text 39"/>
          <p:cNvSpPr txBox="1"/>
          <p:nvPr/>
        </p:nvSpPr>
        <p:spPr>
          <a:xfrm>
            <a:off x="8229600" y="5184648"/>
            <a:ext cx="3108960" cy="59436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学校の設置・廃止は条例で定めるため、議会で審議・議決する</a:t>
            </a:r>
            <a:endParaRPr lang="en-US" sz="1500" dirty="0"/>
          </a:p>
        </p:txBody>
      </p:sp>
      <p:sp>
        <p:nvSpPr>
          <p:cNvPr id="42" name="Text 40"/>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スケジュールは提案であり、正式決定ではありません。実施の時期は提言の後に市が決めます。在校生への配慮の方針・手続きの詳細は［事務局に確認中］。</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04  意見を寄せる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ご意見の出し方と、寄せられた意見の扱い方</a:t>
            </a:r>
            <a:endParaRPr lang="en-US" sz="3000" dirty="0"/>
          </a:p>
        </p:txBody>
      </p:sp>
      <p:sp>
        <p:nvSpPr>
          <p:cNvPr id="4" name="Shape 2"/>
          <p:cNvSpPr/>
          <p:nvPr/>
        </p:nvSpPr>
        <p:spPr>
          <a:xfrm>
            <a:off x="548640" y="1325880"/>
            <a:ext cx="3566160" cy="4572000"/>
          </a:xfrm>
          <a:prstGeom prst="roundRect">
            <a:avLst>
              <a:gd name="adj" fmla="val 3077"/>
            </a:avLst>
          </a:prstGeom>
          <a:solidFill>
            <a:srgbClr val="F4F7F5"/>
          </a:solidFill>
          <a:ln/>
        </p:spPr>
      </p:sp>
      <p:sp>
        <p:nvSpPr>
          <p:cNvPr id="5" name="Shape 3"/>
          <p:cNvSpPr/>
          <p:nvPr/>
        </p:nvSpPr>
        <p:spPr>
          <a:xfrm>
            <a:off x="822960" y="1508760"/>
            <a:ext cx="640080" cy="64008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963778" y="1649578"/>
            <a:ext cx="358445" cy="358445"/>
          </a:xfrm>
          <a:prstGeom prst="rect">
            <a:avLst/>
          </a:prstGeom>
        </p:spPr>
      </p:pic>
      <p:sp>
        <p:nvSpPr>
          <p:cNvPr id="7" name="Text 4"/>
          <p:cNvSpPr txBox="1"/>
          <p:nvPr/>
        </p:nvSpPr>
        <p:spPr>
          <a:xfrm>
            <a:off x="1600200" y="1508760"/>
            <a:ext cx="2423160" cy="64008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出し方</a:t>
            </a:r>
            <a:endParaRPr lang="en-US" sz="2000" dirty="0"/>
          </a:p>
        </p:txBody>
      </p:sp>
      <p:sp>
        <p:nvSpPr>
          <p:cNvPr id="8" name="Text 5"/>
          <p:cNvSpPr txBox="1"/>
          <p:nvPr/>
        </p:nvSpPr>
        <p:spPr>
          <a:xfrm>
            <a:off x="822960" y="233172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アンケート用紙</a:t>
            </a:r>
            <a:endParaRPr lang="en-US" sz="1700" dirty="0"/>
          </a:p>
        </p:txBody>
      </p:sp>
      <p:sp>
        <p:nvSpPr>
          <p:cNvPr id="9" name="Text 6"/>
          <p:cNvSpPr txBox="1"/>
          <p:nvPr/>
        </p:nvSpPr>
        <p:spPr>
          <a:xfrm>
            <a:off x="822960" y="271576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本日配布。会場の回収箱、または［提出先］へ</a:t>
            </a:r>
            <a:endParaRPr lang="en-US" sz="1500" dirty="0"/>
          </a:p>
        </p:txBody>
      </p:sp>
      <p:sp>
        <p:nvSpPr>
          <p:cNvPr id="10" name="Text 7"/>
          <p:cNvSpPr txBox="1"/>
          <p:nvPr/>
        </p:nvSpPr>
        <p:spPr>
          <a:xfrm>
            <a:off x="822960" y="3520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インターネット</a:t>
            </a:r>
            <a:endParaRPr lang="en-US" sz="1700" dirty="0"/>
          </a:p>
        </p:txBody>
      </p:sp>
      <p:sp>
        <p:nvSpPr>
          <p:cNvPr id="11" name="Text 8"/>
          <p:cNvSpPr txBox="1"/>
          <p:nvPr/>
        </p:nvSpPr>
        <p:spPr>
          <a:xfrm>
            <a:off x="822960" y="390448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［URL・QRコード］から回答できます</a:t>
            </a:r>
            <a:endParaRPr lang="en-US" sz="1500" dirty="0"/>
          </a:p>
        </p:txBody>
      </p:sp>
      <p:sp>
        <p:nvSpPr>
          <p:cNvPr id="12" name="Text 9"/>
          <p:cNvSpPr txBox="1"/>
          <p:nvPr/>
        </p:nvSpPr>
        <p:spPr>
          <a:xfrm>
            <a:off x="822960" y="470916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地区での懇談会</a:t>
            </a:r>
            <a:endParaRPr lang="en-US" sz="1700" dirty="0"/>
          </a:p>
        </p:txBody>
      </p:sp>
      <p:sp>
        <p:nvSpPr>
          <p:cNvPr id="13" name="Text 10"/>
          <p:cNvSpPr txBox="1"/>
          <p:nvPr/>
        </p:nvSpPr>
        <p:spPr>
          <a:xfrm>
            <a:off x="822960" y="509320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［日程・会場］</a:t>
            </a:r>
            <a:endParaRPr lang="en-US" sz="1500" dirty="0"/>
          </a:p>
        </p:txBody>
      </p:sp>
      <p:sp>
        <p:nvSpPr>
          <p:cNvPr id="14" name="Shape 11"/>
          <p:cNvSpPr/>
          <p:nvPr/>
        </p:nvSpPr>
        <p:spPr>
          <a:xfrm>
            <a:off x="4297680" y="1325880"/>
            <a:ext cx="3566160" cy="4572000"/>
          </a:xfrm>
          <a:prstGeom prst="roundRect">
            <a:avLst>
              <a:gd name="adj" fmla="val 3077"/>
            </a:avLst>
          </a:prstGeom>
          <a:solidFill>
            <a:srgbClr val="F4F7F5"/>
          </a:solidFill>
          <a:ln/>
        </p:spPr>
      </p:sp>
      <p:sp>
        <p:nvSpPr>
          <p:cNvPr id="15" name="Shape 12"/>
          <p:cNvSpPr/>
          <p:nvPr/>
        </p:nvSpPr>
        <p:spPr>
          <a:xfrm>
            <a:off x="4572000" y="1508760"/>
            <a:ext cx="640080" cy="640080"/>
          </a:xfrm>
          <a:prstGeom prst="ellipse">
            <a:avLst/>
          </a:prstGeom>
          <a:solidFill>
            <a:srgbClr val="2E7D5B"/>
          </a:solidFill>
          <a:ln/>
        </p:spPr>
      </p:sp>
      <p:pic>
        <p:nvPicPr>
          <p:cNvPr id="16" name="Image 1" descr="preencoded.png">    </p:cNvPr>
          <p:cNvPicPr>
            <a:picLocks noChangeAspect="1"/>
          </p:cNvPicPr>
          <p:nvPr/>
        </p:nvPicPr>
        <p:blipFill>
          <a:blip r:embed="rId2"/>
          <a:stretch>
            <a:fillRect/>
          </a:stretch>
        </p:blipFill>
        <p:spPr>
          <a:xfrm>
            <a:off x="4712818" y="1649578"/>
            <a:ext cx="358445" cy="358445"/>
          </a:xfrm>
          <a:prstGeom prst="rect">
            <a:avLst/>
          </a:prstGeom>
        </p:spPr>
      </p:pic>
      <p:sp>
        <p:nvSpPr>
          <p:cNvPr id="17" name="Text 13"/>
          <p:cNvSpPr txBox="1"/>
          <p:nvPr/>
        </p:nvSpPr>
        <p:spPr>
          <a:xfrm>
            <a:off x="5349240" y="1508760"/>
            <a:ext cx="2423160" cy="64008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締切・問い合わせ先</a:t>
            </a:r>
            <a:endParaRPr lang="en-US" sz="2000" dirty="0"/>
          </a:p>
        </p:txBody>
      </p:sp>
      <p:sp>
        <p:nvSpPr>
          <p:cNvPr id="18" name="Text 14"/>
          <p:cNvSpPr txBox="1"/>
          <p:nvPr/>
        </p:nvSpPr>
        <p:spPr>
          <a:xfrm>
            <a:off x="4572000" y="233172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締切</a:t>
            </a:r>
            <a:endParaRPr lang="en-US" sz="1700" dirty="0"/>
          </a:p>
        </p:txBody>
      </p:sp>
      <p:sp>
        <p:nvSpPr>
          <p:cNvPr id="19" name="Text 15"/>
          <p:cNvSpPr txBox="1"/>
          <p:nvPr/>
        </p:nvSpPr>
        <p:spPr>
          <a:xfrm>
            <a:off x="4572000" y="271576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令和8年（2026年）［　］月［　］日</a:t>
            </a:r>
            <a:endParaRPr lang="en-US" sz="1500" dirty="0"/>
          </a:p>
        </p:txBody>
      </p:sp>
      <p:sp>
        <p:nvSpPr>
          <p:cNvPr id="20" name="Text 16"/>
          <p:cNvSpPr txBox="1"/>
          <p:nvPr/>
        </p:nvSpPr>
        <p:spPr>
          <a:xfrm>
            <a:off x="4572000" y="3520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提出先</a:t>
            </a:r>
            <a:endParaRPr lang="en-US" sz="1700" dirty="0"/>
          </a:p>
        </p:txBody>
      </p:sp>
      <p:sp>
        <p:nvSpPr>
          <p:cNvPr id="21" name="Text 17"/>
          <p:cNvSpPr txBox="1"/>
          <p:nvPr/>
        </p:nvSpPr>
        <p:spPr>
          <a:xfrm>
            <a:off x="4572000" y="390448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　　　　　　　］</a:t>
            </a:r>
            <a:endParaRPr lang="en-US" sz="1500" dirty="0"/>
          </a:p>
        </p:txBody>
      </p:sp>
      <p:sp>
        <p:nvSpPr>
          <p:cNvPr id="22" name="Text 18"/>
          <p:cNvSpPr txBox="1"/>
          <p:nvPr/>
        </p:nvSpPr>
        <p:spPr>
          <a:xfrm>
            <a:off x="4572000" y="470916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問い合わせ</a:t>
            </a:r>
            <a:endParaRPr lang="en-US" sz="1700" dirty="0"/>
          </a:p>
        </p:txBody>
      </p:sp>
      <p:sp>
        <p:nvSpPr>
          <p:cNvPr id="23" name="Text 19"/>
          <p:cNvSpPr txBox="1"/>
          <p:nvPr/>
        </p:nvSpPr>
        <p:spPr>
          <a:xfrm>
            <a:off x="4572000" y="509320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長野市教育委員会事務局 学校教育課</a:t>
            </a:r>
            <a:endParaRPr lang="en-US" sz="1500" dirty="0"/>
          </a:p>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電話［　　　　　　］</a:t>
            </a:r>
            <a:endParaRPr lang="en-US" sz="1500" dirty="0"/>
          </a:p>
        </p:txBody>
      </p:sp>
      <p:sp>
        <p:nvSpPr>
          <p:cNvPr id="24" name="Shape 20"/>
          <p:cNvSpPr/>
          <p:nvPr/>
        </p:nvSpPr>
        <p:spPr>
          <a:xfrm>
            <a:off x="8046720" y="1325880"/>
            <a:ext cx="3566160" cy="4572000"/>
          </a:xfrm>
          <a:prstGeom prst="roundRect">
            <a:avLst>
              <a:gd name="adj" fmla="val 3077"/>
            </a:avLst>
          </a:prstGeom>
          <a:solidFill>
            <a:srgbClr val="F4F7F5"/>
          </a:solidFill>
          <a:ln/>
        </p:spPr>
      </p:sp>
      <p:sp>
        <p:nvSpPr>
          <p:cNvPr id="25" name="Shape 21"/>
          <p:cNvSpPr/>
          <p:nvPr/>
        </p:nvSpPr>
        <p:spPr>
          <a:xfrm>
            <a:off x="8321040" y="1508760"/>
            <a:ext cx="640080" cy="640080"/>
          </a:xfrm>
          <a:prstGeom prst="ellipse">
            <a:avLst/>
          </a:prstGeom>
          <a:solidFill>
            <a:srgbClr val="2E7D5B"/>
          </a:solidFill>
          <a:ln/>
        </p:spPr>
      </p:sp>
      <p:pic>
        <p:nvPicPr>
          <p:cNvPr id="26" name="Image 2" descr="preencoded.png">    </p:cNvPr>
          <p:cNvPicPr>
            <a:picLocks noChangeAspect="1"/>
          </p:cNvPicPr>
          <p:nvPr/>
        </p:nvPicPr>
        <p:blipFill>
          <a:blip r:embed="rId3"/>
          <a:stretch>
            <a:fillRect/>
          </a:stretch>
        </p:blipFill>
        <p:spPr>
          <a:xfrm>
            <a:off x="8461858" y="1649578"/>
            <a:ext cx="358445" cy="358445"/>
          </a:xfrm>
          <a:prstGeom prst="rect">
            <a:avLst/>
          </a:prstGeom>
        </p:spPr>
      </p:pic>
      <p:sp>
        <p:nvSpPr>
          <p:cNvPr id="27" name="Text 22"/>
          <p:cNvSpPr txBox="1"/>
          <p:nvPr/>
        </p:nvSpPr>
        <p:spPr>
          <a:xfrm>
            <a:off x="9098280" y="1508760"/>
            <a:ext cx="2423160" cy="640080"/>
          </a:xfrm>
          <a:prstGeom prst="rect">
            <a:avLst/>
          </a:prstGeom>
          <a:noFill/>
          <a:ln/>
        </p:spPr>
        <p:txBody>
          <a:bodyPr wrap="square" lIns="0" tIns="0" rIns="0" bIns="0" rtlCol="0" anchor="ctr"/>
          <a:lstStyle/>
          <a:p>
            <a:pPr indent="0" marL="0">
              <a:buNone/>
            </a:pPr>
            <a:r>
              <a:rPr lang="en-US" sz="2000" b="1" dirty="0">
                <a:solidFill>
                  <a:srgbClr val="1D4636"/>
                </a:solidFill>
                <a:latin typeface="BIZ UDPゴシック" pitchFamily="34" charset="0"/>
                <a:ea typeface="BIZ UDPゴシック" pitchFamily="34" charset="-122"/>
                <a:cs typeface="BIZ UDPゴシック" pitchFamily="34" charset="-120"/>
              </a:rPr>
              <a:t>意見の扱い方（案）</a:t>
            </a:r>
            <a:endParaRPr lang="en-US" sz="2000" dirty="0"/>
          </a:p>
        </p:txBody>
      </p:sp>
      <p:sp>
        <p:nvSpPr>
          <p:cNvPr id="28" name="Text 23"/>
          <p:cNvSpPr txBox="1"/>
          <p:nvPr/>
        </p:nvSpPr>
        <p:spPr>
          <a:xfrm>
            <a:off x="8321040" y="233172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すべて読みます</a:t>
            </a:r>
            <a:endParaRPr lang="en-US" sz="1700" dirty="0"/>
          </a:p>
        </p:txBody>
      </p:sp>
      <p:sp>
        <p:nvSpPr>
          <p:cNvPr id="29" name="Text 24"/>
          <p:cNvSpPr txBox="1"/>
          <p:nvPr/>
        </p:nvSpPr>
        <p:spPr>
          <a:xfrm>
            <a:off x="8321040" y="271576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検討委員会の委員が、寄せられた意見をすべて読みます</a:t>
            </a:r>
            <a:endParaRPr lang="en-US" sz="1500" dirty="0"/>
          </a:p>
        </p:txBody>
      </p:sp>
      <p:sp>
        <p:nvSpPr>
          <p:cNvPr id="30" name="Text 25"/>
          <p:cNvSpPr txBox="1"/>
          <p:nvPr/>
        </p:nvSpPr>
        <p:spPr>
          <a:xfrm>
            <a:off x="8321040" y="352044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地区ごとに公表します</a:t>
            </a:r>
            <a:endParaRPr lang="en-US" sz="1700" dirty="0"/>
          </a:p>
        </p:txBody>
      </p:sp>
      <p:sp>
        <p:nvSpPr>
          <p:cNvPr id="31" name="Text 26"/>
          <p:cNvSpPr txBox="1"/>
          <p:nvPr/>
        </p:nvSpPr>
        <p:spPr>
          <a:xfrm>
            <a:off x="8321040" y="390448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地区ごとに集計し、委員会の考え方とあわせて［時期・方法］に公表します</a:t>
            </a:r>
            <a:endParaRPr lang="en-US" sz="1500" dirty="0"/>
          </a:p>
        </p:txBody>
      </p:sp>
      <p:sp>
        <p:nvSpPr>
          <p:cNvPr id="32" name="Text 27"/>
          <p:cNvSpPr txBox="1"/>
          <p:nvPr/>
        </p:nvSpPr>
        <p:spPr>
          <a:xfrm>
            <a:off x="8321040" y="4709160"/>
            <a:ext cx="3108960" cy="365760"/>
          </a:xfrm>
          <a:prstGeom prst="rect">
            <a:avLst/>
          </a:prstGeom>
          <a:noFill/>
          <a:ln/>
        </p:spPr>
        <p:txBody>
          <a:bodyPr wrap="square" lIns="0" tIns="0" rIns="0" bIns="0" rtlCol="0" anchor="t"/>
          <a:lstStyle/>
          <a:p>
            <a:pPr indent="0" marL="0">
              <a:buNone/>
            </a:pPr>
            <a:r>
              <a:rPr lang="en-US" sz="1700" b="1" dirty="0">
                <a:solidFill>
                  <a:srgbClr val="2E7D5B"/>
                </a:solidFill>
                <a:latin typeface="BIZ UDPゴシック" pitchFamily="34" charset="0"/>
                <a:ea typeface="BIZ UDPゴシック" pitchFamily="34" charset="-122"/>
                <a:cs typeface="BIZ UDPゴシック" pitchFamily="34" charset="-120"/>
              </a:rPr>
              <a:t>個人は特定しません</a:t>
            </a:r>
            <a:endParaRPr lang="en-US" sz="1700" dirty="0"/>
          </a:p>
        </p:txBody>
      </p:sp>
      <p:sp>
        <p:nvSpPr>
          <p:cNvPr id="33" name="Text 28"/>
          <p:cNvSpPr txBox="1"/>
          <p:nvPr/>
        </p:nvSpPr>
        <p:spPr>
          <a:xfrm>
            <a:off x="8321040" y="5093208"/>
            <a:ext cx="3108960" cy="777240"/>
          </a:xfrm>
          <a:prstGeom prst="rect">
            <a:avLst/>
          </a:prstGeom>
          <a:noFill/>
          <a:ln/>
        </p:spPr>
        <p:txBody>
          <a:bodyPr wrap="square" lIns="0" tIns="0" rIns="0" bIns="0" rtlCol="0" anchor="t"/>
          <a:lstStyle/>
          <a:p>
            <a:pPr indent="0" marL="0">
              <a:buNone/>
            </a:pPr>
            <a:r>
              <a:rPr lang="en-US" sz="1500" dirty="0">
                <a:solidFill>
                  <a:srgbClr val="1E2A26"/>
                </a:solidFill>
                <a:latin typeface="BIZ UDPゴシック" pitchFamily="34" charset="0"/>
                <a:ea typeface="BIZ UDPゴシック" pitchFamily="34" charset="-122"/>
                <a:cs typeface="BIZ UDPゴシック" pitchFamily="34" charset="-120"/>
              </a:rPr>
              <a:t>お名前などの個人情報は公表しません</a:t>
            </a:r>
            <a:endParaRPr lang="en-US" sz="1500" dirty="0"/>
          </a:p>
        </p:txBody>
      </p:sp>
      <p:sp>
        <p:nvSpPr>
          <p:cNvPr id="34" name="Text 29"/>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rgbClr val="56635D"/>
                </a:solidFill>
                <a:latin typeface="BIZ UDPゴシック" pitchFamily="34" charset="0"/>
                <a:ea typeface="BIZ UDPゴシック" pitchFamily="34" charset="-122"/>
                <a:cs typeface="BIZ UDPゴシック" pitchFamily="34" charset="-120"/>
              </a:rPr>
              <a:t>本日の資料は［ホームページ・回覧］でもご覧いただけます。［ ］は事務局で確定後に記入します。意見の扱い方は案であり、委員会で決定します。</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t"/>
          <a:lstStyle/>
          <a:p>
            <a:pPr indent="0" marL="0">
              <a:buNone/>
            </a:pPr>
            <a:r>
              <a:rPr lang="en-US" sz="1400" b="1" dirty="0">
                <a:solidFill>
                  <a:srgbClr val="D9573E"/>
                </a:solidFill>
                <a:latin typeface="BIZ UDPゴシック" pitchFamily="34" charset="0"/>
                <a:ea typeface="BIZ UDPゴシック" pitchFamily="34" charset="-122"/>
                <a:cs typeface="BIZ UDPゴシック" pitchFamily="34" charset="-120"/>
              </a:rPr>
              <a:t>04  意見を寄せる</a:t>
            </a:r>
            <a:endParaRPr lang="en-US" sz="1400" dirty="0"/>
          </a:p>
        </p:txBody>
      </p:sp>
      <p:sp>
        <p:nvSpPr>
          <p:cNvPr id="3" name="Text 1"/>
          <p:cNvSpPr/>
          <p:nvPr>
            <p:ph idx="101" type="title" hasCustomPrompt="1"/>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D4636"/>
                </a:solidFill>
              </a:rPr>
              <a:t>今日のまとめ</a:t>
            </a:r>
            <a:endParaRPr lang="en-US" sz="3000" dirty="0"/>
          </a:p>
        </p:txBody>
      </p:sp>
      <p:sp>
        <p:nvSpPr>
          <p:cNvPr id="4" name="Shape 2"/>
          <p:cNvSpPr/>
          <p:nvPr/>
        </p:nvSpPr>
        <p:spPr>
          <a:xfrm>
            <a:off x="548640" y="1280160"/>
            <a:ext cx="11064240" cy="1024128"/>
          </a:xfrm>
          <a:prstGeom prst="roundRect">
            <a:avLst>
              <a:gd name="adj" fmla="val 10714"/>
            </a:avLst>
          </a:prstGeom>
          <a:solidFill>
            <a:srgbClr val="F4F7F5"/>
          </a:solidFill>
          <a:ln/>
        </p:spPr>
      </p:sp>
      <p:sp>
        <p:nvSpPr>
          <p:cNvPr id="5" name="Shape 3"/>
          <p:cNvSpPr/>
          <p:nvPr/>
        </p:nvSpPr>
        <p:spPr>
          <a:xfrm>
            <a:off x="777240" y="1444752"/>
            <a:ext cx="694944" cy="694944"/>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930128" y="1597640"/>
            <a:ext cx="389169" cy="389169"/>
          </a:xfrm>
          <a:prstGeom prst="rect">
            <a:avLst/>
          </a:prstGeom>
        </p:spPr>
      </p:pic>
      <p:sp>
        <p:nvSpPr>
          <p:cNvPr id="7" name="Text 4"/>
          <p:cNvSpPr txBox="1"/>
          <p:nvPr/>
        </p:nvSpPr>
        <p:spPr>
          <a:xfrm>
            <a:off x="1737360" y="1371600"/>
            <a:ext cx="9601200" cy="438912"/>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児童生徒は減る見通し</a:t>
            </a:r>
            <a:endParaRPr lang="en-US" sz="2100" dirty="0"/>
          </a:p>
        </p:txBody>
      </p:sp>
      <p:sp>
        <p:nvSpPr>
          <p:cNvPr id="8" name="Text 5"/>
          <p:cNvSpPr txBox="1"/>
          <p:nvPr/>
        </p:nvSpPr>
        <p:spPr>
          <a:xfrm>
            <a:off x="1737360" y="1810512"/>
            <a:ext cx="960120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3小学校の合計は484人→330人（R14＝2032年度）。若穂中も減少が続きます。</a:t>
            </a:r>
            <a:endParaRPr lang="en-US" sz="1700" dirty="0"/>
          </a:p>
        </p:txBody>
      </p:sp>
      <p:sp>
        <p:nvSpPr>
          <p:cNvPr id="9" name="Shape 6"/>
          <p:cNvSpPr/>
          <p:nvPr/>
        </p:nvSpPr>
        <p:spPr>
          <a:xfrm>
            <a:off x="548640" y="2450592"/>
            <a:ext cx="11064240" cy="1024128"/>
          </a:xfrm>
          <a:prstGeom prst="roundRect">
            <a:avLst>
              <a:gd name="adj" fmla="val 10714"/>
            </a:avLst>
          </a:prstGeom>
          <a:solidFill>
            <a:srgbClr val="FFFFFF"/>
          </a:solidFill>
          <a:ln w="12700">
            <a:solidFill>
              <a:srgbClr val="D7DFDA"/>
            </a:solidFill>
            <a:prstDash val="solid"/>
          </a:ln>
        </p:spPr>
      </p:sp>
      <p:sp>
        <p:nvSpPr>
          <p:cNvPr id="10" name="Shape 7"/>
          <p:cNvSpPr/>
          <p:nvPr/>
        </p:nvSpPr>
        <p:spPr>
          <a:xfrm>
            <a:off x="777240" y="2615184"/>
            <a:ext cx="694944" cy="694944"/>
          </a:xfrm>
          <a:prstGeom prst="ellipse">
            <a:avLst/>
          </a:prstGeom>
          <a:solidFill>
            <a:srgbClr val="2E7D5B"/>
          </a:solidFill>
          <a:ln/>
        </p:spPr>
      </p:sp>
      <p:pic>
        <p:nvPicPr>
          <p:cNvPr id="11" name="Image 1" descr="preencoded.png">    </p:cNvPr>
          <p:cNvPicPr>
            <a:picLocks noChangeAspect="1"/>
          </p:cNvPicPr>
          <p:nvPr/>
        </p:nvPicPr>
        <p:blipFill>
          <a:blip r:embed="rId2"/>
          <a:stretch>
            <a:fillRect/>
          </a:stretch>
        </p:blipFill>
        <p:spPr>
          <a:xfrm>
            <a:off x="930128" y="2768072"/>
            <a:ext cx="389169" cy="389169"/>
          </a:xfrm>
          <a:prstGeom prst="rect">
            <a:avLst/>
          </a:prstGeom>
        </p:spPr>
      </p:pic>
      <p:sp>
        <p:nvSpPr>
          <p:cNvPr id="12" name="Text 8"/>
          <p:cNvSpPr txBox="1"/>
          <p:nvPr/>
        </p:nvSpPr>
        <p:spPr>
          <a:xfrm>
            <a:off x="1737360" y="2542032"/>
            <a:ext cx="9601200" cy="438912"/>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何も決まっていません</a:t>
            </a:r>
            <a:endParaRPr lang="en-US" sz="2100" dirty="0"/>
          </a:p>
        </p:txBody>
      </p:sp>
      <p:sp>
        <p:nvSpPr>
          <p:cNvPr id="13" name="Text 9"/>
          <p:cNvSpPr txBox="1"/>
          <p:nvPr/>
        </p:nvSpPr>
        <p:spPr>
          <a:xfrm>
            <a:off x="1737360" y="2980944"/>
            <a:ext cx="960120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選択肢A〜Dを、同じ物差しで比べている途中です。</a:t>
            </a:r>
            <a:endParaRPr lang="en-US" sz="1700" dirty="0"/>
          </a:p>
        </p:txBody>
      </p:sp>
      <p:sp>
        <p:nvSpPr>
          <p:cNvPr id="14" name="Shape 10"/>
          <p:cNvSpPr/>
          <p:nvPr/>
        </p:nvSpPr>
        <p:spPr>
          <a:xfrm>
            <a:off x="548640" y="3621024"/>
            <a:ext cx="11064240" cy="1024128"/>
          </a:xfrm>
          <a:prstGeom prst="roundRect">
            <a:avLst>
              <a:gd name="adj" fmla="val 10714"/>
            </a:avLst>
          </a:prstGeom>
          <a:solidFill>
            <a:srgbClr val="F4F7F5"/>
          </a:solidFill>
          <a:ln/>
        </p:spPr>
      </p:sp>
      <p:sp>
        <p:nvSpPr>
          <p:cNvPr id="15" name="Shape 11"/>
          <p:cNvSpPr/>
          <p:nvPr/>
        </p:nvSpPr>
        <p:spPr>
          <a:xfrm>
            <a:off x="777240" y="3785616"/>
            <a:ext cx="694944" cy="694944"/>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930128" y="3938504"/>
            <a:ext cx="389169" cy="389169"/>
          </a:xfrm>
          <a:prstGeom prst="rect">
            <a:avLst/>
          </a:prstGeom>
        </p:spPr>
      </p:pic>
      <p:sp>
        <p:nvSpPr>
          <p:cNvPr id="17" name="Text 12"/>
          <p:cNvSpPr txBox="1"/>
          <p:nvPr/>
        </p:nvSpPr>
        <p:spPr>
          <a:xfrm>
            <a:off x="1737360" y="3712464"/>
            <a:ext cx="9601200" cy="438912"/>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決める前に、皆さんの声を聞きます</a:t>
            </a:r>
            <a:endParaRPr lang="en-US" sz="2100" dirty="0"/>
          </a:p>
        </p:txBody>
      </p:sp>
      <p:sp>
        <p:nvSpPr>
          <p:cNvPr id="18" name="Text 13"/>
          <p:cNvSpPr txBox="1"/>
          <p:nvPr/>
        </p:nvSpPr>
        <p:spPr>
          <a:xfrm>
            <a:off x="1737360" y="4151376"/>
            <a:ext cx="960120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保護者・子ども・地域の意見を聞き、地区ごとにまとめて公表します。</a:t>
            </a:r>
            <a:endParaRPr lang="en-US" sz="1700" dirty="0"/>
          </a:p>
        </p:txBody>
      </p:sp>
      <p:sp>
        <p:nvSpPr>
          <p:cNvPr id="19" name="Shape 14"/>
          <p:cNvSpPr/>
          <p:nvPr/>
        </p:nvSpPr>
        <p:spPr>
          <a:xfrm>
            <a:off x="548640" y="4791456"/>
            <a:ext cx="11064240" cy="1024128"/>
          </a:xfrm>
          <a:prstGeom prst="roundRect">
            <a:avLst>
              <a:gd name="adj" fmla="val 10714"/>
            </a:avLst>
          </a:prstGeom>
          <a:solidFill>
            <a:srgbClr val="FFFFFF"/>
          </a:solidFill>
          <a:ln w="12700">
            <a:solidFill>
              <a:srgbClr val="D7DFDA"/>
            </a:solidFill>
            <a:prstDash val="solid"/>
          </a:ln>
        </p:spPr>
      </p:sp>
      <p:sp>
        <p:nvSpPr>
          <p:cNvPr id="20" name="Shape 15"/>
          <p:cNvSpPr/>
          <p:nvPr/>
        </p:nvSpPr>
        <p:spPr>
          <a:xfrm>
            <a:off x="777240" y="4956048"/>
            <a:ext cx="694944" cy="694944"/>
          </a:xfrm>
          <a:prstGeom prst="ellipse">
            <a:avLst/>
          </a:prstGeom>
          <a:solidFill>
            <a:srgbClr val="2E7D5B"/>
          </a:solidFill>
          <a:ln/>
        </p:spPr>
      </p:sp>
      <p:pic>
        <p:nvPicPr>
          <p:cNvPr id="21" name="Image 3" descr="preencoded.png">    </p:cNvPr>
          <p:cNvPicPr>
            <a:picLocks noChangeAspect="1"/>
          </p:cNvPicPr>
          <p:nvPr/>
        </p:nvPicPr>
        <p:blipFill>
          <a:blip r:embed="rId4"/>
          <a:stretch>
            <a:fillRect/>
          </a:stretch>
        </p:blipFill>
        <p:spPr>
          <a:xfrm>
            <a:off x="930128" y="5108936"/>
            <a:ext cx="389169" cy="389169"/>
          </a:xfrm>
          <a:prstGeom prst="rect">
            <a:avLst/>
          </a:prstGeom>
        </p:spPr>
      </p:pic>
      <p:sp>
        <p:nvSpPr>
          <p:cNvPr id="22" name="Text 16"/>
          <p:cNvSpPr txBox="1"/>
          <p:nvPr/>
        </p:nvSpPr>
        <p:spPr>
          <a:xfrm>
            <a:off x="1737360" y="4882896"/>
            <a:ext cx="9601200" cy="438912"/>
          </a:xfrm>
          <a:prstGeom prst="rect">
            <a:avLst/>
          </a:prstGeom>
          <a:noFill/>
          <a:ln/>
        </p:spPr>
        <p:txBody>
          <a:bodyPr wrap="square" lIns="0" tIns="0" rIns="0" bIns="0" rtlCol="0" anchor="ctr"/>
          <a:lstStyle/>
          <a:p>
            <a:pPr indent="0" marL="0">
              <a:buNone/>
            </a:pPr>
            <a:r>
              <a:rPr lang="en-US" sz="2100" b="1" dirty="0">
                <a:solidFill>
                  <a:srgbClr val="1D4636"/>
                </a:solidFill>
                <a:latin typeface="BIZ UDPゴシック" pitchFamily="34" charset="0"/>
                <a:ea typeface="BIZ UDPゴシック" pitchFamily="34" charset="-122"/>
                <a:cs typeface="BIZ UDPゴシック" pitchFamily="34" charset="-120"/>
              </a:rPr>
              <a:t>ご意見をお寄せください</a:t>
            </a:r>
            <a:endParaRPr lang="en-US" sz="2100" dirty="0"/>
          </a:p>
        </p:txBody>
      </p:sp>
      <p:sp>
        <p:nvSpPr>
          <p:cNvPr id="23" name="Text 17"/>
          <p:cNvSpPr txBox="1"/>
          <p:nvPr/>
        </p:nvSpPr>
        <p:spPr>
          <a:xfrm>
            <a:off x="1737360" y="5321808"/>
            <a:ext cx="9601200" cy="411480"/>
          </a:xfrm>
          <a:prstGeom prst="rect">
            <a:avLst/>
          </a:prstGeom>
          <a:noFill/>
          <a:ln/>
        </p:spPr>
        <p:txBody>
          <a:bodyPr wrap="square" lIns="0" tIns="0" rIns="0" bIns="0" rtlCol="0" anchor="ctr"/>
          <a:lstStyle/>
          <a:p>
            <a:pPr indent="0" marL="0">
              <a:buNone/>
            </a:pPr>
            <a:r>
              <a:rPr lang="en-US" sz="1700" dirty="0">
                <a:solidFill>
                  <a:srgbClr val="1E2A26"/>
                </a:solidFill>
                <a:latin typeface="BIZ UDPゴシック" pitchFamily="34" charset="0"/>
                <a:ea typeface="BIZ UDPゴシック" pitchFamily="34" charset="-122"/>
                <a:cs typeface="BIZ UDPゴシック" pitchFamily="34" charset="-120"/>
              </a:rPr>
              <a:t>締切：令和8年（2026年）［　］月［　］日　提出先：［　　　　］</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rPr>
              <a:t>皆さんと一緒に考えたいこと</a:t>
            </a:r>
            <a:endParaRPr lang="en-US" sz="3200" dirty="0"/>
          </a:p>
        </p:txBody>
      </p:sp>
      <p:sp>
        <p:nvSpPr>
          <p:cNvPr id="3" name="Shape 1"/>
          <p:cNvSpPr/>
          <p:nvPr/>
        </p:nvSpPr>
        <p:spPr>
          <a:xfrm>
            <a:off x="548640" y="1508760"/>
            <a:ext cx="5440680" cy="1417320"/>
          </a:xfrm>
          <a:prstGeom prst="roundRect">
            <a:avLst>
              <a:gd name="adj" fmla="val 7742"/>
            </a:avLst>
          </a:prstGeom>
          <a:solidFill>
            <a:srgbClr val="2A5A47"/>
          </a:solidFill>
          <a:ln/>
        </p:spPr>
      </p:sp>
      <p:sp>
        <p:nvSpPr>
          <p:cNvPr id="4" name="Text 2"/>
          <p:cNvSpPr txBox="1"/>
          <p:nvPr/>
        </p:nvSpPr>
        <p:spPr>
          <a:xfrm>
            <a:off x="868680" y="15087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Q1</a:t>
            </a:r>
            <a:endParaRPr lang="en-US" sz="2800" dirty="0"/>
          </a:p>
        </p:txBody>
      </p:sp>
      <p:sp>
        <p:nvSpPr>
          <p:cNvPr id="5" name="Text 3"/>
          <p:cNvSpPr txBox="1"/>
          <p:nvPr/>
        </p:nvSpPr>
        <p:spPr>
          <a:xfrm>
            <a:off x="1737360" y="15087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子どもたちに、どんな学びを経験してほしいですか？</a:t>
            </a:r>
            <a:endParaRPr lang="en-US" sz="1900" dirty="0"/>
          </a:p>
        </p:txBody>
      </p:sp>
      <p:sp>
        <p:nvSpPr>
          <p:cNvPr id="6" name="Shape 4"/>
          <p:cNvSpPr/>
          <p:nvPr/>
        </p:nvSpPr>
        <p:spPr>
          <a:xfrm>
            <a:off x="6172200" y="1508760"/>
            <a:ext cx="5440680" cy="1417320"/>
          </a:xfrm>
          <a:prstGeom prst="roundRect">
            <a:avLst>
              <a:gd name="adj" fmla="val 7742"/>
            </a:avLst>
          </a:prstGeom>
          <a:solidFill>
            <a:srgbClr val="2A5A47"/>
          </a:solidFill>
          <a:ln/>
        </p:spPr>
      </p:sp>
      <p:sp>
        <p:nvSpPr>
          <p:cNvPr id="7" name="Text 5"/>
          <p:cNvSpPr txBox="1"/>
          <p:nvPr/>
        </p:nvSpPr>
        <p:spPr>
          <a:xfrm>
            <a:off x="6492240" y="15087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Q2</a:t>
            </a:r>
            <a:endParaRPr lang="en-US" sz="2800" dirty="0"/>
          </a:p>
        </p:txBody>
      </p:sp>
      <p:sp>
        <p:nvSpPr>
          <p:cNvPr id="8" name="Text 6"/>
          <p:cNvSpPr txBox="1"/>
          <p:nvPr/>
        </p:nvSpPr>
        <p:spPr>
          <a:xfrm>
            <a:off x="7360920" y="15087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今の学校の良さで、残したいものは何ですか？</a:t>
            </a:r>
            <a:endParaRPr lang="en-US" sz="1900" dirty="0"/>
          </a:p>
        </p:txBody>
      </p:sp>
      <p:sp>
        <p:nvSpPr>
          <p:cNvPr id="9" name="Shape 7"/>
          <p:cNvSpPr/>
          <p:nvPr/>
        </p:nvSpPr>
        <p:spPr>
          <a:xfrm>
            <a:off x="548640" y="3108960"/>
            <a:ext cx="5440680" cy="1417320"/>
          </a:xfrm>
          <a:prstGeom prst="roundRect">
            <a:avLst>
              <a:gd name="adj" fmla="val 7742"/>
            </a:avLst>
          </a:prstGeom>
          <a:solidFill>
            <a:srgbClr val="2A5A47"/>
          </a:solidFill>
          <a:ln/>
        </p:spPr>
      </p:sp>
      <p:sp>
        <p:nvSpPr>
          <p:cNvPr id="10" name="Text 8"/>
          <p:cNvSpPr txBox="1"/>
          <p:nvPr/>
        </p:nvSpPr>
        <p:spPr>
          <a:xfrm>
            <a:off x="868680" y="31089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Q3</a:t>
            </a:r>
            <a:endParaRPr lang="en-US" sz="2800" dirty="0"/>
          </a:p>
        </p:txBody>
      </p:sp>
      <p:sp>
        <p:nvSpPr>
          <p:cNvPr id="11" name="Text 9"/>
          <p:cNvSpPr txBox="1"/>
          <p:nvPr/>
        </p:nvSpPr>
        <p:spPr>
          <a:xfrm>
            <a:off x="1737360" y="31089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通学・安全・地域活動で心配なことは何ですか？</a:t>
            </a:r>
            <a:endParaRPr lang="en-US" sz="1900" dirty="0"/>
          </a:p>
        </p:txBody>
      </p:sp>
      <p:sp>
        <p:nvSpPr>
          <p:cNvPr id="12" name="Shape 10"/>
          <p:cNvSpPr/>
          <p:nvPr/>
        </p:nvSpPr>
        <p:spPr>
          <a:xfrm>
            <a:off x="6172200" y="3108960"/>
            <a:ext cx="5440680" cy="1417320"/>
          </a:xfrm>
          <a:prstGeom prst="roundRect">
            <a:avLst>
              <a:gd name="adj" fmla="val 7742"/>
            </a:avLst>
          </a:prstGeom>
          <a:solidFill>
            <a:srgbClr val="2A5A47"/>
          </a:solidFill>
          <a:ln/>
        </p:spPr>
      </p:sp>
      <p:sp>
        <p:nvSpPr>
          <p:cNvPr id="13" name="Text 11"/>
          <p:cNvSpPr txBox="1"/>
          <p:nvPr/>
        </p:nvSpPr>
        <p:spPr>
          <a:xfrm>
            <a:off x="6492240" y="3108960"/>
            <a:ext cx="822960" cy="1417320"/>
          </a:xfrm>
          <a:prstGeom prst="rect">
            <a:avLst/>
          </a:prstGeom>
          <a:noFill/>
          <a:ln/>
        </p:spPr>
        <p:txBody>
          <a:bodyPr wrap="square" lIns="0" tIns="0" rIns="0" bIns="0" rtlCol="0" anchor="ctr"/>
          <a:lstStyle/>
          <a:p>
            <a:pPr indent="0" marL="0">
              <a:buNone/>
            </a:pPr>
            <a:r>
              <a:rPr lang="en-US" sz="2800" b="1" dirty="0">
                <a:solidFill>
                  <a:srgbClr val="D9573E"/>
                </a:solidFill>
                <a:latin typeface="BIZ UDPゴシック" pitchFamily="34" charset="0"/>
                <a:ea typeface="BIZ UDPゴシック" pitchFamily="34" charset="-122"/>
                <a:cs typeface="BIZ UDPゴシック" pitchFamily="34" charset="-120"/>
              </a:rPr>
              <a:t>Q4</a:t>
            </a:r>
            <a:endParaRPr lang="en-US" sz="2800" dirty="0"/>
          </a:p>
        </p:txBody>
      </p:sp>
      <p:sp>
        <p:nvSpPr>
          <p:cNvPr id="14" name="Text 12"/>
          <p:cNvSpPr txBox="1"/>
          <p:nvPr/>
        </p:nvSpPr>
        <p:spPr>
          <a:xfrm>
            <a:off x="7360920" y="3108960"/>
            <a:ext cx="4023360" cy="1417320"/>
          </a:xfrm>
          <a:prstGeom prst="rect">
            <a:avLst/>
          </a:prstGeom>
          <a:noFill/>
          <a:ln/>
        </p:spPr>
        <p:txBody>
          <a:bodyPr wrap="square" lIns="0" tIns="0" rIns="0" bIns="0" rtlCol="0" anchor="ctr"/>
          <a:lstStyle/>
          <a:p>
            <a:pPr indent="0" marL="0">
              <a:buNone/>
            </a:pPr>
            <a:r>
              <a:rPr lang="en-US" sz="1900" dirty="0">
                <a:solidFill>
                  <a:srgbClr val="FFFFFF"/>
                </a:solidFill>
                <a:latin typeface="BIZ UDPゴシック" pitchFamily="34" charset="0"/>
                <a:ea typeface="BIZ UDPゴシック" pitchFamily="34" charset="-122"/>
                <a:cs typeface="BIZ UDPゴシック" pitchFamily="34" charset="-120"/>
              </a:rPr>
              <a:t>判断の前に、どんな情報が必要ですか？</a:t>
            </a:r>
            <a:endParaRPr lang="en-US" sz="1900" dirty="0"/>
          </a:p>
        </p:txBody>
      </p:sp>
      <p:sp>
        <p:nvSpPr>
          <p:cNvPr id="15" name="Text 13"/>
          <p:cNvSpPr txBox="1"/>
          <p:nvPr/>
        </p:nvSpPr>
        <p:spPr>
          <a:xfrm>
            <a:off x="548640" y="4983480"/>
            <a:ext cx="11064240" cy="731520"/>
          </a:xfrm>
          <a:prstGeom prst="rect">
            <a:avLst/>
          </a:prstGeom>
          <a:noFill/>
          <a:ln/>
        </p:spPr>
        <p:txBody>
          <a:bodyPr wrap="square" lIns="0" tIns="0" rIns="0" bIns="0" rtlCol="0" anchor="ctr"/>
          <a:lstStyle/>
          <a:p>
            <a:pPr algn="ctr" indent="0" marL="0">
              <a:buNone/>
            </a:pPr>
            <a:r>
              <a:rPr lang="en-US" sz="2600" b="1" dirty="0">
                <a:solidFill>
                  <a:srgbClr val="D9573E"/>
                </a:solidFill>
                <a:latin typeface="BIZ UDPゴシック" pitchFamily="34" charset="0"/>
                <a:ea typeface="BIZ UDPゴシック" pitchFamily="34" charset="-122"/>
                <a:cs typeface="BIZ UDPゴシック" pitchFamily="34" charset="-120"/>
              </a:rPr>
              <a:t>学校の数を減らすことではなく、未来の学びをつくること。</a:t>
            </a:r>
            <a:endParaRPr lang="en-US" sz="2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8AB"/>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Wakaho">
  <a:themeElements>
    <a:clrScheme name="Wakaho">
      <a:dk1>
        <a:srgbClr val="1E2A26"/>
      </a:dk1>
      <a:lt1>
        <a:srgbClr val="FFFFFF"/>
      </a:lt1>
      <a:dk2>
        <a:srgbClr val="1D4636"/>
      </a:dk2>
      <a:lt2>
        <a:srgbClr val="F4F7F5"/>
      </a:lt2>
      <a:accent1>
        <a:srgbClr val="2E7D5B"/>
      </a:accent1>
      <a:accent2>
        <a:srgbClr val="D9573E"/>
      </a:accent2>
      <a:accent3>
        <a:srgbClr val="1D4636"/>
      </a:accent3>
      <a:accent4>
        <a:srgbClr val="6FA8C0"/>
      </a:accent4>
      <a:accent5>
        <a:srgbClr val="9AA59F"/>
      </a:accent5>
      <a:accent6>
        <a:srgbClr val="B5543A"/>
      </a:accent6>
      <a:hlink>
        <a:srgbClr val="2E7D5B"/>
      </a:hlink>
      <a:folHlink>
        <a:srgbClr val="6B4E9B"/>
      </a:folHlink>
    </a:clrScheme>
    <a:fontScheme name="Wakaho">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若穂地区 住民説明会資料（案）</dc:title>
  <dc:subject>PptxGenJS Presentation</dc:subject>
  <dc:creator>PptxGenJS</dc:creator>
  <cp:lastModifiedBy>PptxGenJS</cp:lastModifiedBy>
  <cp:revision>1</cp:revision>
  <dcterms:created xsi:type="dcterms:W3CDTF">2026-10-27T13:51:59Z</dcterms:created>
  <dcterms:modified xsi:type="dcterms:W3CDTF">2026-10-27T13:51:59Z</dcterms:modified>
</cp:coreProperties>
</file>
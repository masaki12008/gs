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若穂中の統合（昭和36〜37年）を経験した世代の方に、当時のよかった点・苦労した点を聞く機会をつくることも提案できる。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市全体の計画であり、若穂の学校をどうするかを決めたものではないことを、必ず口頭で伝える。施設総量20％縮減は学校に限らない公共施設全体の目標。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保科小が入る区間（2・3・6）は、保科小へ向かう上りの向きの時間（川田小→保科小46分、逆の下りは36分）。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3.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結論の前に、子どもたちにどんな学びを残したいか。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今の形を続ける案も含めて</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検討の出発点｜誰のための検討か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794760"/>
            <a:ext cx="3017520" cy="77724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若穂中は、3つの中学校が一つになってできた学校</a:t>
            </a:r>
            <a:endParaRPr lang="en-US" sz="1700" dirty="0"/>
          </a:p>
        </p:txBody>
      </p:sp>
      <p:sp>
        <p:nvSpPr>
          <p:cNvPr id="11" name="Text 8"/>
          <p:cNvSpPr txBox="1"/>
          <p:nvPr/>
        </p:nvSpPr>
        <p:spPr>
          <a:xfrm>
            <a:off x="8412480" y="4617720"/>
            <a:ext cx="3017520" cy="10515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昭和36〜37年（1961〜62年）に統合。部活動など、中学校の環境も合わせて考えます。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出典：提供資料「生徒数推計」（R8.5.1現在）。若穂中の成り立ちの出典は［確認中］。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56635D"/>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4校すべてが2030年度までに、計画上の更新・改修の対象に入る（実施状況は市に確認中）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建築年度と、計画上で更新・改修の対象に入る時期（長寿命化計画＝建物を計画的に改修して長く使うための市の計画）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6712399" y="237744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2023年度（R5）から更新の対象</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7677443" y="324612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2030年度（R12）から更新の対象</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263853" y="411480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2027年度（R9）から改修の対象</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7677443" y="498348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2030年度（R12）から改修の対象</a:t>
            </a:r>
            <a:endParaRPr lang="en-US" sz="1300" dirty="0"/>
          </a:p>
        </p:txBody>
      </p:sp>
      <p:sp>
        <p:nvSpPr>
          <p:cNvPr id="45" name="Text 43"/>
          <p:cNvSpPr txBox="1"/>
          <p:nvPr/>
        </p:nvSpPr>
        <p:spPr>
          <a:xfrm>
            <a:off x="548640" y="57607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◆更新・改修の対象に入る時期の目安で、工事が決まったものではありません（添付資料、令和2年4月時点）。</a:t>
            </a:r>
            <a:endParaRPr lang="en-US" sz="1200" dirty="0"/>
          </a:p>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改訂版（令和5年6月）では若穂中の6棟すべてが「長寿命化に適する」判定。工事の建物と時期は随時決定。小学校3校は［市に確認中］。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長野市の計画に書かれていること</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長野市学校施設長寿命化計画（令和3年2月策定・令和5年6月改訂）から。若穂について決めたものではありません</a:t>
            </a:r>
            <a:endParaRPr lang="en-US" sz="1600" dirty="0"/>
          </a:p>
        </p:txBody>
      </p:sp>
      <p:sp>
        <p:nvSpPr>
          <p:cNvPr id="5" name="Shape 3"/>
          <p:cNvSpPr/>
          <p:nvPr/>
        </p:nvSpPr>
        <p:spPr>
          <a:xfrm>
            <a:off x="548640" y="1463040"/>
            <a:ext cx="3566160" cy="4206240"/>
          </a:xfrm>
          <a:prstGeom prst="roundRect">
            <a:avLst>
              <a:gd name="adj" fmla="val 3077"/>
            </a:avLst>
          </a:prstGeom>
          <a:solidFill>
            <a:srgbClr val="F4F7F5"/>
          </a:solidFill>
          <a:ln/>
        </p:spPr>
      </p:sp>
      <p:sp>
        <p:nvSpPr>
          <p:cNvPr id="6" name="Shape 4"/>
          <p:cNvSpPr/>
          <p:nvPr/>
        </p:nvSpPr>
        <p:spPr>
          <a:xfrm>
            <a:off x="822960" y="1645920"/>
            <a:ext cx="640080" cy="64008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8" name="Text 5"/>
          <p:cNvSpPr txBox="1"/>
          <p:nvPr/>
        </p:nvSpPr>
        <p:spPr>
          <a:xfrm>
            <a:off x="160020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建物の使い方</a:t>
            </a:r>
            <a:endParaRPr lang="en-US" sz="2000" dirty="0"/>
          </a:p>
        </p:txBody>
      </p:sp>
      <p:sp>
        <p:nvSpPr>
          <p:cNvPr id="9" name="Text 6"/>
          <p:cNvSpPr txBox="1"/>
          <p:nvPr/>
        </p:nvSpPr>
        <p:spPr>
          <a:xfrm>
            <a:off x="82296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建設から40年後に長寿命化改修</a:t>
            </a:r>
            <a:endParaRPr lang="en-US" sz="1700" dirty="0"/>
          </a:p>
        </p:txBody>
      </p:sp>
      <p:sp>
        <p:nvSpPr>
          <p:cNvPr id="10" name="Text 7"/>
          <p:cNvSpPr txBox="1"/>
          <p:nvPr/>
        </p:nvSpPr>
        <p:spPr>
          <a:xfrm>
            <a:off x="82296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その後40年程度使えるようにする（建て替えより費用を抑える）</a:t>
            </a:r>
            <a:endParaRPr lang="en-US" sz="1500" dirty="0"/>
          </a:p>
        </p:txBody>
      </p:sp>
      <p:sp>
        <p:nvSpPr>
          <p:cNvPr id="11" name="Text 8"/>
          <p:cNvSpPr txBox="1"/>
          <p:nvPr/>
        </p:nvSpPr>
        <p:spPr>
          <a:xfrm>
            <a:off x="82296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改修に適さない建物は建て替え</a:t>
            </a:r>
            <a:endParaRPr lang="en-US" sz="1700" dirty="0"/>
          </a:p>
        </p:txBody>
      </p:sp>
      <p:sp>
        <p:nvSpPr>
          <p:cNvPr id="12" name="Text 9"/>
          <p:cNvSpPr txBox="1"/>
          <p:nvPr/>
        </p:nvSpPr>
        <p:spPr>
          <a:xfrm>
            <a:off x="82296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改修前に建物の強さを調べて判断する</a:t>
            </a:r>
            <a:endParaRPr lang="en-US" sz="1500" dirty="0"/>
          </a:p>
        </p:txBody>
      </p:sp>
      <p:sp>
        <p:nvSpPr>
          <p:cNvPr id="13" name="Shape 10"/>
          <p:cNvSpPr/>
          <p:nvPr/>
        </p:nvSpPr>
        <p:spPr>
          <a:xfrm>
            <a:off x="4297680" y="1463040"/>
            <a:ext cx="3566160" cy="4206240"/>
          </a:xfrm>
          <a:prstGeom prst="roundRect">
            <a:avLst>
              <a:gd name="adj" fmla="val 3077"/>
            </a:avLst>
          </a:prstGeom>
          <a:solidFill>
            <a:srgbClr val="F4F7F5"/>
          </a:solidFill>
          <a:ln/>
        </p:spPr>
      </p:sp>
      <p:sp>
        <p:nvSpPr>
          <p:cNvPr id="14" name="Shape 11"/>
          <p:cNvSpPr/>
          <p:nvPr/>
        </p:nvSpPr>
        <p:spPr>
          <a:xfrm>
            <a:off x="4572000" y="1645920"/>
            <a:ext cx="640080" cy="640080"/>
          </a:xfrm>
          <a:prstGeom prst="ellipse">
            <a:avLst/>
          </a:prstGeom>
          <a:solidFill>
            <a:srgbClr val="2E7D5B"/>
          </a:solidFill>
          <a:ln/>
        </p:spPr>
      </p:sp>
      <p:pic>
        <p:nvPicPr>
          <p:cNvPr id="15" name="Image 1"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6" name="Text 12"/>
          <p:cNvSpPr txBox="1"/>
          <p:nvPr/>
        </p:nvSpPr>
        <p:spPr>
          <a:xfrm>
            <a:off x="534924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市全体の費用</a:t>
            </a:r>
            <a:endParaRPr lang="en-US" sz="2000" dirty="0"/>
          </a:p>
        </p:txBody>
      </p:sp>
      <p:sp>
        <p:nvSpPr>
          <p:cNvPr id="17" name="Text 13"/>
          <p:cNvSpPr txBox="1"/>
          <p:nvPr/>
        </p:nvSpPr>
        <p:spPr>
          <a:xfrm>
            <a:off x="457200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令和8年度以降、年平均58億円が必要</a:t>
            </a:r>
            <a:endParaRPr lang="en-US" sz="1700" dirty="0"/>
          </a:p>
        </p:txBody>
      </p:sp>
      <p:sp>
        <p:nvSpPr>
          <p:cNvPr id="18" name="Text 14"/>
          <p:cNvSpPr txBox="1"/>
          <p:nvPr/>
        </p:nvSpPr>
        <p:spPr>
          <a:xfrm>
            <a:off x="457200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令和5〜7年度（年30.4億円）より、年約28億円足りない見込み</a:t>
            </a:r>
            <a:endParaRPr lang="en-US" sz="1500" dirty="0"/>
          </a:p>
        </p:txBody>
      </p:sp>
      <p:sp>
        <p:nvSpPr>
          <p:cNvPr id="19" name="Text 15"/>
          <p:cNvSpPr txBox="1"/>
          <p:nvPr/>
        </p:nvSpPr>
        <p:spPr>
          <a:xfrm>
            <a:off x="457200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公共施設の総量を20年で20％減らす目標</a:t>
            </a:r>
            <a:endParaRPr lang="en-US" sz="1700" dirty="0"/>
          </a:p>
        </p:txBody>
      </p:sp>
      <p:sp>
        <p:nvSpPr>
          <p:cNvPr id="20" name="Text 16"/>
          <p:cNvSpPr txBox="1"/>
          <p:nvPr/>
        </p:nvSpPr>
        <p:spPr>
          <a:xfrm>
            <a:off x="457200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市の公共施設全体の方針（総合管理計画）</a:t>
            </a:r>
            <a:endParaRPr lang="en-US" sz="1500" dirty="0"/>
          </a:p>
        </p:txBody>
      </p:sp>
      <p:sp>
        <p:nvSpPr>
          <p:cNvPr id="21" name="Shape 17"/>
          <p:cNvSpPr/>
          <p:nvPr/>
        </p:nvSpPr>
        <p:spPr>
          <a:xfrm>
            <a:off x="8046720" y="1463040"/>
            <a:ext cx="3566160" cy="4206240"/>
          </a:xfrm>
          <a:prstGeom prst="roundRect">
            <a:avLst>
              <a:gd name="adj" fmla="val 3077"/>
            </a:avLst>
          </a:prstGeom>
          <a:solidFill>
            <a:srgbClr val="F4F7F5"/>
          </a:solidFill>
          <a:ln/>
        </p:spPr>
      </p:sp>
      <p:sp>
        <p:nvSpPr>
          <p:cNvPr id="22" name="Shape 18"/>
          <p:cNvSpPr/>
          <p:nvPr/>
        </p:nvSpPr>
        <p:spPr>
          <a:xfrm>
            <a:off x="8321040" y="1645920"/>
            <a:ext cx="640080" cy="640080"/>
          </a:xfrm>
          <a:prstGeom prst="ellipse">
            <a:avLst/>
          </a:prstGeom>
          <a:solidFill>
            <a:srgbClr val="2E7D5B"/>
          </a:solidFill>
          <a:ln/>
        </p:spPr>
      </p:sp>
      <p:pic>
        <p:nvPicPr>
          <p:cNvPr id="23" name="Image 2"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4" name="Text 19"/>
          <p:cNvSpPr txBox="1"/>
          <p:nvPr/>
        </p:nvSpPr>
        <p:spPr>
          <a:xfrm>
            <a:off x="909828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学校の配置の考え方</a:t>
            </a:r>
            <a:endParaRPr lang="en-US" sz="2000" dirty="0"/>
          </a:p>
        </p:txBody>
      </p:sp>
      <p:sp>
        <p:nvSpPr>
          <p:cNvPr id="25" name="Text 20"/>
          <p:cNvSpPr txBox="1"/>
          <p:nvPr/>
        </p:nvSpPr>
        <p:spPr>
          <a:xfrm>
            <a:off x="832104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統廃合も見据えて検討する</a:t>
            </a:r>
            <a:endParaRPr lang="en-US" sz="1700" dirty="0"/>
          </a:p>
        </p:txBody>
      </p:sp>
      <p:sp>
        <p:nvSpPr>
          <p:cNvPr id="26" name="Text 21"/>
          <p:cNvSpPr txBox="1"/>
          <p:nvPr/>
        </p:nvSpPr>
        <p:spPr>
          <a:xfrm>
            <a:off x="832104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各学校区の人口の動きを見極めながら</a:t>
            </a:r>
            <a:endParaRPr lang="en-US" sz="1500" dirty="0"/>
          </a:p>
        </p:txBody>
      </p:sp>
      <p:sp>
        <p:nvSpPr>
          <p:cNvPr id="27" name="Text 22"/>
          <p:cNvSpPr txBox="1"/>
          <p:nvPr/>
        </p:nvSpPr>
        <p:spPr>
          <a:xfrm>
            <a:off x="832104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地域に学校を残したい思いも受け止める</a:t>
            </a:r>
            <a:endParaRPr lang="en-US" sz="1700" dirty="0"/>
          </a:p>
        </p:txBody>
      </p:sp>
      <p:sp>
        <p:nvSpPr>
          <p:cNvPr id="28" name="Text 23"/>
          <p:cNvSpPr txBox="1"/>
          <p:nvPr/>
        </p:nvSpPr>
        <p:spPr>
          <a:xfrm>
            <a:off x="832104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例：小学校の低・中学年は地域で、高学年以上は大きな学校で学ぶ形の検討</a:t>
            </a:r>
            <a:endParaRPr lang="en-US" sz="1500" dirty="0"/>
          </a:p>
        </p:txBody>
      </p:sp>
      <p:sp>
        <p:nvSpPr>
          <p:cNvPr id="29" name="Text 24"/>
          <p:cNvSpPr txBox="1"/>
          <p:nvPr/>
        </p:nvSpPr>
        <p:spPr>
          <a:xfrm>
            <a:off x="548640" y="576072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市の方針も一つの前提として知ったうえで、若穂の子どもにとって何がよいかを、地域で考えます。</a:t>
            </a:r>
            <a:endParaRPr lang="en-US" sz="1600" dirty="0"/>
          </a:p>
        </p:txBody>
      </p:sp>
      <p:sp>
        <p:nvSpPr>
          <p:cNvPr id="30" name="Text 25"/>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出典：長野市学校施設長寿命化計画（長野市教育委員会事務局総務課、令和3年2月・令和5年6月改訂）第4章・第5章・第6章。</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評価の付け方（案）：事務局の調査結果をもとに、委員会が視点ごとに「良い・課題あり・調査中」で記入し、地区別対話で確認します。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23560"/>
            <a:ext cx="54864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1km</a:t>
            </a:r>
            <a:endParaRPr lang="en-US" sz="13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300" b="1" dirty="0">
                <a:solidFill>
                  <a:srgbClr val="56635D"/>
                </a:solidFill>
                <a:latin typeface="BIZ UDPゴシック" pitchFamily="34" charset="0"/>
                <a:ea typeface="BIZ UDPゴシック" pitchFamily="34" charset="-122"/>
                <a:cs typeface="BIZ UDPゴシック" pitchFamily="34" charset="-120"/>
              </a:rPr>
              <a:t>↑ 北</a:t>
            </a:r>
            <a:endParaRPr lang="en-US" sz="13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0020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小学校どうし</a:t>
            </a:r>
            <a:endParaRPr lang="en-US" sz="13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7452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300" dirty="0"/>
          </a:p>
        </p:txBody>
      </p:sp>
      <p:sp>
        <p:nvSpPr>
          <p:cNvPr id="39" name="Text 37"/>
          <p:cNvSpPr txBox="1"/>
          <p:nvPr/>
        </p:nvSpPr>
        <p:spPr>
          <a:xfrm>
            <a:off x="822960" y="2240280"/>
            <a:ext cx="2743200" cy="59436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400" dirty="0"/>
          </a:p>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Google マップの経路検索（2026年10月27日夜）。2・3・6は保科小へ向かう上りの時間。国の目安：文部科学省の手引（2015年）。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どの選択肢でも、学校が地域の避難所として役割を果たせるかを、比べる視点に入れます。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どの選択肢でも、生活への影響を見える化する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保育園から中学校までの連携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保育園・幼稚園児の学校体験、中学校の先生による出前授業、小6の中学校体験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目指すのは、子どもたちの未来の学びをつくること。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2026-10-27T23:02:17Z</dcterms:created>
  <dcterms:modified xsi:type="dcterms:W3CDTF">2026-10-27T23:02:17Z</dcterms:modified>
</cp:coreProperties>
</file>
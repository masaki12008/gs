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令和8年度</c:v>
                </c:pt>
              </c:strCache>
            </c:strRef>
          </c:tx>
          <c:spPr>
            <a:solidFill>
              <a:srgbClr val="9AA6AD"/>
            </a:solidFill>
            <a:effectLst/>
          </c:spPr>
          <c:invertIfNegative val="0"/>
          <c:dLbls>
            <c:numFmt formatCode="0&quot;人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綿内小</c:v>
                  </c:pt>
                  <c:pt idx="1">
                    <c:v>川田小</c:v>
                  </c:pt>
                  <c:pt idx="2">
                    <c:v>保科小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273</c:v>
                </c:pt>
                <c:pt idx="1">
                  <c:v>157</c:v>
                </c:pt>
                <c:pt idx="2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令和14年度</c:v>
                </c:pt>
              </c:strCache>
            </c:strRef>
          </c:tx>
          <c:spPr>
            <a:solidFill>
              <a:srgbClr val="1F7F7A"/>
            </a:solidFill>
            <a:effectLst/>
          </c:spPr>
          <c:invertIfNegative val="0"/>
          <c:dLbls>
            <c:numFmt formatCode="0&quot;人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綿内小</c:v>
                  </c:pt>
                  <c:pt idx="1">
                    <c:v>川田小</c:v>
                  </c:pt>
                  <c:pt idx="2">
                    <c:v>保科小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205</c:v>
                </c:pt>
                <c:pt idx="1">
                  <c:v>83</c:v>
                </c:pt>
                <c:pt idx="2">
                  <c:v>42</c:v>
                </c:pt>
              </c:numCache>
            </c:numRef>
          </c:val>
        </c:ser>
        <c:dLbls>
          <c:numFmt formatCode="0&quot;人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A30"/>
                </a:solidFill>
                <a:latin typeface="+mn-lt"/>
              </a:rPr>
              <a:t>3小学校の合計（人）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3小学校の合計</c:v>
                </c:pt>
              </c:strCache>
            </c:strRef>
          </c:tx>
          <c:spPr>
            <a:solidFill>
              <a:srgbClr val="1F7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R8</c:v>
                  </c:pt>
                  <c:pt idx="1">
                    <c:v>R9</c:v>
                  </c:pt>
                  <c:pt idx="2">
                    <c:v>R10</c:v>
                  </c:pt>
                  <c:pt idx="3">
                    <c:v>R11</c:v>
                  </c:pt>
                  <c:pt idx="4">
                    <c:v>R12</c:v>
                  </c:pt>
                  <c:pt idx="5">
                    <c:v>R13</c:v>
                  </c:pt>
                  <c:pt idx="6">
                    <c:v>R14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484</c:v>
                </c:pt>
                <c:pt idx="1">
                  <c:v>463</c:v>
                </c:pt>
                <c:pt idx="2">
                  <c:v>439</c:v>
                </c:pt>
                <c:pt idx="3">
                  <c:v>424</c:v>
                </c:pt>
                <c:pt idx="4">
                  <c:v>403</c:v>
                </c:pt>
                <c:pt idx="5">
                  <c:v>373</c:v>
                </c:pt>
                <c:pt idx="6">
                  <c:v>330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若穂中 全校生徒数</c:v>
                </c:pt>
              </c:strCache>
            </c:strRef>
          </c:tx>
          <c:spPr>
            <a:solidFill>
              <a:srgbClr val="1F7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R8</c:v>
                  </c:pt>
                  <c:pt idx="1">
                    <c:v>R9</c:v>
                  </c:pt>
                  <c:pt idx="2">
                    <c:v>R10</c:v>
                  </c:pt>
                  <c:pt idx="3">
                    <c:v>R11</c:v>
                  </c:pt>
                  <c:pt idx="4">
                    <c:v>R12</c:v>
                  </c:pt>
                  <c:pt idx="5">
                    <c:v>R13</c:v>
                  </c:pt>
                  <c:pt idx="6">
                    <c:v>R14</c:v>
                  </c:pt>
                  <c:pt idx="7">
                    <c:v>R15</c:v>
                  </c:pt>
                  <c:pt idx="8">
                    <c:v>R16</c:v>
                  </c:pt>
                  <c:pt idx="9">
                    <c:v>R17</c:v>
                  </c:pt>
                  <c:pt idx="10">
                    <c:v>R18</c:v>
                  </c:pt>
                  <c:pt idx="11">
                    <c:v>R19</c:v>
                  </c:pt>
                  <c:pt idx="12">
                    <c:v>R20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284</c:v>
                </c:pt>
                <c:pt idx="1">
                  <c:v>287</c:v>
                </c:pt>
                <c:pt idx="2">
                  <c:v>266</c:v>
                </c:pt>
                <c:pt idx="3">
                  <c:v>264</c:v>
                </c:pt>
                <c:pt idx="4">
                  <c:v>248</c:v>
                </c:pt>
                <c:pt idx="5">
                  <c:v>237</c:v>
                </c:pt>
                <c:pt idx="6">
                  <c:v>225</c:v>
                </c:pt>
                <c:pt idx="7">
                  <c:v>219</c:v>
                </c:pt>
                <c:pt idx="8">
                  <c:v>206</c:v>
                </c:pt>
                <c:pt idx="9">
                  <c:v>201</c:v>
                </c:pt>
                <c:pt idx="10">
                  <c:v>180</c:v>
                </c:pt>
                <c:pt idx="11">
                  <c:v>161</c:v>
                </c:pt>
                <c:pt idx="12">
                  <c:v>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表紙。委員会名・事務局名の表記は要確認。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E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D"/>
                </a:solidFill>
              </a:rPr>
              <a:t>若穂地区 小中学校再編検討｜住民説明会資料（案）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3A5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1F7F7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2A928C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4206240"/>
            <a:ext cx="3291840" cy="3291840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7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小中学校再編検討｜住民説明会資料（案）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若穂の学校を考える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66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7E2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子どもたちの未来と、地域のこれからを一緒に考えるために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7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R8.○.○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7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若穂地区小中学校再編検討委員会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7D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長野市教育委員会事務局 学校教育課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7373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学校の数を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決める前に、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どんな学びを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残したいか。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今日の説明会で共有したいこと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5F8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914400" cy="91440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78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現状を知る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児童生徒数・施設の状況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64992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5F8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639312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639312" y="2377440"/>
            <a:ext cx="914400" cy="91440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57860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課題を共有する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教育環境・通学・地域への影響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81344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5F8F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55664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55664" y="2377440"/>
            <a:ext cx="914400" cy="91440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57860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選択肢を比べる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455664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現状維持から再編まで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997696" y="155448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5F8F8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9272016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272016" y="2377440"/>
            <a:ext cx="914400" cy="91440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578608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72016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意見を寄せる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9272016" y="4069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大切にしたいこと・懸念点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53949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BF1E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7724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本資料は検討用の案です。再編方式・校地・実施時期が決定したことを示すものではありません。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検討の出発点｜誰のための学校再編か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F7F7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1958645"/>
            <a:ext cx="563270" cy="563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94560" y="1463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最優先は、子どもたちの学びと育ち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5F8F8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3566160"/>
            <a:ext cx="731520" cy="73152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727094"/>
            <a:ext cx="409651" cy="4096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小規模校の良さを残し、課題を丁寧に考える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429768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5F8F8"/>
          </a:solidFill>
          <a:ln/>
        </p:spPr>
      </p:sp>
      <p:sp>
        <p:nvSpPr>
          <p:cNvPr id="12" name="Shape 8"/>
          <p:cNvSpPr/>
          <p:nvPr/>
        </p:nvSpPr>
        <p:spPr>
          <a:xfrm>
            <a:off x="4617720" y="3566160"/>
            <a:ext cx="731520" cy="73152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654" y="3727094"/>
            <a:ext cx="409651" cy="4096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1772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通学の安全と、地域のつながりを守る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046720" y="329184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F5F8F8"/>
          </a:solidFill>
          <a:ln/>
        </p:spPr>
      </p:sp>
      <p:sp>
        <p:nvSpPr>
          <p:cNvPr id="16" name="Shape 11"/>
          <p:cNvSpPr/>
          <p:nvPr/>
        </p:nvSpPr>
        <p:spPr>
          <a:xfrm>
            <a:off x="8366760" y="3566160"/>
            <a:ext cx="731520" cy="731520"/>
          </a:xfrm>
          <a:prstGeom prst="ellipse">
            <a:avLst/>
          </a:prstGeom>
          <a:solidFill>
            <a:srgbClr val="E6F2F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694" y="3727094"/>
            <a:ext cx="409651" cy="4096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66760" y="4480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結論を急がず、比較できる情報をそろえる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若穂地区の3小学校｜児童数の見通し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令和8年度 → 令和14年度（教育委員会推計）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5F8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綿内小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273 → 205人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875520" y="1737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−25%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7772400" y="301752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BF1E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川田小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157 → 83人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875520" y="31546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−47%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7772400" y="4434840"/>
            <a:ext cx="3840480" cy="1234440"/>
          </a:xfrm>
          <a:prstGeom prst="roundRect">
            <a:avLst>
              <a:gd name="adj" fmla="val 8889"/>
            </a:avLst>
          </a:prstGeom>
          <a:solidFill>
            <a:srgbClr val="F5F8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17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保科小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 → 42人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45720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−22%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出典：提供資料「児童数推計」（R8.5.1現在）。将来推計は変動します。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3小学校の児童数合計は約32％減少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令和8年度 → 令和14年度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484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令和8年度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11880" y="1965960"/>
            <a:ext cx="914400" cy="548640"/>
          </a:xfrm>
          <a:prstGeom prst="rightArrow">
            <a:avLst/>
          </a:prstGeom>
          <a:solidFill>
            <a:srgbClr val="D6DE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330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43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令和14年度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589520" y="141732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5F8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学校ごとに異なる減少の姿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川田小は約47％減、保科小では令和8年度の1年生が2人。綿内小も減少が続きます。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数値は提供推計（R8.5.1現在）の合計から算出。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若穂中学校も生徒数が減少する見通し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令和8年度 → 令和20年度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3152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087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E6F2F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約55%減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284人 → 129人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138160" y="365760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5F8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小学校だけでなく、地区全体の教育環境を考える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800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小中9年間の学びの連続性も、検討する価値のある視点です。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出典：提供資料「生徒数推計」（R8.5.1現在）。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長野市全体と比べても、若穂の減少は大きい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小学校児童数：令和8年度を100としたときの令和14年度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若穂地区 3小学校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484人 → 330人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583680" cy="54864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86000"/>
            <a:ext cx="4488873" cy="548640"/>
          </a:xfrm>
          <a:prstGeom prst="rect">
            <a:avLst/>
          </a:prstGeom>
          <a:solidFill>
            <a:srgbClr val="1F7F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68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約32%減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長野市立小学校 全体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15,757人 → 12,561人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6583680" cy="548640"/>
          </a:xfrm>
          <a:prstGeom prst="rect">
            <a:avLst/>
          </a:prstGeom>
          <a:solidFill>
            <a:srgbClr val="EEF1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86200"/>
            <a:ext cx="5248309" cy="548640"/>
          </a:xfrm>
          <a:prstGeom prst="rect">
            <a:avLst/>
          </a:prstGeom>
          <a:solidFill>
            <a:srgbClr val="9AA6A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約20%減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E6F2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地域固有の課題として、将来を見据えた検討が必要です。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出典：提供推計データ（R8.5.1現在）。減少率は四捨五入。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小規模校の良さと、考えておきたい課題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E6F2F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685800" cy="68580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8425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大切にしたい良さ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051560" y="2852928"/>
            <a:ext cx="164592" cy="164592"/>
          </a:xfrm>
          <a:prstGeom prst="ellipse">
            <a:avLst/>
          </a:prstGeom>
          <a:solidFill>
            <a:srgbClr val="1F7F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17320" y="26974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一人ひとりへの目配り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051560" y="3538728"/>
            <a:ext cx="164592" cy="164592"/>
          </a:xfrm>
          <a:prstGeom prst="ellipse">
            <a:avLst/>
          </a:prstGeom>
          <a:solidFill>
            <a:srgbClr val="1F7F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417320" y="3383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学年間の交流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051560" y="4224528"/>
            <a:ext cx="164592" cy="164592"/>
          </a:xfrm>
          <a:prstGeom prst="ellipse">
            <a:avLst/>
          </a:prstGeom>
          <a:solidFill>
            <a:srgbClr val="1F7F7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417320" y="40690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地域と学校の近い関係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51560" y="4910328"/>
            <a:ext cx="164592" cy="164592"/>
          </a:xfrm>
          <a:prstGeom prst="ellipse">
            <a:avLst/>
          </a:prstGeom>
          <a:solidFill>
            <a:srgbClr val="1F7F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17320" y="4754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安心できる人間関係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72200" y="141732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BF1E1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1691640"/>
            <a:ext cx="685800" cy="685800"/>
          </a:xfrm>
          <a:prstGeom prst="ellipse">
            <a:avLst/>
          </a:prstGeom>
          <a:solidFill>
            <a:srgbClr val="D994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184251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40664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将来の検討課題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6675120" y="2852928"/>
            <a:ext cx="164592" cy="164592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040880" y="26974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多様な意見に触れる機会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675120" y="3538728"/>
            <a:ext cx="164592" cy="164592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040880" y="33832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集団活動や行事の選択肢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6675120" y="4224528"/>
            <a:ext cx="164592" cy="164592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040880" y="40690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人間関係の固定化への配慮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6675120" y="4910328"/>
            <a:ext cx="164592" cy="164592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040880" y="4754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教員配置や教育活動の持続性</a:t>
            </a:r>
            <a:endParaRPr lang="en-US" sz="19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学校規模だけで教育の良し悪しが決まるものではありません。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なぜ今、検討するのか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5F8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822960" cy="82296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9184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09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児童生徒数の減少は、今後も続く見通し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小学生はR14までに約3割、中学生はR20までに5割以上減る推計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5F8F8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191841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709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施設の更新・改修を考える時期と重なる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4校すべてが2030年度までに計画上の更新・改修時期を迎える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5F8F8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023360"/>
            <a:ext cx="822960" cy="82296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" y="420441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3995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通学や地域活動への影響を調べるには時間が必要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調査・比較・地区ごとの対話に、2年ほどかけて丁寧に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5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023360"/>
            <a:ext cx="822960" cy="82296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1" y="420441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39959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今の子どもと将来の子ども、両方の視点が必要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4937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在校生への配慮と、これから入学する子の環境の両立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施設の状況も、判断材料のひとつ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建築年度と、計画上の更新・改修時期（長寿命化計画に記載された情報）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77440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0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1970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56074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90314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34708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68948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13342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47582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91975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26215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70609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04849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49243" y="1691640"/>
            <a:ext cx="0" cy="374904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83483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97790" y="1691640"/>
            <a:ext cx="0" cy="3749040"/>
          </a:xfrm>
          <a:prstGeom prst="line">
            <a:avLst/>
          </a:prstGeom>
          <a:noFill/>
          <a:ln w="19050">
            <a:solidFill>
              <a:srgbClr val="D9942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9732030" y="54681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川田小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1965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1973年度築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91030" y="2057400"/>
            <a:ext cx="7306759" cy="274320"/>
          </a:xfrm>
          <a:prstGeom prst="roundRect">
            <a:avLst>
              <a:gd name="adj" fmla="val 50000"/>
            </a:avLst>
          </a:prstGeom>
          <a:solidFill>
            <a:srgbClr val="1E3A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2819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築53年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56183" y="2066544"/>
            <a:ext cx="256032" cy="256032"/>
          </a:xfrm>
          <a:prstGeom prst="diamond">
            <a:avLst/>
          </a:prstGeom>
          <a:solidFill>
            <a:srgbClr val="D994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67079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2023年度 更新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綿内小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1980年度築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56074" y="2926080"/>
            <a:ext cx="6341716" cy="274320"/>
          </a:xfrm>
          <a:prstGeom prst="roundRect">
            <a:avLst>
              <a:gd name="adj" fmla="val 50000"/>
            </a:avLst>
          </a:prstGeom>
          <a:solidFill>
            <a:srgbClr val="8FB8B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93234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築46年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521227" y="2935224"/>
            <a:ext cx="256032" cy="256032"/>
          </a:xfrm>
          <a:prstGeom prst="diamond">
            <a:avLst/>
          </a:prstGeom>
          <a:solidFill>
            <a:srgbClr val="D994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6203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2030年度 更新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若穂中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37033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1987年度築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21118" y="3794760"/>
            <a:ext cx="5376672" cy="274320"/>
          </a:xfrm>
          <a:prstGeom prst="roundRect">
            <a:avLst>
              <a:gd name="adj" fmla="val 50000"/>
            </a:avLst>
          </a:prstGeom>
          <a:solidFill>
            <a:srgbClr val="8FB8B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58278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築39年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07637" y="3803904"/>
            <a:ext cx="256032" cy="256032"/>
          </a:xfrm>
          <a:prstGeom prst="diamond">
            <a:avLst/>
          </a:prstGeom>
          <a:solidFill>
            <a:srgbClr val="D994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418533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2027年度 改修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保科小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371600" y="4572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2010年度築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891975" y="4663440"/>
            <a:ext cx="2205814" cy="274320"/>
          </a:xfrm>
          <a:prstGeom prst="roundRect">
            <a:avLst>
              <a:gd name="adj" fmla="val 50000"/>
            </a:avLst>
          </a:prstGeom>
          <a:solidFill>
            <a:srgbClr val="8FB8B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029135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築16年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521227" y="4672584"/>
            <a:ext cx="256032" cy="256032"/>
          </a:xfrm>
          <a:prstGeom prst="diamond">
            <a:avLst/>
          </a:prstGeom>
          <a:solidFill>
            <a:srgbClr val="D994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86203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2030年度 改修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◆計画上の更新・改修時期　出典：長野市学校施設長寿命化計画（令和2年時点）。実施済み工事・最新計画の確認が必要です。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若穂の学校で大切にしたい5つの視点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6F2F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" y="1920240"/>
            <a:ext cx="1097280" cy="109728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674" y="2161642"/>
            <a:ext cx="614477" cy="6144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学び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多様な学習・交流機会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98064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F5F8F8"/>
          </a:solidFill>
          <a:ln/>
        </p:spPr>
      </p:sp>
      <p:sp>
        <p:nvSpPr>
          <p:cNvPr id="9" name="Shape 6"/>
          <p:cNvSpPr/>
          <p:nvPr/>
        </p:nvSpPr>
        <p:spPr>
          <a:xfrm>
            <a:off x="3282696" y="1920240"/>
            <a:ext cx="1097280" cy="109728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98" y="2161642"/>
            <a:ext cx="614477" cy="61447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89504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2980944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一人ひとりへの支援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047488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6F2F1"/>
          </a:solidFill>
          <a:ln/>
        </p:spPr>
      </p:sp>
      <p:sp>
        <p:nvSpPr>
          <p:cNvPr id="14" name="Shape 10"/>
          <p:cNvSpPr/>
          <p:nvPr/>
        </p:nvSpPr>
        <p:spPr>
          <a:xfrm>
            <a:off x="5532120" y="1920240"/>
            <a:ext cx="1097280" cy="109728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522" y="2161642"/>
            <a:ext cx="614477" cy="61447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38928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5230368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無理のない通学と防災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296912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F5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7781544" y="1920240"/>
            <a:ext cx="1097280" cy="109728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946" y="2161642"/>
            <a:ext cx="614477" cy="61447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88352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7479792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行事・交流・つながり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9546336" y="1554480"/>
            <a:ext cx="2066544" cy="4023360"/>
          </a:xfrm>
          <a:prstGeom prst="roundRect">
            <a:avLst>
              <a:gd name="adj" fmla="val 5310"/>
            </a:avLst>
          </a:prstGeom>
          <a:solidFill>
            <a:srgbClr val="E6F2F1"/>
          </a:solidFill>
          <a:ln/>
        </p:spPr>
      </p:sp>
      <p:sp>
        <p:nvSpPr>
          <p:cNvPr id="24" name="Shape 18"/>
          <p:cNvSpPr/>
          <p:nvPr/>
        </p:nvSpPr>
        <p:spPr>
          <a:xfrm>
            <a:off x="10030968" y="1920240"/>
            <a:ext cx="1097280" cy="109728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370" y="2161642"/>
            <a:ext cx="614477" cy="61447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37776" y="3291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持続性</a:t>
            </a:r>
            <a:endParaRPr lang="en-US" sz="2600" dirty="0"/>
          </a:p>
        </p:txBody>
      </p:sp>
      <p:sp>
        <p:nvSpPr>
          <p:cNvPr id="27" name="Text 20"/>
          <p:cNvSpPr txBox="1"/>
          <p:nvPr/>
        </p:nvSpPr>
        <p:spPr>
          <a:xfrm>
            <a:off x="9729216" y="397764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施設・人材・費用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考えられる選択肢を公平に比較する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5F8F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1E3A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現状維持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3小学校・中学校を維持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066544" cy="0"/>
          </a:xfrm>
          <a:prstGeom prst="line">
            <a:avLst/>
          </a:prstGeom>
          <a:noFill/>
          <a:ln w="12700">
            <a:solidFill>
              <a:srgbClr val="D6D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小規模化への対応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64992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5F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1737360"/>
            <a:ext cx="777240" cy="777240"/>
          </a:xfrm>
          <a:prstGeom prst="ellipse">
            <a:avLst/>
          </a:prstGeom>
          <a:solidFill>
            <a:srgbClr val="1E3A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9312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一部統合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対象校を段階的に統合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39312" y="4434840"/>
            <a:ext cx="2066544" cy="0"/>
          </a:xfrm>
          <a:prstGeom prst="line">
            <a:avLst/>
          </a:prstGeom>
          <a:noFill/>
          <a:ln w="12700">
            <a:solidFill>
              <a:srgbClr val="D6DE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39312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39312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地域間の公平性・通学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81344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5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5664" y="1737360"/>
            <a:ext cx="777240" cy="777240"/>
          </a:xfrm>
          <a:prstGeom prst="ellipse">
            <a:avLst/>
          </a:prstGeom>
          <a:solidFill>
            <a:srgbClr val="1E3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小学校3校統合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455664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小学校を1校に集約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5664" y="4434840"/>
            <a:ext cx="2066544" cy="0"/>
          </a:xfrm>
          <a:prstGeom prst="line">
            <a:avLst/>
          </a:prstGeom>
          <a:noFill/>
          <a:ln w="12700">
            <a:solidFill>
              <a:srgbClr val="D6DE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55664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校地・規模・通学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997696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5F8F8"/>
          </a:solidFill>
          <a:ln/>
        </p:spPr>
      </p:sp>
      <p:sp>
        <p:nvSpPr>
          <p:cNvPr id="28" name="Shape 26"/>
          <p:cNvSpPr/>
          <p:nvPr/>
        </p:nvSpPr>
        <p:spPr>
          <a:xfrm>
            <a:off x="9272016" y="1737360"/>
            <a:ext cx="777240" cy="777240"/>
          </a:xfrm>
          <a:prstGeom prst="ellipse">
            <a:avLst/>
          </a:prstGeom>
          <a:solidFill>
            <a:srgbClr val="1E3A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72016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9272016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小中一貫の制度活用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9272016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義務教育学校等を検討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72016" y="4434840"/>
            <a:ext cx="2066544" cy="0"/>
          </a:xfrm>
          <a:prstGeom prst="line">
            <a:avLst/>
          </a:prstGeom>
          <a:noFill/>
          <a:ln w="12700">
            <a:solidFill>
              <a:srgbClr val="D6DE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72016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7F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主な論点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72016" y="4864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教育課程・施設・通学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学校配置と教育制度は別の軸です。複数の方式を組み合わせることも可能です。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選択肢は同じ物差しで比較する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評価欄は、今後の調査結果をもとに記入していきます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  <a:gridCol w="1554480"/>
                <a:gridCol w="1554480"/>
                <a:gridCol w="1554480"/>
                <a:gridCol w="15544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視点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比べる内容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 現状維持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 一部統合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 3校統合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 小中一貫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7F7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教育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学習環境・交流・教員体制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7F7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通学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距離・時間・交通安全・費用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7F7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施設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安全性・整備費・維持管理費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7F7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地域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防災・行事・跡地利用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7F7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実現性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A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準備期間・財源・合意形成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6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各選択肢の評価は、通学・施設・費用などの調査結果をもとに、委員会と地域で確認しながら記入します。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義務教育学校という選択肢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9年間を見通した教育を一体的に進める学校制度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E6F2F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9339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期待される点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51560" y="2843784"/>
            <a:ext cx="164592" cy="164592"/>
          </a:xfrm>
          <a:prstGeom prst="ellipse">
            <a:avLst/>
          </a:prstGeom>
          <a:solidFill>
            <a:srgbClr val="1F7F7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1732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小中の学びの連続性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051560" y="3438144"/>
            <a:ext cx="164592" cy="164592"/>
          </a:xfrm>
          <a:prstGeom prst="ellipse">
            <a:avLst/>
          </a:prstGeom>
          <a:solidFill>
            <a:srgbClr val="1F7F7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41732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教員同士の連携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051560" y="4032504"/>
            <a:ext cx="164592" cy="164592"/>
          </a:xfrm>
          <a:prstGeom prst="ellipse">
            <a:avLst/>
          </a:prstGeom>
          <a:solidFill>
            <a:srgbClr val="1F7F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1732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異学年交流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1051560" y="4626864"/>
            <a:ext cx="164592" cy="164592"/>
          </a:xfrm>
          <a:prstGeom prst="ellipse">
            <a:avLst/>
          </a:prstGeom>
          <a:solidFill>
            <a:srgbClr val="1F7F7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1732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中学校進学時の不安軽減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172200" y="15087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FBF1E1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1783080"/>
            <a:ext cx="685800" cy="685800"/>
          </a:xfrm>
          <a:prstGeom prst="ellipse">
            <a:avLst/>
          </a:prstGeom>
          <a:solidFill>
            <a:srgbClr val="D9942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36" y="193395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406640" y="1783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慎重に考える点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6675120" y="2843784"/>
            <a:ext cx="164592" cy="164592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040880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人間関係の固定化への配慮</a:t>
            </a:r>
            <a:endParaRPr lang="en-US" sz="1900" dirty="0"/>
          </a:p>
        </p:txBody>
      </p:sp>
      <p:sp>
        <p:nvSpPr>
          <p:cNvPr id="22" name="Shape 18"/>
          <p:cNvSpPr/>
          <p:nvPr/>
        </p:nvSpPr>
        <p:spPr>
          <a:xfrm>
            <a:off x="6675120" y="3438144"/>
            <a:ext cx="164592" cy="164592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04088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年齢差の大きい子どもの生活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6675120" y="4032504"/>
            <a:ext cx="164592" cy="164592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040880" y="3886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通学距離と安全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6675120" y="4626864"/>
            <a:ext cx="164592" cy="164592"/>
          </a:xfrm>
          <a:prstGeom prst="ellipse">
            <a:avLst/>
          </a:prstGeom>
          <a:solidFill>
            <a:srgbClr val="D9942B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040880" y="4480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施設配置と運営体制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548640" y="53035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1E3A5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6868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義務教育学校＝必ず施設を一つに集約する、という意味ではありません。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再編を考えるなら、生活への影響も見える化する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5F8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81328"/>
            <a:ext cx="585216" cy="585216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88" y="1610076"/>
            <a:ext cx="327721" cy="3277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3716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137160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各地区からの所要時間・スクールバス・冬季対策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304288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DE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414016"/>
            <a:ext cx="585216" cy="585216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88" y="2542764"/>
            <a:ext cx="327721" cy="3277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30428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学校生活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230428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行事、部活動、放課後の過ごし方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3236976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5F8F8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346704"/>
            <a:ext cx="585216" cy="585216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88" y="3475452"/>
            <a:ext cx="327721" cy="3277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23697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3657600" y="3236976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学校行事・防災拠点・交流の継続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4169664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DE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279392"/>
            <a:ext cx="585216" cy="585216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88" y="440814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16966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3657600" y="4169664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統合後の校舎・跡地の使い方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48640" y="5102352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5F8F8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212080"/>
            <a:ext cx="585216" cy="585216"/>
          </a:xfrm>
          <a:prstGeom prst="ellipse">
            <a:avLst/>
          </a:prstGeom>
          <a:solidFill>
            <a:srgbClr val="1F7F7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88" y="5340828"/>
            <a:ext cx="327721" cy="3277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5102352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3657600" y="51023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整備費・運営費・保護者負担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2"/>
                </a:solidFill>
              </a:rPr>
              <a:t>今後の進め方｜検討ロードマップ（案）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286000" cy="822960"/>
          </a:xfrm>
          <a:prstGeom prst="chevron">
            <a:avLst/>
          </a:prstGeom>
          <a:solidFill>
            <a:srgbClr val="D994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R8 秋～冬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BF1E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今ここ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現状・課題の共有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住民意見の収集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9776" y="1737360"/>
            <a:ext cx="2286000" cy="822960"/>
          </a:xfrm>
          <a:prstGeom prst="chevron">
            <a:avLst/>
          </a:prstGeom>
          <a:solidFill>
            <a:srgbClr val="1F7F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45536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R9 前半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25496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5F8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54096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保護者調査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54096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通学・施設の実態把握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10912" y="1737360"/>
            <a:ext cx="2286000" cy="822960"/>
          </a:xfrm>
          <a:prstGeom prst="chevron">
            <a:avLst/>
          </a:prstGeom>
          <a:solidFill>
            <a:srgbClr val="1F7F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76672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R9 後半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56632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5F8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85232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複数案の比較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中間報告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42048" y="1737360"/>
            <a:ext cx="2286000" cy="822960"/>
          </a:xfrm>
          <a:prstGeom prst="chevron">
            <a:avLst/>
          </a:prstGeom>
          <a:solidFill>
            <a:srgbClr val="1F7F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07808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R10 前半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287768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5F8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16368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地区別対話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16368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地域の方向性の整理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73184" y="1737360"/>
            <a:ext cx="2286000" cy="822960"/>
          </a:xfrm>
          <a:prstGeom prst="chevron">
            <a:avLst/>
          </a:prstGeom>
          <a:solidFill>
            <a:srgbClr val="1E3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38944" y="17373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R10 後半以降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518904" y="278892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5F8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747504" y="33375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地域提言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747504" y="4206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市による検討・判断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5F8F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864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上記は提案スケジュールであり、正式決定ではありません。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皆さんと一緒に考えたいこと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950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子どもたちに、どんな学びを経験してほしいですか？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950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5087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15087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今の学校の良さで、残したいものは何ですか？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950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1089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通学・安全・地域活動で心配なことは何ですか？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7220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2950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108960"/>
            <a:ext cx="822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31089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判断の前に、どんな情報が必要ですか？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4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学校の数を減らすことではなく、未来の学びをつくること。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kaho">
  <a:themeElements>
    <a:clrScheme name="Wakaho">
      <a:dk1>
        <a:srgbClr val="1F2A30"/>
      </a:dk1>
      <a:lt1>
        <a:srgbClr val="FFFFFF"/>
      </a:lt1>
      <a:dk2>
        <a:srgbClr val="1E3A52"/>
      </a:dk2>
      <a:lt2>
        <a:srgbClr val="F5F8F8"/>
      </a:lt2>
      <a:accent1>
        <a:srgbClr val="1F7F7A"/>
      </a:accent1>
      <a:accent2>
        <a:srgbClr val="D9942B"/>
      </a:accent2>
      <a:accent3>
        <a:srgbClr val="1E3A52"/>
      </a:accent3>
      <a:accent4>
        <a:srgbClr val="4FA3A0"/>
      </a:accent4>
      <a:accent5>
        <a:srgbClr val="9AA6AD"/>
      </a:accent5>
      <a:accent6>
        <a:srgbClr val="B5543A"/>
      </a:accent6>
      <a:hlink>
        <a:srgbClr val="1F7F7A"/>
      </a:hlink>
      <a:folHlink>
        <a:srgbClr val="6B4E9B"/>
      </a:folHlink>
    </a:clrScheme>
    <a:fontScheme name="Wakaho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若穂地区 住民説明会資料（案）</dc:title>
  <dc:subject>PptxGenJS Presentation</dc:subject>
  <dc:creator>PptxGenJS</dc:creator>
  <cp:lastModifiedBy>PptxGenJS</cp:lastModifiedBy>
  <cp:revision>1</cp:revision>
  <dcterms:created xsi:type="dcterms:W3CDTF">2026-10-27T11:12:31Z</dcterms:created>
  <dcterms:modified xsi:type="dcterms:W3CDTF">2026-10-27T11:12:31Z</dcterms:modified>
</cp:coreProperties>
</file>
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令和8年度</c:v>
                </c:pt>
              </c:strCache>
            </c:strRef>
          </c:tx>
          <c:spPr>
            <a:solidFill>
              <a:srgbClr val="9AA59F"/>
            </a:solidFill>
            <a:effectLst/>
          </c:spPr>
          <c:invertIfNegative val="0"/>
          <c:dLbls>
            <c:numFmt formatCode="0&quot;人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綿内小</c:v>
                  </c:pt>
                  <c:pt idx="1">
                    <c:v>川田小</c:v>
                  </c:pt>
                  <c:pt idx="2">
                    <c:v>保科小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273</c:v>
                </c:pt>
                <c:pt idx="1">
                  <c:v>157</c:v>
                </c:pt>
                <c:pt idx="2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令和14年度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0&quot;人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綿内小</c:v>
                  </c:pt>
                  <c:pt idx="1">
                    <c:v>川田小</c:v>
                  </c:pt>
                  <c:pt idx="2">
                    <c:v>保科小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205</c:v>
                </c:pt>
                <c:pt idx="1">
                  <c:v>83</c:v>
                </c:pt>
                <c:pt idx="2">
                  <c:v>42</c:v>
                </c:pt>
              </c:numCache>
            </c:numRef>
          </c:val>
        </c:ser>
        <c:dLbls>
          <c:numFmt formatCode="0&quot;人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E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E2A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3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E2A2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2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26"/>
                </a:solidFill>
                <a:latin typeface="+mn-lt"/>
              </a:rPr>
              <a:t>3小学校の合計（人）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3小学校の合計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R8</c:v>
                  </c:pt>
                  <c:pt idx="1">
                    <c:v>R9</c:v>
                  </c:pt>
                  <c:pt idx="2">
                    <c:v>R10</c:v>
                  </c:pt>
                  <c:pt idx="3">
                    <c:v>R11</c:v>
                  </c:pt>
                  <c:pt idx="4">
                    <c:v>R12</c:v>
                  </c:pt>
                  <c:pt idx="5">
                    <c:v>R13</c:v>
                  </c:pt>
                  <c:pt idx="6">
                    <c:v>R14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484</c:v>
                </c:pt>
                <c:pt idx="1">
                  <c:v>463</c:v>
                </c:pt>
                <c:pt idx="2">
                  <c:v>439</c:v>
                </c:pt>
                <c:pt idx="3">
                  <c:v>424</c:v>
                </c:pt>
                <c:pt idx="4">
                  <c:v>403</c:v>
                </c:pt>
                <c:pt idx="5">
                  <c:v>373</c:v>
                </c:pt>
                <c:pt idx="6">
                  <c:v>330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35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3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若穂中 全校生徒数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R8</c:v>
                  </c:pt>
                  <c:pt idx="1">
                    <c:v>R9</c:v>
                  </c:pt>
                  <c:pt idx="2">
                    <c:v>R10</c:v>
                  </c:pt>
                  <c:pt idx="3">
                    <c:v>R11</c:v>
                  </c:pt>
                  <c:pt idx="4">
                    <c:v>R12</c:v>
                  </c:pt>
                  <c:pt idx="5">
                    <c:v>R13</c:v>
                  </c:pt>
                  <c:pt idx="6">
                    <c:v>R14</c:v>
                  </c:pt>
                  <c:pt idx="7">
                    <c:v>R15</c:v>
                  </c:pt>
                  <c:pt idx="8">
                    <c:v>R16</c:v>
                  </c:pt>
                  <c:pt idx="9">
                    <c:v>R17</c:v>
                  </c:pt>
                  <c:pt idx="10">
                    <c:v>R18</c:v>
                  </c:pt>
                  <c:pt idx="11">
                    <c:v>R19</c:v>
                  </c:pt>
                  <c:pt idx="12">
                    <c:v>R20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284</c:v>
                </c:pt>
                <c:pt idx="1">
                  <c:v>287</c:v>
                </c:pt>
                <c:pt idx="2">
                  <c:v>266</c:v>
                </c:pt>
                <c:pt idx="3">
                  <c:v>264</c:v>
                </c:pt>
                <c:pt idx="4">
                  <c:v>248</c:v>
                </c:pt>
                <c:pt idx="5">
                  <c:v>237</c:v>
                </c:pt>
                <c:pt idx="6">
                  <c:v>225</c:v>
                </c:pt>
                <c:pt idx="7">
                  <c:v>219</c:v>
                </c:pt>
                <c:pt idx="8">
                  <c:v>206</c:v>
                </c:pt>
                <c:pt idx="9">
                  <c:v>201</c:v>
                </c:pt>
                <c:pt idx="10">
                  <c:v>180</c:v>
                </c:pt>
                <c:pt idx="11">
                  <c:v>161</c:v>
                </c:pt>
                <c:pt idx="12">
                  <c:v>129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6635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35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表紙。委員会名・事務局名の表記は要確認。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距離は直線距離からの概算です。統合を検討する段階で、事務局が実際の通学路・スクールバスの経路で測り直す前提で示します。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災害の種類ごとの指定（洪水時に使えるかなど）は、市の最新一覧で事務局に確認のうえ埋めてください。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D46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9F"/>
                </a:solidFill>
              </a:rPr>
              <a:t>若穂地区 小中学校再編検討｜住民説明会資料（案）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4636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D46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8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5120640"/>
            <a:ext cx="8686800" cy="3840480"/>
          </a:xfrm>
          <a:prstGeom prst="ellipse">
            <a:avLst/>
          </a:prstGeom>
          <a:solidFill>
            <a:srgbClr val="2A5C47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5486400"/>
            <a:ext cx="9601200" cy="3657600"/>
          </a:xfrm>
          <a:prstGeom prst="ellipse">
            <a:avLst/>
          </a:prstGeom>
          <a:solidFill>
            <a:srgbClr val="3B7259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6035040"/>
            <a:ext cx="7315200" cy="2743200"/>
          </a:xfrm>
          <a:prstGeom prst="ellipse">
            <a:avLst/>
          </a:prstGeom>
          <a:solidFill>
            <a:srgbClr val="4E8A6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0D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若穂地区 小中学校再編検討｜住民説明会資料（案）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これからの若穂の学校を考える</a:t>
            </a:r>
            <a:endParaRPr lang="en-US" sz="5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学校の数を決める前に、どんな学びを残したいか。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D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子どもたちの未来と、地域のこれからを一緒に考えるために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0D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R8.○.○　若穂地区小中学校再編検討委員会／長野市教育委員会事務局 学校教育課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はじめに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今日の説明会で共有したいこと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78608" cy="356616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578608"/>
            <a:ext cx="512064" cy="5120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520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現状を知る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069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児童生徒数・施設の状況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364992" y="1554480"/>
            <a:ext cx="2578608" cy="356616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39312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639312" y="237744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2578608"/>
            <a:ext cx="512064" cy="5120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39312" y="3520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課題を共有する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639312" y="4069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教育環境・通学・地域への影響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181344" y="1554480"/>
            <a:ext cx="2578608" cy="356616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55664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6455664" y="237744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578608"/>
            <a:ext cx="512064" cy="5120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55664" y="3520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選択肢を比べる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6455664" y="4069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現状維持から再編まで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997696" y="1554480"/>
            <a:ext cx="2578608" cy="3566160"/>
          </a:xfrm>
          <a:prstGeom prst="roundRect">
            <a:avLst>
              <a:gd name="adj" fmla="val 4255"/>
            </a:avLst>
          </a:prstGeom>
          <a:solidFill>
            <a:srgbClr val="F4F7F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272016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9272016" y="237744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3184" y="2578608"/>
            <a:ext cx="512064" cy="51206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72016" y="3520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意見を寄せる</a:t>
            </a:r>
            <a:endParaRPr lang="en-US" sz="2200" dirty="0"/>
          </a:p>
        </p:txBody>
      </p:sp>
      <p:sp>
        <p:nvSpPr>
          <p:cNvPr id="27" name="Text 21"/>
          <p:cNvSpPr txBox="1"/>
          <p:nvPr/>
        </p:nvSpPr>
        <p:spPr>
          <a:xfrm>
            <a:off x="9272016" y="4069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大切にしたいこと・懸念点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CEBE6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402C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本資料は検討用の案です。再編方式・校地・実施時期が決定したことを示すものではありません。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はじめに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検討の出発点｜誰のための学校再編か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2E7D5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73736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5" y="1958645"/>
            <a:ext cx="563270" cy="5632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94560" y="146304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最優先は、子どもたちの学びと育ち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3291840"/>
            <a:ext cx="3566160" cy="256032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3566160"/>
            <a:ext cx="731520" cy="731520"/>
          </a:xfrm>
          <a:prstGeom prst="ellipse">
            <a:avLst/>
          </a:prstGeom>
          <a:solidFill>
            <a:srgbClr val="E8F2E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72709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8680" y="44805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小規模校の良さを残し、課題を丁寧に考える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297680" y="3291840"/>
            <a:ext cx="3566160" cy="256032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13" name="Shape 9"/>
          <p:cNvSpPr/>
          <p:nvPr/>
        </p:nvSpPr>
        <p:spPr>
          <a:xfrm>
            <a:off x="4617720" y="3566160"/>
            <a:ext cx="731520" cy="731520"/>
          </a:xfrm>
          <a:prstGeom prst="ellipse">
            <a:avLst/>
          </a:prstGeom>
          <a:solidFill>
            <a:srgbClr val="E8F2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8654" y="3727094"/>
            <a:ext cx="409651" cy="4096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17720" y="44805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通学の安全と、地域のつながりを守る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8046720" y="3291840"/>
            <a:ext cx="3566160" cy="2560320"/>
          </a:xfrm>
          <a:prstGeom prst="roundRect">
            <a:avLst>
              <a:gd name="adj" fmla="val 4286"/>
            </a:avLst>
          </a:prstGeom>
          <a:solidFill>
            <a:srgbClr val="F4F7F5"/>
          </a:solidFill>
          <a:ln/>
        </p:spPr>
      </p:sp>
      <p:sp>
        <p:nvSpPr>
          <p:cNvPr id="17" name="Shape 12"/>
          <p:cNvSpPr/>
          <p:nvPr/>
        </p:nvSpPr>
        <p:spPr>
          <a:xfrm>
            <a:off x="8366760" y="3566160"/>
            <a:ext cx="731520" cy="731520"/>
          </a:xfrm>
          <a:prstGeom prst="ellipse">
            <a:avLst/>
          </a:prstGeom>
          <a:solidFill>
            <a:srgbClr val="E8F2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7694" y="3727094"/>
            <a:ext cx="409651" cy="4096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66760" y="44805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結論を急がず、比較できる情報をそろえる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5120640"/>
            <a:ext cx="8686800" cy="3840480"/>
          </a:xfrm>
          <a:prstGeom prst="ellipse">
            <a:avLst/>
          </a:prstGeom>
          <a:solidFill>
            <a:srgbClr val="2A5C47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5486400"/>
            <a:ext cx="9601200" cy="3657600"/>
          </a:xfrm>
          <a:prstGeom prst="ellipse">
            <a:avLst/>
          </a:prstGeom>
          <a:solidFill>
            <a:srgbClr val="3B7259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6035040"/>
            <a:ext cx="7315200" cy="2743200"/>
          </a:xfrm>
          <a:prstGeom prst="ellipse">
            <a:avLst/>
          </a:prstGeom>
          <a:solidFill>
            <a:srgbClr val="4E8A6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972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01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現状を知る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0D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児童生徒数と、これからの見通し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01  現状を知る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若穂地区の3小学校｜児童数の見通し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令和8年度 → 令和14年度（教育委員会推計）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5087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00200"/>
            <a:ext cx="3840480" cy="1234440"/>
          </a:xfrm>
          <a:prstGeom prst="roundRect">
            <a:avLst>
              <a:gd name="adj" fmla="val 8889"/>
            </a:avLst>
          </a:prstGeom>
          <a:solidFill>
            <a:srgbClr val="F4F7F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0" y="1783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綿内小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240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273 → 205人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875520" y="1737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−25%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7772400" y="3017520"/>
            <a:ext cx="3840480" cy="1234440"/>
          </a:xfrm>
          <a:prstGeom prst="roundRect">
            <a:avLst>
              <a:gd name="adj" fmla="val 8889"/>
            </a:avLst>
          </a:prstGeom>
          <a:solidFill>
            <a:srgbClr val="FCEBE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0" y="32004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川田小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3657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157 → 83人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0" y="31546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−47%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7772400" y="4434840"/>
            <a:ext cx="3840480" cy="1234440"/>
          </a:xfrm>
          <a:prstGeom prst="roundRect">
            <a:avLst>
              <a:gd name="adj" fmla="val 8889"/>
            </a:avLst>
          </a:prstGeom>
          <a:solidFill>
            <a:srgbClr val="F4F7F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46720" y="4617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保科小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5074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54 → 42人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0" y="457200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−22%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出典：提供資料「児童数推計」（R8.5.1現在）。将来推計は変動します。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01  現状を知る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3小学校の児童数合計は約32％減少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令和8年度 → 令和14年度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600" b="1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484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297180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人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令和8年度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11880" y="1965960"/>
            <a:ext cx="914400" cy="548640"/>
          </a:xfrm>
          <a:prstGeom prst="rightArrow">
            <a:avLst/>
          </a:prstGeom>
          <a:solidFill>
            <a:srgbClr val="D7DFD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1645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330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人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令和14年度</a:t>
            </a:r>
            <a:endParaRPr lang="en-US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589520" y="1417320"/>
          <a:ext cx="4114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548640" y="43434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4F7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4526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学校ごとに異なる減少の姿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5029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川田小は約47％減、保科小では令和8年度の1年生が2人。綿内小も減少が続きます。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数値は提供推計（R8.5.1現在）の合計から算出。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01  現状を知る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若穂中学校も生徒数が減少する見通し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令和8年度 → 令和20年度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731520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50876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E8F2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412480" y="16459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約55%減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284人 → 129人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138160" y="3657600"/>
            <a:ext cx="3474720" cy="2148840"/>
          </a:xfrm>
          <a:prstGeom prst="roundRect">
            <a:avLst>
              <a:gd name="adj" fmla="val 5106"/>
            </a:avLst>
          </a:prstGeom>
          <a:solidFill>
            <a:srgbClr val="F4F7F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2480" y="3840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小学校だけでなく、地区全体の教育環境を考える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4800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小中9年間の学びの連続性も、検討する価値のある視点です。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出典：提供資料「生徒数推計」（R8.5.1現在）。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01  現状を知る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長野市全体と比べても、若穂の減少は大きい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小学校児童数：令和8年度を100としたときの令和14年度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若穂地区 3小学校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484人 → 330人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6583680" cy="548640"/>
          </a:xfrm>
          <a:prstGeom prst="rect">
            <a:avLst/>
          </a:prstGeom>
          <a:solidFill>
            <a:srgbClr val="EEF1F2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286000"/>
            <a:ext cx="4488873" cy="5486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68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20574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約32%減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長野市立小学校 全体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15,757人 → 12,561人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6583680" cy="548640"/>
          </a:xfrm>
          <a:prstGeom prst="rect">
            <a:avLst/>
          </a:prstGeom>
          <a:solidFill>
            <a:srgbClr val="EEF1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886200"/>
            <a:ext cx="5248309" cy="548640"/>
          </a:xfrm>
          <a:prstGeom prst="rect">
            <a:avLst/>
          </a:prstGeom>
          <a:solidFill>
            <a:srgbClr val="9AA59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886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80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約20%減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8F2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0749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地域固有の課題として、将来を見据えた検討が必要です。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出典：提供推計データ（R8.5.1現在）。減少率は四捨五入。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5120640"/>
            <a:ext cx="8686800" cy="3840480"/>
          </a:xfrm>
          <a:prstGeom prst="ellipse">
            <a:avLst/>
          </a:prstGeom>
          <a:solidFill>
            <a:srgbClr val="2A5C47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5486400"/>
            <a:ext cx="9601200" cy="3657600"/>
          </a:xfrm>
          <a:prstGeom prst="ellipse">
            <a:avLst/>
          </a:prstGeom>
          <a:solidFill>
            <a:srgbClr val="3B7259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6035040"/>
            <a:ext cx="7315200" cy="2743200"/>
          </a:xfrm>
          <a:prstGeom prst="ellipse">
            <a:avLst/>
          </a:prstGeom>
          <a:solidFill>
            <a:srgbClr val="4E8A6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972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02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課題を共有する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0D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学校の良さと課題、施設の状況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02  課題を共有する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小規模校の良さと、考えておきたい課題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E8F2E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691640"/>
            <a:ext cx="685800" cy="6858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84251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大切にしたい良さ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051560" y="2852928"/>
            <a:ext cx="164592" cy="16459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17320" y="26974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一人ひとりへの目配り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051560" y="3538728"/>
            <a:ext cx="164592" cy="16459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417320" y="33832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学年間の交流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051560" y="4224528"/>
            <a:ext cx="164592" cy="16459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17320" y="40690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地域と学校の近い関係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1051560" y="4910328"/>
            <a:ext cx="164592" cy="16459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417320" y="47548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安心できる人間関係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17220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CEBE6"/>
          </a:solidFill>
          <a:ln/>
        </p:spPr>
      </p:sp>
      <p:sp>
        <p:nvSpPr>
          <p:cNvPr id="17" name="Shape 14"/>
          <p:cNvSpPr/>
          <p:nvPr/>
        </p:nvSpPr>
        <p:spPr>
          <a:xfrm>
            <a:off x="6537960" y="1691640"/>
            <a:ext cx="685800" cy="685800"/>
          </a:xfrm>
          <a:prstGeom prst="ellipse">
            <a:avLst/>
          </a:prstGeom>
          <a:solidFill>
            <a:srgbClr val="D9573E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8836" y="1842516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0664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将来の検討課題</a:t>
            </a:r>
            <a:endParaRPr lang="en-US" sz="2400" dirty="0"/>
          </a:p>
        </p:txBody>
      </p:sp>
      <p:sp>
        <p:nvSpPr>
          <p:cNvPr id="20" name="Shape 16"/>
          <p:cNvSpPr/>
          <p:nvPr/>
        </p:nvSpPr>
        <p:spPr>
          <a:xfrm>
            <a:off x="6675120" y="2852928"/>
            <a:ext cx="164592" cy="164592"/>
          </a:xfrm>
          <a:prstGeom prst="ellipse">
            <a:avLst/>
          </a:prstGeom>
          <a:solidFill>
            <a:srgbClr val="D9573E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040880" y="26974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多様な意見に触れる機会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675120" y="3538728"/>
            <a:ext cx="164592" cy="164592"/>
          </a:xfrm>
          <a:prstGeom prst="ellipse">
            <a:avLst/>
          </a:prstGeom>
          <a:solidFill>
            <a:srgbClr val="D9573E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040880" y="33832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集団活動や行事の選択肢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6675120" y="4224528"/>
            <a:ext cx="164592" cy="164592"/>
          </a:xfrm>
          <a:prstGeom prst="ellipse">
            <a:avLst/>
          </a:prstGeom>
          <a:solidFill>
            <a:srgbClr val="D9573E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040880" y="40690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人間関係の固定化への配慮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675120" y="4910328"/>
            <a:ext cx="164592" cy="164592"/>
          </a:xfrm>
          <a:prstGeom prst="ellipse">
            <a:avLst/>
          </a:prstGeom>
          <a:solidFill>
            <a:srgbClr val="D9573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40880" y="47548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教員配置や教育活動の持続性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学校規模だけで教育の良し悪しが決まるものではありません。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02  課題を共有する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なぜ今、検討するのか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4F7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822960" cy="8229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" y="19184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70992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児童生徒数の減少は、今後も続く見通し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6517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小学生はR14までに約3割、中学生はR20までに5割以上減る推計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4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291" y="19184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43800" y="170992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施設の更新・改修を考える時期と重なる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543800" y="26517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4校すべてが2030年度までに計画上の更新・改修時期を迎える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37033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4F7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68680" y="4023360"/>
            <a:ext cx="822960" cy="8229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" y="42044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399592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通学や地域活動への影響を調べるには時間が必要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9377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調査・比較・地区ごとの対話に、2年ほどかけて丁寧に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37033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4F7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023360"/>
            <a:ext cx="822960" cy="8229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3291" y="4204411"/>
            <a:ext cx="460858" cy="46085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43800" y="399592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今の子どもと将来の子ども、両方の視点が必要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7543800" y="49377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在校生への配慮と、これから入学する子の環境の両立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02  課題を共有する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施設の状況も、判断材料のひとつ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建築年度と、計画上の更新・改修時期（長寿命化計画に記載された情報）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377440" y="1691640"/>
            <a:ext cx="0" cy="3749040"/>
          </a:xfrm>
          <a:prstGeom prst="line">
            <a:avLst/>
          </a:prstGeom>
          <a:noFill/>
          <a:ln w="12700">
            <a:solidFill>
              <a:srgbClr val="E7EC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11680" y="14630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1970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756074" y="1691640"/>
            <a:ext cx="0" cy="3749040"/>
          </a:xfrm>
          <a:prstGeom prst="line">
            <a:avLst/>
          </a:prstGeom>
          <a:noFill/>
          <a:ln w="12700">
            <a:solidFill>
              <a:srgbClr val="E7E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90314" y="14630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1980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34708" y="1691640"/>
            <a:ext cx="0" cy="3749040"/>
          </a:xfrm>
          <a:prstGeom prst="line">
            <a:avLst/>
          </a:prstGeom>
          <a:noFill/>
          <a:ln w="12700">
            <a:solidFill>
              <a:srgbClr val="E7EC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68948" y="14630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1990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13342" y="1691640"/>
            <a:ext cx="0" cy="3749040"/>
          </a:xfrm>
          <a:prstGeom prst="line">
            <a:avLst/>
          </a:prstGeom>
          <a:noFill/>
          <a:ln w="12700">
            <a:solidFill>
              <a:srgbClr val="E7EC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47582" y="14630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91975" y="1691640"/>
            <a:ext cx="0" cy="3749040"/>
          </a:xfrm>
          <a:prstGeom prst="line">
            <a:avLst/>
          </a:prstGeom>
          <a:noFill/>
          <a:ln w="12700">
            <a:solidFill>
              <a:srgbClr val="E7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26215" y="14630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2010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70609" y="1691640"/>
            <a:ext cx="0" cy="3749040"/>
          </a:xfrm>
          <a:prstGeom prst="line">
            <a:avLst/>
          </a:prstGeom>
          <a:noFill/>
          <a:ln w="12700">
            <a:solidFill>
              <a:srgbClr val="E7EC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04849" y="14630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2020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649243" y="1691640"/>
            <a:ext cx="0" cy="3749040"/>
          </a:xfrm>
          <a:prstGeom prst="line">
            <a:avLst/>
          </a:prstGeom>
          <a:noFill/>
          <a:ln w="12700">
            <a:solidFill>
              <a:srgbClr val="E7EC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83483" y="14630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2030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97790" y="1691640"/>
            <a:ext cx="0" cy="3749040"/>
          </a:xfrm>
          <a:prstGeom prst="line">
            <a:avLst/>
          </a:prstGeom>
          <a:noFill/>
          <a:ln w="19050">
            <a:solidFill>
              <a:srgbClr val="D9573E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9732030" y="5468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現在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川田小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196596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1973年度築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91030" y="2057400"/>
            <a:ext cx="7306759" cy="274320"/>
          </a:xfrm>
          <a:prstGeom prst="roundRect">
            <a:avLst>
              <a:gd name="adj" fmla="val 50000"/>
            </a:avLst>
          </a:prstGeom>
          <a:solidFill>
            <a:srgbClr val="1D463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28190" y="2057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築53年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56183" y="2066544"/>
            <a:ext cx="256032" cy="256032"/>
          </a:xfrm>
          <a:prstGeom prst="diamond">
            <a:avLst/>
          </a:prstGeom>
          <a:solidFill>
            <a:srgbClr val="D957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67079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3402C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2023年度 更新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2834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綿内小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283464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1980年度築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56074" y="2926080"/>
            <a:ext cx="6341716" cy="274320"/>
          </a:xfrm>
          <a:prstGeom prst="roundRect">
            <a:avLst>
              <a:gd name="adj" fmla="val 50000"/>
            </a:avLst>
          </a:prstGeom>
          <a:solidFill>
            <a:srgbClr val="9CC3A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93234" y="2926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築46年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521227" y="2935224"/>
            <a:ext cx="256032" cy="256032"/>
          </a:xfrm>
          <a:prstGeom prst="diamond">
            <a:avLst/>
          </a:prstGeom>
          <a:solidFill>
            <a:srgbClr val="D957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86203" y="3246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3402C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2030年度 更新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3703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若穂中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371600" y="37033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1987年度築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21118" y="3794760"/>
            <a:ext cx="5376672" cy="274320"/>
          </a:xfrm>
          <a:prstGeom prst="roundRect">
            <a:avLst>
              <a:gd name="adj" fmla="val 50000"/>
            </a:avLst>
          </a:prstGeom>
          <a:solidFill>
            <a:srgbClr val="9CC3A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58278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築39年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107637" y="3803904"/>
            <a:ext cx="256032" cy="256032"/>
          </a:xfrm>
          <a:prstGeom prst="diamond">
            <a:avLst/>
          </a:prstGeom>
          <a:solidFill>
            <a:srgbClr val="D957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418533" y="4114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3402C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2027年度 改修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保科小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1371600" y="45720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2010年度築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891975" y="4663440"/>
            <a:ext cx="2205814" cy="274320"/>
          </a:xfrm>
          <a:prstGeom prst="roundRect">
            <a:avLst>
              <a:gd name="adj" fmla="val 50000"/>
            </a:avLst>
          </a:prstGeom>
          <a:solidFill>
            <a:srgbClr val="9CC3A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029135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築16年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521227" y="4672584"/>
            <a:ext cx="256032" cy="256032"/>
          </a:xfrm>
          <a:prstGeom prst="diamond">
            <a:avLst/>
          </a:prstGeom>
          <a:solidFill>
            <a:srgbClr val="D957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86203" y="4983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3402C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2030年度 改修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◆計画上の更新・改修時期　出典：長野市学校施設長寿命化計画（令和2年時点）。実施済み工事・最新計画の確認が必要です。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5120640"/>
            <a:ext cx="8686800" cy="3840480"/>
          </a:xfrm>
          <a:prstGeom prst="ellipse">
            <a:avLst/>
          </a:prstGeom>
          <a:solidFill>
            <a:srgbClr val="2A5C47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5486400"/>
            <a:ext cx="9601200" cy="3657600"/>
          </a:xfrm>
          <a:prstGeom prst="ellipse">
            <a:avLst/>
          </a:prstGeom>
          <a:solidFill>
            <a:srgbClr val="3B7259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6035040"/>
            <a:ext cx="7315200" cy="2743200"/>
          </a:xfrm>
          <a:prstGeom prst="ellipse">
            <a:avLst/>
          </a:prstGeom>
          <a:solidFill>
            <a:srgbClr val="4E8A6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972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選択肢を比べる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0D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大切にしたい視点と、考えられる選択肢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  選択肢を比べる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若穂の学校で大切にしたい5つの視点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066544" cy="4023360"/>
          </a:xfrm>
          <a:prstGeom prst="roundRect">
            <a:avLst>
              <a:gd name="adj" fmla="val 5310"/>
            </a:avLst>
          </a:prstGeom>
          <a:solidFill>
            <a:srgbClr val="E8F2EC"/>
          </a:solidFill>
          <a:ln/>
        </p:spPr>
      </p:sp>
      <p:sp>
        <p:nvSpPr>
          <p:cNvPr id="5" name="Shape 3"/>
          <p:cNvSpPr/>
          <p:nvPr/>
        </p:nvSpPr>
        <p:spPr>
          <a:xfrm>
            <a:off x="1033272" y="192024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4674" y="2161642"/>
            <a:ext cx="614477" cy="6144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291840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学び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977640"/>
            <a:ext cx="1700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多様な学習・交流機会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98064" y="1554480"/>
            <a:ext cx="2066544" cy="4023360"/>
          </a:xfrm>
          <a:prstGeom prst="roundRect">
            <a:avLst>
              <a:gd name="adj" fmla="val 5310"/>
            </a:avLst>
          </a:prstGeom>
          <a:solidFill>
            <a:srgbClr val="F4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3282696" y="192024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098" y="2161642"/>
            <a:ext cx="614477" cy="61447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89504" y="3291840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安心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2980944" y="3977640"/>
            <a:ext cx="1700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一人ひとりへの支援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047488" y="1554480"/>
            <a:ext cx="2066544" cy="4023360"/>
          </a:xfrm>
          <a:prstGeom prst="roundRect">
            <a:avLst>
              <a:gd name="adj" fmla="val 5310"/>
            </a:avLst>
          </a:prstGeom>
          <a:solidFill>
            <a:srgbClr val="E8F2EC"/>
          </a:solidFill>
          <a:ln/>
        </p:spPr>
      </p:sp>
      <p:sp>
        <p:nvSpPr>
          <p:cNvPr id="15" name="Shape 11"/>
          <p:cNvSpPr/>
          <p:nvPr/>
        </p:nvSpPr>
        <p:spPr>
          <a:xfrm>
            <a:off x="5532120" y="192024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522" y="2161642"/>
            <a:ext cx="614477" cy="61447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38928" y="3291840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安全</a:t>
            </a:r>
            <a:endParaRPr lang="en-US" sz="2600" dirty="0"/>
          </a:p>
        </p:txBody>
      </p:sp>
      <p:sp>
        <p:nvSpPr>
          <p:cNvPr id="18" name="Text 13"/>
          <p:cNvSpPr txBox="1"/>
          <p:nvPr/>
        </p:nvSpPr>
        <p:spPr>
          <a:xfrm>
            <a:off x="5230368" y="3977640"/>
            <a:ext cx="1700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無理のない通学と防災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296912" y="1554480"/>
            <a:ext cx="2066544" cy="4023360"/>
          </a:xfrm>
          <a:prstGeom prst="roundRect">
            <a:avLst>
              <a:gd name="adj" fmla="val 5310"/>
            </a:avLst>
          </a:prstGeom>
          <a:solidFill>
            <a:srgbClr val="F4F7F5"/>
          </a:solidFill>
          <a:ln/>
        </p:spPr>
      </p:sp>
      <p:sp>
        <p:nvSpPr>
          <p:cNvPr id="20" name="Shape 15"/>
          <p:cNvSpPr/>
          <p:nvPr/>
        </p:nvSpPr>
        <p:spPr>
          <a:xfrm>
            <a:off x="7781544" y="192024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2946" y="2161642"/>
            <a:ext cx="614477" cy="61447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88352" y="3291840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地域</a:t>
            </a:r>
            <a:endParaRPr lang="en-US" sz="2600" dirty="0"/>
          </a:p>
        </p:txBody>
      </p:sp>
      <p:sp>
        <p:nvSpPr>
          <p:cNvPr id="23" name="Text 17"/>
          <p:cNvSpPr txBox="1"/>
          <p:nvPr/>
        </p:nvSpPr>
        <p:spPr>
          <a:xfrm>
            <a:off x="7479792" y="3977640"/>
            <a:ext cx="1700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行事・交流・つながり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9546336" y="1554480"/>
            <a:ext cx="2066544" cy="4023360"/>
          </a:xfrm>
          <a:prstGeom prst="roundRect">
            <a:avLst>
              <a:gd name="adj" fmla="val 5310"/>
            </a:avLst>
          </a:prstGeom>
          <a:solidFill>
            <a:srgbClr val="E8F2EC"/>
          </a:solidFill>
          <a:ln/>
        </p:spPr>
      </p:sp>
      <p:sp>
        <p:nvSpPr>
          <p:cNvPr id="25" name="Shape 19"/>
          <p:cNvSpPr/>
          <p:nvPr/>
        </p:nvSpPr>
        <p:spPr>
          <a:xfrm>
            <a:off x="10030968" y="192024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2370" y="2161642"/>
            <a:ext cx="614477" cy="61447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637776" y="3291840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持続性</a:t>
            </a:r>
            <a:endParaRPr lang="en-US" sz="2600" dirty="0"/>
          </a:p>
        </p:txBody>
      </p:sp>
      <p:sp>
        <p:nvSpPr>
          <p:cNvPr id="28" name="Text 21"/>
          <p:cNvSpPr txBox="1"/>
          <p:nvPr/>
        </p:nvSpPr>
        <p:spPr>
          <a:xfrm>
            <a:off x="9729216" y="3977640"/>
            <a:ext cx="1700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施設・人材・費用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  選択肢を比べる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考えられる選択肢を公平に比較する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15184" cy="4206240"/>
          </a:xfrm>
          <a:prstGeom prst="roundRect">
            <a:avLst>
              <a:gd name="adj" fmla="val 4196"/>
            </a:avLst>
          </a:prstGeom>
          <a:solidFill>
            <a:srgbClr val="F4F7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1D463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A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現状維持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3小学校・中学校を維持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2066544" cy="0"/>
          </a:xfrm>
          <a:prstGeom prst="line">
            <a:avLst/>
          </a:prstGeom>
          <a:noFill/>
          <a:ln w="12700">
            <a:solidFill>
              <a:srgbClr val="D7DF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572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主な論点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8646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小規模化への対応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4992" y="1463040"/>
            <a:ext cx="2615184" cy="4206240"/>
          </a:xfrm>
          <a:prstGeom prst="roundRect">
            <a:avLst>
              <a:gd name="adj" fmla="val 4196"/>
            </a:avLst>
          </a:prstGeom>
          <a:solidFill>
            <a:srgbClr val="F4F7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9312" y="1737360"/>
            <a:ext cx="777240" cy="777240"/>
          </a:xfrm>
          <a:prstGeom prst="ellipse">
            <a:avLst/>
          </a:prstGeom>
          <a:solidFill>
            <a:srgbClr val="1D463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B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一部統合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対象校を段階的に統合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39312" y="4434840"/>
            <a:ext cx="2066544" cy="0"/>
          </a:xfrm>
          <a:prstGeom prst="line">
            <a:avLst/>
          </a:prstGeom>
          <a:noFill/>
          <a:ln w="12700">
            <a:solidFill>
              <a:srgbClr val="D7DF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39312" y="4572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主な論点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639312" y="48646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地域間の公平性・通学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81344" y="1463040"/>
            <a:ext cx="2615184" cy="4206240"/>
          </a:xfrm>
          <a:prstGeom prst="roundRect">
            <a:avLst>
              <a:gd name="adj" fmla="val 4196"/>
            </a:avLst>
          </a:prstGeom>
          <a:solidFill>
            <a:srgbClr val="F4F7F5"/>
          </a:solidFill>
          <a:ln/>
        </p:spPr>
      </p:sp>
      <p:sp>
        <p:nvSpPr>
          <p:cNvPr id="21" name="Shape 19"/>
          <p:cNvSpPr/>
          <p:nvPr/>
        </p:nvSpPr>
        <p:spPr>
          <a:xfrm>
            <a:off x="6455664" y="1737360"/>
            <a:ext cx="777240" cy="777240"/>
          </a:xfrm>
          <a:prstGeom prst="ellipse">
            <a:avLst/>
          </a:prstGeom>
          <a:solidFill>
            <a:srgbClr val="1D46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55664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C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小学校3校統合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小学校を1校に集約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55664" y="4434840"/>
            <a:ext cx="2066544" cy="0"/>
          </a:xfrm>
          <a:prstGeom prst="line">
            <a:avLst/>
          </a:prstGeom>
          <a:noFill/>
          <a:ln w="12700">
            <a:solidFill>
              <a:srgbClr val="D7DF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55664" y="4572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主な論点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55664" y="48646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校地・規模・通学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997696" y="1463040"/>
            <a:ext cx="2615184" cy="4206240"/>
          </a:xfrm>
          <a:prstGeom prst="roundRect">
            <a:avLst>
              <a:gd name="adj" fmla="val 4196"/>
            </a:avLst>
          </a:prstGeom>
          <a:solidFill>
            <a:srgbClr val="F4F7F5"/>
          </a:solidFill>
          <a:ln/>
        </p:spPr>
      </p:sp>
      <p:sp>
        <p:nvSpPr>
          <p:cNvPr id="29" name="Shape 27"/>
          <p:cNvSpPr/>
          <p:nvPr/>
        </p:nvSpPr>
        <p:spPr>
          <a:xfrm>
            <a:off x="9272016" y="1737360"/>
            <a:ext cx="777240" cy="777240"/>
          </a:xfrm>
          <a:prstGeom prst="ellipse">
            <a:avLst/>
          </a:prstGeom>
          <a:solidFill>
            <a:srgbClr val="1D463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72016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D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小中一貫の制度活用</a:t>
            </a:r>
            <a:endParaRPr lang="en-US" sz="21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義務教育学校等を検討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272016" y="4434840"/>
            <a:ext cx="2066544" cy="0"/>
          </a:xfrm>
          <a:prstGeom prst="line">
            <a:avLst/>
          </a:prstGeom>
          <a:noFill/>
          <a:ln w="12700">
            <a:solidFill>
              <a:srgbClr val="D7DFD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72016" y="4572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主な論点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272016" y="48646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教育課程・施設・通学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学校配置と教育制度は別の軸です。複数の方式を組み合わせることも可能です。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  選択肢を比べる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選択肢は同じ物差しで比較する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評価欄は、今後の調査結果をもとに記入していきます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566160"/>
                <a:gridCol w="1554480"/>
                <a:gridCol w="1554480"/>
                <a:gridCol w="1554480"/>
                <a:gridCol w="155448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視点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比べる内容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A 現状維持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B 一部統合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C 3校統合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D 小中一貫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教育</a:t>
                      </a:r>
                      <a:endParaRPr lang="en-US" sz="18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学習環境・交流・教員体制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通学</a:t>
                      </a:r>
                      <a:endParaRPr lang="en-US" sz="18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距離・時間・交通安全・費用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施設</a:t>
                      </a:r>
                      <a:endParaRPr lang="en-US" sz="18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安全性・整備費・維持管理費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地域</a:t>
                      </a:r>
                      <a:endParaRPr lang="en-US" sz="18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防災・行事・跡地利用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実現性</a:t>
                      </a:r>
                      <a:endParaRPr lang="en-US" sz="18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準備期間・財源・合意形成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各選択肢の評価は、通学・施設・費用などの調査結果をもとに、委員会と地域で確認しながら記入します。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  選択肢を比べる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義務教育学校という選択肢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9年間を見通した教育を一体的に進める学校制度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440680" cy="3611880"/>
          </a:xfrm>
          <a:prstGeom prst="roundRect">
            <a:avLst>
              <a:gd name="adj" fmla="val 3038"/>
            </a:avLst>
          </a:prstGeom>
          <a:solidFill>
            <a:srgbClr val="E8F2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783080"/>
            <a:ext cx="685800" cy="6858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933956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308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期待される点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1051560" y="2843784"/>
            <a:ext cx="164592" cy="16459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417320" y="2697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小中の学びの連続性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051560" y="3438144"/>
            <a:ext cx="164592" cy="16459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417320" y="3291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教員同士の連携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1051560" y="4032504"/>
            <a:ext cx="164592" cy="16459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417320" y="3886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異学年交流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051560" y="4626864"/>
            <a:ext cx="164592" cy="16459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17320" y="4480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中学校進学時の不安軽減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172200" y="1508760"/>
            <a:ext cx="5440680" cy="3611880"/>
          </a:xfrm>
          <a:prstGeom prst="roundRect">
            <a:avLst>
              <a:gd name="adj" fmla="val 3038"/>
            </a:avLst>
          </a:prstGeom>
          <a:solidFill>
            <a:srgbClr val="FCEBE6"/>
          </a:solidFill>
          <a:ln/>
        </p:spPr>
      </p:sp>
      <p:sp>
        <p:nvSpPr>
          <p:cNvPr id="18" name="Shape 15"/>
          <p:cNvSpPr/>
          <p:nvPr/>
        </p:nvSpPr>
        <p:spPr>
          <a:xfrm>
            <a:off x="6537960" y="1783080"/>
            <a:ext cx="685800" cy="685800"/>
          </a:xfrm>
          <a:prstGeom prst="ellipse">
            <a:avLst/>
          </a:prstGeom>
          <a:solidFill>
            <a:srgbClr val="D9573E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8836" y="1933956"/>
            <a:ext cx="384048" cy="38404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40664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慎重に考える点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675120" y="2843784"/>
            <a:ext cx="164592" cy="164592"/>
          </a:xfrm>
          <a:prstGeom prst="ellipse">
            <a:avLst/>
          </a:prstGeom>
          <a:solidFill>
            <a:srgbClr val="D9573E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2697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人間関係の固定化への配慮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675120" y="3438144"/>
            <a:ext cx="164592" cy="164592"/>
          </a:xfrm>
          <a:prstGeom prst="ellipse">
            <a:avLst/>
          </a:prstGeom>
          <a:solidFill>
            <a:srgbClr val="D9573E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40880" y="3291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年齢差の大きい子どもの生活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6675120" y="4032504"/>
            <a:ext cx="164592" cy="164592"/>
          </a:xfrm>
          <a:prstGeom prst="ellipse">
            <a:avLst/>
          </a:prstGeom>
          <a:solidFill>
            <a:srgbClr val="D9573E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040880" y="3886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通学距離と安全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6675120" y="4626864"/>
            <a:ext cx="164592" cy="164592"/>
          </a:xfrm>
          <a:prstGeom prst="ellipse">
            <a:avLst/>
          </a:prstGeom>
          <a:solidFill>
            <a:srgbClr val="D9573E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7040880" y="4480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施設配置と運営体制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48640" y="530352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1D463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68680" y="5303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義務教育学校＝必ず施設を一つに集約する、という意味ではありません。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  選択肢を比べる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学校と学校の距離・移動時間の目安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各小学校の間、各小学校と若穂中の間（地図は位置関係を示す概略図）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760720" cy="4572000"/>
          </a:xfrm>
          <a:prstGeom prst="roundRect">
            <a:avLst>
              <a:gd name="adj" fmla="val 2400"/>
            </a:avLst>
          </a:prstGeom>
          <a:solidFill>
            <a:srgbClr val="F4F7F5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2770055" y="1960720"/>
            <a:ext cx="1587232" cy="1717474"/>
          </a:xfrm>
          <a:prstGeom prst="line">
            <a:avLst/>
          </a:prstGeom>
          <a:noFill/>
          <a:ln w="31750">
            <a:solidFill>
              <a:srgbClr val="2E7D5B"/>
            </a:solidFill>
            <a:prstDash val="solid"/>
            <a:headEnd type="triangl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08223" y="2664009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8223" y="266400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7608" y="3982326"/>
            <a:ext cx="1825956" cy="1567826"/>
          </a:xfrm>
          <a:prstGeom prst="line">
            <a:avLst/>
          </a:prstGeom>
          <a:noFill/>
          <a:ln w="31750">
            <a:solidFill>
              <a:srgbClr val="2E7D5B"/>
            </a:solidFill>
            <a:prstDash val="solid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45138" y="4610791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45138" y="46107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1631" y="2018465"/>
            <a:ext cx="243039" cy="3455734"/>
          </a:xfrm>
          <a:prstGeom prst="line">
            <a:avLst/>
          </a:prstGeom>
          <a:noFill/>
          <a:ln w="31750">
            <a:solidFill>
              <a:srgbClr val="2E7D5B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487702" y="3590885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87702" y="35908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H="1">
            <a:off x="3590462" y="1994488"/>
            <a:ext cx="814975" cy="1576137"/>
          </a:xfrm>
          <a:prstGeom prst="line">
            <a:avLst/>
          </a:prstGeom>
          <a:noFill/>
          <a:ln w="31750">
            <a:solidFill>
              <a:srgbClr val="D9573E"/>
            </a:solidFill>
            <a:prstDash val="dash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42502" y="2627109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573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42502" y="262710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flipH="1">
            <a:off x="2839776" y="3784144"/>
            <a:ext cx="431221" cy="36640"/>
          </a:xfrm>
          <a:prstGeom prst="line">
            <a:avLst/>
          </a:prstGeom>
          <a:noFill/>
          <a:ln w="31750">
            <a:solidFill>
              <a:srgbClr val="D9573E"/>
            </a:solidFill>
            <a:prstDash val="dash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899938" y="3647016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573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99938" y="3647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11749" y="3947928"/>
            <a:ext cx="1046233" cy="1562823"/>
          </a:xfrm>
          <a:prstGeom prst="line">
            <a:avLst/>
          </a:prstGeom>
          <a:noFill/>
          <a:ln w="31750">
            <a:solidFill>
              <a:srgbClr val="D9573E"/>
            </a:solidFill>
            <a:prstDash val="dash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979417" y="4573891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573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79417" y="45738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323354" y="1616670"/>
            <a:ext cx="365760" cy="365760"/>
          </a:xfrm>
          <a:prstGeom prst="ellipse">
            <a:avLst>
              <a:gd name="adj" fmla="val 15000"/>
            </a:avLst>
          </a:prstGeom>
          <a:solidFill>
            <a:srgbClr val="2E7D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2266" y="161667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綿内小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438228" y="3656483"/>
            <a:ext cx="365760" cy="365760"/>
          </a:xfrm>
          <a:prstGeom prst="ellipse">
            <a:avLst>
              <a:gd name="adj" fmla="val 15000"/>
            </a:avLst>
          </a:prstGeom>
          <a:solidFill>
            <a:srgbClr val="2E7D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95228" y="3656483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川田小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597185" y="5510235"/>
            <a:ext cx="365760" cy="365760"/>
          </a:xfrm>
          <a:prstGeom prst="ellipse">
            <a:avLst>
              <a:gd name="adj" fmla="val 15000"/>
            </a:avLst>
          </a:prstGeom>
          <a:solidFill>
            <a:srgbClr val="2E7D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36097" y="5510235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保科小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306785" y="3582684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D463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45697" y="358268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若穂中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22960" y="5760720"/>
            <a:ext cx="1005840" cy="0"/>
          </a:xfrm>
          <a:prstGeom prst="line">
            <a:avLst/>
          </a:prstGeom>
          <a:noFill/>
          <a:ln w="25400">
            <a:solidFill>
              <a:srgbClr val="56635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901952" y="56509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1km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532120" y="16002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↑ 北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1737360"/>
            <a:ext cx="411480" cy="0"/>
          </a:xfrm>
          <a:prstGeom prst="line">
            <a:avLst/>
          </a:prstGeom>
          <a:noFill/>
          <a:ln w="31750">
            <a:solidFill>
              <a:srgbClr val="2E7D5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298448" y="16184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小学校どうし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2960" y="2011680"/>
            <a:ext cx="411480" cy="0"/>
          </a:xfrm>
          <a:prstGeom prst="line">
            <a:avLst/>
          </a:prstGeom>
          <a:noFill/>
          <a:ln w="31750">
            <a:solidFill>
              <a:srgbClr val="D9573E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1298448" y="189280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小学校と若穂中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206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91640"/>
                <a:gridCol w="640080"/>
                <a:gridCol w="731520"/>
                <a:gridCol w="777240"/>
                <a:gridCol w="8686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No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区間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直線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(km)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道のり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(km)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車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徒歩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1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綿内小 ⇔ 川田小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2.8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約3.6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約9分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約55分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2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川田小 ⇔ 保科小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2.8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約3.7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約9分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約55分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3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綿内小 ⇔ 保科小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3.9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約5.1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約12分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約75分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73E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4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綿内小 ⇔ 若穂中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2.2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約2.9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約7分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約45分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73E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5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川田小 ⇔ 若穂中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0.9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約1.1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約3分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約15分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573E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6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保科小 ⇔ 若穂中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2.3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約3.0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約7分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約45分</a:t>
                      </a:r>
                      <a:endParaRPr lang="en-US" sz="13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6492240" y="470916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FCEBE6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675120" y="47548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402C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車は時速25km、徒歩は時速4km（小学生の目安）で概算。道のりは直線距離×1.3の目安です。実際の通学路での実測が必要です。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学校の位置：地図サービスの所在地情報から作図。道路・河川は省略。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  選択肢を比べる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小中学校は、すべて地域の避難所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災害時の役割も、学校のあり方を考える大事な視点です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  <a:gridCol w="2834640"/>
                <a:gridCol w="29260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学校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所在地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指定避難所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災害の種類ごとの指定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（洪水・土砂・地震など）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備考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63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綿内小学校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若穂綿内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◯</a:t>
                      </a:r>
                      <a:endParaRPr lang="en-US" sz="22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A59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要確認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—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川田小学校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若穂川田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◯</a:t>
                      </a:r>
                      <a:endParaRPr lang="en-US" sz="22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A59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要確認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—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保科小学校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若穂保科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◯</a:t>
                      </a:r>
                      <a:endParaRPr lang="en-US" sz="22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A59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要確認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児童センター併設、防災備蓄倉庫あり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若穂中学校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若穂川田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2E7D5B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◯</a:t>
                      </a:r>
                      <a:endParaRPr lang="en-US" sz="22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A59F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要確認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E2A26"/>
                          </a:solidFill>
                          <a:latin typeface="BIZ UDPゴシック" pitchFamily="34" charset="0"/>
                          <a:ea typeface="BIZ UDPゴシック" pitchFamily="34" charset="-122"/>
                          <a:cs typeface="BIZ UDPゴシック" pitchFamily="34" charset="-120"/>
                        </a:rPr>
                        <a:t>—</a:t>
                      </a:r>
                      <a:endParaRPr lang="en-US" sz="1600" dirty="0">
                        <a:latin typeface="BIZ UDPゴシック" charset="0"/>
                        <a:ea typeface="BIZ UDPゴシック" charset="0"/>
                        <a:cs typeface="BIZ UDPゴシック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F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8F2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48920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再編で使わなくなる校舎が出る場合は、避難所の機能をどう保つかを、地域と一緒に考える必要があります。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59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指定避難所：長野市学校施設長寿命化計画 添付資料（令和2年4月時点）。災害種別ごとの指定は、市「指定緊急避難場所・指定避難所一覧」（令和7年7月17日）で確認してください。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03  選択肢を比べる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再編を考えるなら、生活への影響も見える化する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804672"/>
          </a:xfrm>
          <a:prstGeom prst="roundRect">
            <a:avLst>
              <a:gd name="adj" fmla="val 13636"/>
            </a:avLst>
          </a:prstGeom>
          <a:solidFill>
            <a:srgbClr val="F4F7F5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481328"/>
            <a:ext cx="585216" cy="585216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988" y="1610076"/>
            <a:ext cx="327721" cy="3277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3716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通学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371600"/>
            <a:ext cx="7772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各地区からの所要時間・スクールバス・冬季対策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2304288"/>
            <a:ext cx="110642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7DFD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2414016"/>
            <a:ext cx="585216" cy="585216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988" y="2542764"/>
            <a:ext cx="327721" cy="3277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45920" y="2304288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学校生活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304288"/>
            <a:ext cx="7772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行事、部活動、放課後の過ごし方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3236976"/>
            <a:ext cx="11064240" cy="804672"/>
          </a:xfrm>
          <a:prstGeom prst="roundRect">
            <a:avLst>
              <a:gd name="adj" fmla="val 13636"/>
            </a:avLst>
          </a:prstGeom>
          <a:solidFill>
            <a:srgbClr val="F4F7F5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3346704"/>
            <a:ext cx="585216" cy="585216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988" y="3475452"/>
            <a:ext cx="327721" cy="32772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45920" y="3236976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地域</a:t>
            </a:r>
            <a:endParaRPr lang="en-US" sz="2100" dirty="0"/>
          </a:p>
        </p:txBody>
      </p:sp>
      <p:sp>
        <p:nvSpPr>
          <p:cNvPr id="18" name="Text 13"/>
          <p:cNvSpPr txBox="1"/>
          <p:nvPr/>
        </p:nvSpPr>
        <p:spPr>
          <a:xfrm>
            <a:off x="3657600" y="3236976"/>
            <a:ext cx="7772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学校行事・防災拠点・交流の継続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48640" y="4169664"/>
            <a:ext cx="1106424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7DFD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279392"/>
            <a:ext cx="585216" cy="585216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988" y="4408140"/>
            <a:ext cx="327721" cy="32772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45920" y="416966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施設</a:t>
            </a:r>
            <a:endParaRPr lang="en-US" sz="2100" dirty="0"/>
          </a:p>
        </p:txBody>
      </p:sp>
      <p:sp>
        <p:nvSpPr>
          <p:cNvPr id="23" name="Text 17"/>
          <p:cNvSpPr txBox="1"/>
          <p:nvPr/>
        </p:nvSpPr>
        <p:spPr>
          <a:xfrm>
            <a:off x="3657600" y="4169664"/>
            <a:ext cx="7772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統合後の校舎・跡地の使い方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102352"/>
            <a:ext cx="11064240" cy="804672"/>
          </a:xfrm>
          <a:prstGeom prst="roundRect">
            <a:avLst>
              <a:gd name="adj" fmla="val 13636"/>
            </a:avLst>
          </a:prstGeom>
          <a:solidFill>
            <a:srgbClr val="F4F7F5"/>
          </a:solidFill>
          <a:ln/>
        </p:spPr>
      </p:sp>
      <p:sp>
        <p:nvSpPr>
          <p:cNvPr id="25" name="Shape 19"/>
          <p:cNvSpPr/>
          <p:nvPr/>
        </p:nvSpPr>
        <p:spPr>
          <a:xfrm>
            <a:off x="777240" y="5212080"/>
            <a:ext cx="585216" cy="585216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988" y="5340828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45920" y="510235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費用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3657600" y="5102352"/>
            <a:ext cx="7772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A2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整備費・運営費・保護者負担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5120640"/>
            <a:ext cx="8686800" cy="3840480"/>
          </a:xfrm>
          <a:prstGeom prst="ellipse">
            <a:avLst/>
          </a:prstGeom>
          <a:solidFill>
            <a:srgbClr val="2A5C47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5486400"/>
            <a:ext cx="9601200" cy="3657600"/>
          </a:xfrm>
          <a:prstGeom prst="ellipse">
            <a:avLst/>
          </a:prstGeom>
          <a:solidFill>
            <a:srgbClr val="3B7259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6035040"/>
            <a:ext cx="7315200" cy="2743200"/>
          </a:xfrm>
          <a:prstGeom prst="ellipse">
            <a:avLst/>
          </a:prstGeom>
          <a:solidFill>
            <a:srgbClr val="4E8A6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972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04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意見を寄せる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0D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これからの進め方と、皆さんに考えてほしいこと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04  意見を寄せる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4636"/>
                </a:solidFill>
              </a:rPr>
              <a:t>今後の進め方｜検討ロードマップ（案）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822960"/>
          </a:xfrm>
          <a:prstGeom prst="chevron">
            <a:avLst/>
          </a:prstGeom>
          <a:solidFill>
            <a:srgbClr val="D957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R8 秋～冬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2788920"/>
            <a:ext cx="2057400" cy="2468880"/>
          </a:xfrm>
          <a:prstGeom prst="roundRect">
            <a:avLst>
              <a:gd name="adj" fmla="val 5333"/>
            </a:avLst>
          </a:prstGeom>
          <a:solidFill>
            <a:srgbClr val="FCEBE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926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今ここ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375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現状・課題の共有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住民意見の収集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79776" y="1737360"/>
            <a:ext cx="2286000" cy="822960"/>
          </a:xfrm>
          <a:prstGeom prst="chevron">
            <a:avLst/>
          </a:prstGeom>
          <a:solidFill>
            <a:srgbClr val="2E7D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45536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R9 前半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825496" y="2788920"/>
            <a:ext cx="2057400" cy="2468880"/>
          </a:xfrm>
          <a:prstGeom prst="roundRect">
            <a:avLst>
              <a:gd name="adj" fmla="val 5333"/>
            </a:avLst>
          </a:prstGeom>
          <a:solidFill>
            <a:srgbClr val="F4F7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54096" y="33375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保護者調査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054096" y="42062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通学・施設の実態把握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10912" y="1737360"/>
            <a:ext cx="2286000" cy="822960"/>
          </a:xfrm>
          <a:prstGeom prst="chevron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76672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R9 後半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56632" y="2788920"/>
            <a:ext cx="2057400" cy="2468880"/>
          </a:xfrm>
          <a:prstGeom prst="roundRect">
            <a:avLst>
              <a:gd name="adj" fmla="val 5333"/>
            </a:avLst>
          </a:prstGeom>
          <a:solidFill>
            <a:srgbClr val="F4F7F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85232" y="33375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複数案の比較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285232" y="42062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中間報告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242048" y="1737360"/>
            <a:ext cx="2286000" cy="822960"/>
          </a:xfrm>
          <a:prstGeom prst="chevron">
            <a:avLst/>
          </a:prstGeom>
          <a:solidFill>
            <a:srgbClr val="2E7D5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R10 前半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287768" y="2788920"/>
            <a:ext cx="2057400" cy="2468880"/>
          </a:xfrm>
          <a:prstGeom prst="roundRect">
            <a:avLst>
              <a:gd name="adj" fmla="val 5333"/>
            </a:avLst>
          </a:prstGeom>
          <a:solidFill>
            <a:srgbClr val="F4F7F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16368" y="33375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地区別対話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7516368" y="42062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地域の方向性の整理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473184" y="1737360"/>
            <a:ext cx="2286000" cy="822960"/>
          </a:xfrm>
          <a:prstGeom prst="chevron">
            <a:avLst/>
          </a:prstGeom>
          <a:solidFill>
            <a:srgbClr val="1D463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38944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R10 後半以降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518904" y="2788920"/>
            <a:ext cx="2057400" cy="2468880"/>
          </a:xfrm>
          <a:prstGeom prst="roundRect">
            <a:avLst>
              <a:gd name="adj" fmla="val 5333"/>
            </a:avLst>
          </a:prstGeom>
          <a:solidFill>
            <a:srgbClr val="F4F7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47504" y="33375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4636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地域提言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9747504" y="42062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市による検討・判断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548640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4F7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" y="54864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6635D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上記は提案スケジュールであり、正式決定ではありません。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皆さんと一緒に考えたいこと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2A5A4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822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Q1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子どもたちに、どんな学びを経験してほしいですか？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172200" y="15087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2A5A4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508760"/>
            <a:ext cx="822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Q2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360920" y="1508760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今の学校の良さで、残したいものは何ですか？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2A5A4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108960"/>
            <a:ext cx="822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Q3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108960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通学・安全・地域活動で心配なことは何ですか？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17220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2A5A4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3108960"/>
            <a:ext cx="822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Q4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108960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判断の前に、どんな情報が必要ですか？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73E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学校の数を減らすことではなく、未来の学びをつくること。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8A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ゴシック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若穂地区 住民説明会資料（案）</dc:title>
  <dc:subject>PptxGenJS Presentation</dc:subject>
  <dc:creator>PptxGenJS</dc:creator>
  <cp:lastModifiedBy>PptxGenJS</cp:lastModifiedBy>
  <cp:revision>1</cp:revision>
  <dcterms:created xsi:type="dcterms:W3CDTF">2026-10-27T12:38:08Z</dcterms:created>
  <dcterms:modified xsi:type="dcterms:W3CDTF">2026-10-27T12:38:08Z</dcterms:modified>
</cp:coreProperties>
</file>
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市全体の計画であり、若穂の学校をどうするかを決めたものではないことを、必ず口頭で伝える。施設総量20％縮減は学校に限らない公共施設全体の目標。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R11の4年「25」は写真からの読み取り値で、斜めに続く数値（R10の3年22人）と合わない。原本と照合すること。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3.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結論の前に、子どもたちにどんな学びを残したいか。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今の形を続ける案も含めて</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検討の出発点｜誰のための検討か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7607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◆計画上の時期（添付資料、令和2年4月時点）。改訂版（令和5年6月）では若穂中の6棟はすべて「長寿命化に適する」判定。</a:t>
            </a:r>
            <a:endParaRPr lang="en-US" sz="1200" dirty="0"/>
          </a:p>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工事する建物と時期は随時決めるとされています。小学校3校の最新の判定と工事状況は［市に確認中］。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長野市の計画に書かれていること</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長野市学校施設長寿命化計画（令和3年2月策定・令和5年6月改訂）から。若穂について決めたものではありません</a:t>
            </a:r>
            <a:endParaRPr lang="en-US" sz="1600" dirty="0"/>
          </a:p>
        </p:txBody>
      </p:sp>
      <p:sp>
        <p:nvSpPr>
          <p:cNvPr id="5" name="Shape 3"/>
          <p:cNvSpPr/>
          <p:nvPr/>
        </p:nvSpPr>
        <p:spPr>
          <a:xfrm>
            <a:off x="548640" y="1463040"/>
            <a:ext cx="3566160" cy="4206240"/>
          </a:xfrm>
          <a:prstGeom prst="roundRect">
            <a:avLst>
              <a:gd name="adj" fmla="val 3077"/>
            </a:avLst>
          </a:prstGeom>
          <a:solidFill>
            <a:srgbClr val="F4F7F5"/>
          </a:solidFill>
          <a:ln/>
        </p:spPr>
      </p:sp>
      <p:sp>
        <p:nvSpPr>
          <p:cNvPr id="6" name="Shape 4"/>
          <p:cNvSpPr/>
          <p:nvPr/>
        </p:nvSpPr>
        <p:spPr>
          <a:xfrm>
            <a:off x="822960" y="1645920"/>
            <a:ext cx="640080" cy="64008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8" name="Text 5"/>
          <p:cNvSpPr txBox="1"/>
          <p:nvPr/>
        </p:nvSpPr>
        <p:spPr>
          <a:xfrm>
            <a:off x="160020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建物の使い方</a:t>
            </a:r>
            <a:endParaRPr lang="en-US" sz="2000" dirty="0"/>
          </a:p>
        </p:txBody>
      </p:sp>
      <p:sp>
        <p:nvSpPr>
          <p:cNvPr id="9" name="Text 6"/>
          <p:cNvSpPr txBox="1"/>
          <p:nvPr/>
        </p:nvSpPr>
        <p:spPr>
          <a:xfrm>
            <a:off x="82296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建設から40年後に長寿命化改修</a:t>
            </a:r>
            <a:endParaRPr lang="en-US" sz="1700" dirty="0"/>
          </a:p>
        </p:txBody>
      </p:sp>
      <p:sp>
        <p:nvSpPr>
          <p:cNvPr id="10" name="Text 7"/>
          <p:cNvSpPr txBox="1"/>
          <p:nvPr/>
        </p:nvSpPr>
        <p:spPr>
          <a:xfrm>
            <a:off x="82296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その後40年程度使えるようにする（建て替えより費用を抑える）</a:t>
            </a:r>
            <a:endParaRPr lang="en-US" sz="1500" dirty="0"/>
          </a:p>
        </p:txBody>
      </p:sp>
      <p:sp>
        <p:nvSpPr>
          <p:cNvPr id="11" name="Text 8"/>
          <p:cNvSpPr txBox="1"/>
          <p:nvPr/>
        </p:nvSpPr>
        <p:spPr>
          <a:xfrm>
            <a:off x="82296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改修に適さない建物は建て替え</a:t>
            </a:r>
            <a:endParaRPr lang="en-US" sz="1700" dirty="0"/>
          </a:p>
        </p:txBody>
      </p:sp>
      <p:sp>
        <p:nvSpPr>
          <p:cNvPr id="12" name="Text 9"/>
          <p:cNvSpPr txBox="1"/>
          <p:nvPr/>
        </p:nvSpPr>
        <p:spPr>
          <a:xfrm>
            <a:off x="82296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改修前に建物の強さを調べて判断する</a:t>
            </a:r>
            <a:endParaRPr lang="en-US" sz="1500" dirty="0"/>
          </a:p>
        </p:txBody>
      </p:sp>
      <p:sp>
        <p:nvSpPr>
          <p:cNvPr id="13" name="Shape 10"/>
          <p:cNvSpPr/>
          <p:nvPr/>
        </p:nvSpPr>
        <p:spPr>
          <a:xfrm>
            <a:off x="4297680" y="1463040"/>
            <a:ext cx="3566160" cy="4206240"/>
          </a:xfrm>
          <a:prstGeom prst="roundRect">
            <a:avLst>
              <a:gd name="adj" fmla="val 3077"/>
            </a:avLst>
          </a:prstGeom>
          <a:solidFill>
            <a:srgbClr val="F4F7F5"/>
          </a:solidFill>
          <a:ln/>
        </p:spPr>
      </p:sp>
      <p:sp>
        <p:nvSpPr>
          <p:cNvPr id="14" name="Shape 11"/>
          <p:cNvSpPr/>
          <p:nvPr/>
        </p:nvSpPr>
        <p:spPr>
          <a:xfrm>
            <a:off x="4572000" y="1645920"/>
            <a:ext cx="640080" cy="640080"/>
          </a:xfrm>
          <a:prstGeom prst="ellipse">
            <a:avLst/>
          </a:prstGeom>
          <a:solidFill>
            <a:srgbClr val="2E7D5B"/>
          </a:solidFill>
          <a:ln/>
        </p:spPr>
      </p:sp>
      <p:pic>
        <p:nvPicPr>
          <p:cNvPr id="15" name="Image 1"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6" name="Text 12"/>
          <p:cNvSpPr txBox="1"/>
          <p:nvPr/>
        </p:nvSpPr>
        <p:spPr>
          <a:xfrm>
            <a:off x="534924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市全体の費用</a:t>
            </a:r>
            <a:endParaRPr lang="en-US" sz="2000" dirty="0"/>
          </a:p>
        </p:txBody>
      </p:sp>
      <p:sp>
        <p:nvSpPr>
          <p:cNvPr id="17" name="Text 13"/>
          <p:cNvSpPr txBox="1"/>
          <p:nvPr/>
        </p:nvSpPr>
        <p:spPr>
          <a:xfrm>
            <a:off x="457200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令和8年度以降、年平均58億円が必要</a:t>
            </a:r>
            <a:endParaRPr lang="en-US" sz="1700" dirty="0"/>
          </a:p>
        </p:txBody>
      </p:sp>
      <p:sp>
        <p:nvSpPr>
          <p:cNvPr id="18" name="Text 14"/>
          <p:cNvSpPr txBox="1"/>
          <p:nvPr/>
        </p:nvSpPr>
        <p:spPr>
          <a:xfrm>
            <a:off x="457200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令和5〜7年度（年30.4億円）より、年約28億円足りない見込み</a:t>
            </a:r>
            <a:endParaRPr lang="en-US" sz="1500" dirty="0"/>
          </a:p>
        </p:txBody>
      </p:sp>
      <p:sp>
        <p:nvSpPr>
          <p:cNvPr id="19" name="Text 15"/>
          <p:cNvSpPr txBox="1"/>
          <p:nvPr/>
        </p:nvSpPr>
        <p:spPr>
          <a:xfrm>
            <a:off x="457200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公共施設の総量を20年で20％減らす目標</a:t>
            </a:r>
            <a:endParaRPr lang="en-US" sz="1700" dirty="0"/>
          </a:p>
        </p:txBody>
      </p:sp>
      <p:sp>
        <p:nvSpPr>
          <p:cNvPr id="20" name="Text 16"/>
          <p:cNvSpPr txBox="1"/>
          <p:nvPr/>
        </p:nvSpPr>
        <p:spPr>
          <a:xfrm>
            <a:off x="457200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市の公共施設全体の方針（総合管理計画）</a:t>
            </a:r>
            <a:endParaRPr lang="en-US" sz="1500" dirty="0"/>
          </a:p>
        </p:txBody>
      </p:sp>
      <p:sp>
        <p:nvSpPr>
          <p:cNvPr id="21" name="Shape 17"/>
          <p:cNvSpPr/>
          <p:nvPr/>
        </p:nvSpPr>
        <p:spPr>
          <a:xfrm>
            <a:off x="8046720" y="1463040"/>
            <a:ext cx="3566160" cy="4206240"/>
          </a:xfrm>
          <a:prstGeom prst="roundRect">
            <a:avLst>
              <a:gd name="adj" fmla="val 3077"/>
            </a:avLst>
          </a:prstGeom>
          <a:solidFill>
            <a:srgbClr val="F4F7F5"/>
          </a:solidFill>
          <a:ln/>
        </p:spPr>
      </p:sp>
      <p:sp>
        <p:nvSpPr>
          <p:cNvPr id="22" name="Shape 18"/>
          <p:cNvSpPr/>
          <p:nvPr/>
        </p:nvSpPr>
        <p:spPr>
          <a:xfrm>
            <a:off x="8321040" y="1645920"/>
            <a:ext cx="640080" cy="640080"/>
          </a:xfrm>
          <a:prstGeom prst="ellipse">
            <a:avLst/>
          </a:prstGeom>
          <a:solidFill>
            <a:srgbClr val="2E7D5B"/>
          </a:solidFill>
          <a:ln/>
        </p:spPr>
      </p:sp>
      <p:pic>
        <p:nvPicPr>
          <p:cNvPr id="23" name="Image 2"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4" name="Text 19"/>
          <p:cNvSpPr txBox="1"/>
          <p:nvPr/>
        </p:nvSpPr>
        <p:spPr>
          <a:xfrm>
            <a:off x="909828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学校の配置の考え方</a:t>
            </a:r>
            <a:endParaRPr lang="en-US" sz="2000" dirty="0"/>
          </a:p>
        </p:txBody>
      </p:sp>
      <p:sp>
        <p:nvSpPr>
          <p:cNvPr id="25" name="Text 20"/>
          <p:cNvSpPr txBox="1"/>
          <p:nvPr/>
        </p:nvSpPr>
        <p:spPr>
          <a:xfrm>
            <a:off x="832104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統廃合も見据えて検討する</a:t>
            </a:r>
            <a:endParaRPr lang="en-US" sz="1700" dirty="0"/>
          </a:p>
        </p:txBody>
      </p:sp>
      <p:sp>
        <p:nvSpPr>
          <p:cNvPr id="26" name="Text 21"/>
          <p:cNvSpPr txBox="1"/>
          <p:nvPr/>
        </p:nvSpPr>
        <p:spPr>
          <a:xfrm>
            <a:off x="832104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各学校区の人口の動きを見極めながら</a:t>
            </a:r>
            <a:endParaRPr lang="en-US" sz="1500" dirty="0"/>
          </a:p>
        </p:txBody>
      </p:sp>
      <p:sp>
        <p:nvSpPr>
          <p:cNvPr id="27" name="Text 22"/>
          <p:cNvSpPr txBox="1"/>
          <p:nvPr/>
        </p:nvSpPr>
        <p:spPr>
          <a:xfrm>
            <a:off x="832104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地域に学校を残したい思いも受け止める</a:t>
            </a:r>
            <a:endParaRPr lang="en-US" sz="1700" dirty="0"/>
          </a:p>
        </p:txBody>
      </p:sp>
      <p:sp>
        <p:nvSpPr>
          <p:cNvPr id="28" name="Text 23"/>
          <p:cNvSpPr txBox="1"/>
          <p:nvPr/>
        </p:nvSpPr>
        <p:spPr>
          <a:xfrm>
            <a:off x="832104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例：小学校の低・中学年は地域で、高学年以上は大きな学校で学ぶ形の検討</a:t>
            </a:r>
            <a:endParaRPr lang="en-US" sz="1500" dirty="0"/>
          </a:p>
        </p:txBody>
      </p:sp>
      <p:sp>
        <p:nvSpPr>
          <p:cNvPr id="29" name="Text 24"/>
          <p:cNvSpPr txBox="1"/>
          <p:nvPr/>
        </p:nvSpPr>
        <p:spPr>
          <a:xfrm>
            <a:off x="548640" y="576072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市の方針も一つの前提として知ったうえで、若穂の子どもにとって何がよいかを、地域で考えます。</a:t>
            </a:r>
            <a:endParaRPr lang="en-US" sz="1600" dirty="0"/>
          </a:p>
        </p:txBody>
      </p:sp>
      <p:sp>
        <p:nvSpPr>
          <p:cNvPr id="30" name="Text 25"/>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出典：長野市学校施設長寿命化計画（長野市教育委員会事務局総務課、令和3年2月・令和5年6月改訂）第4章・第5章・第6章。</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どの選択肢でも、学校が地域の避難所として役割を果たせるかを、比べる視点に入れます。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どの選択肢でも、生活への影響を見える化する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目指すのは、子どもたちの未来の学びをつくること。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05</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参考資料</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学年ごとの見通しと、用語の説明</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綿内小｜学年ごとの児童数の見通し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273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265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205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川田小｜学年ごとの児童数の見通し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83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保科小｜学年ごとの児童数の見通し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用語の説明（1/2）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推計</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今の子どもの数などをもとにした将来の見込み。転入・転出で変わります。</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再編</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学校の配置や仕組みを見直すこと。今の形を続けることも含めて検討します。</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統合</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複数の学校を一つにまとめること。</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通学区域（学区）</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住んでいる場所ごとに決められた、通う学校の範囲。</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複式学級</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子どもが少ないときに、2つの学年を1つの学級にまとめたもの。</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小中一貫教育</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小学校と中学校が、9年間を見通して一緒に教育を進める取り組み。</a:t>
            </a:r>
            <a:endParaRPr lang="en-US" sz="1600" dirty="0"/>
          </a:p>
        </p:txBody>
      </p:sp>
      <p:sp>
        <p:nvSpPr>
          <p:cNvPr id="22" name="Shape 20"/>
          <p:cNvSpPr/>
          <p:nvPr/>
        </p:nvSpPr>
        <p:spPr>
          <a:xfrm>
            <a:off x="548640" y="4626864"/>
            <a:ext cx="5440680" cy="1005840"/>
          </a:xfrm>
          <a:prstGeom prst="roundRect">
            <a:avLst>
              <a:gd name="adj" fmla="val 10909"/>
            </a:avLst>
          </a:prstGeom>
          <a:solidFill>
            <a:srgbClr val="FFFFFF"/>
          </a:solidFill>
          <a:ln w="12700">
            <a:solidFill>
              <a:srgbClr val="D7DFDA"/>
            </a:solidFill>
            <a:prstDash val="solid"/>
          </a:ln>
        </p:spPr>
      </p:sp>
      <p:sp>
        <p:nvSpPr>
          <p:cNvPr id="23" name="Text 21"/>
          <p:cNvSpPr txBox="1"/>
          <p:nvPr/>
        </p:nvSpPr>
        <p:spPr>
          <a:xfrm>
            <a:off x="73152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義務教育学校</a:t>
            </a:r>
            <a:endParaRPr lang="en-US" sz="1700" dirty="0"/>
          </a:p>
        </p:txBody>
      </p:sp>
      <p:sp>
        <p:nvSpPr>
          <p:cNvPr id="24" name="Text 22"/>
          <p:cNvSpPr txBox="1"/>
          <p:nvPr/>
        </p:nvSpPr>
        <p:spPr>
          <a:xfrm>
            <a:off x="260604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小中9年間を一つの学校として教える学校。2016年度に始まった制度。</a:t>
            </a:r>
            <a:endParaRPr lang="en-US" sz="1600" dirty="0"/>
          </a:p>
        </p:txBody>
      </p:sp>
      <p:sp>
        <p:nvSpPr>
          <p:cNvPr id="25" name="Shape 23"/>
          <p:cNvSpPr/>
          <p:nvPr/>
        </p:nvSpPr>
        <p:spPr>
          <a:xfrm>
            <a:off x="6172200" y="4626864"/>
            <a:ext cx="5440680" cy="1005840"/>
          </a:xfrm>
          <a:prstGeom prst="roundRect">
            <a:avLst>
              <a:gd name="adj" fmla="val 10909"/>
            </a:avLst>
          </a:prstGeom>
          <a:solidFill>
            <a:srgbClr val="FFFFFF"/>
          </a:solidFill>
          <a:ln w="12700">
            <a:solidFill>
              <a:srgbClr val="D7DFDA"/>
            </a:solidFill>
            <a:prstDash val="solid"/>
          </a:ln>
        </p:spPr>
      </p:sp>
      <p:sp>
        <p:nvSpPr>
          <p:cNvPr id="26" name="Text 24"/>
          <p:cNvSpPr txBox="1"/>
          <p:nvPr/>
        </p:nvSpPr>
        <p:spPr>
          <a:xfrm>
            <a:off x="635508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中1ギャップ</a:t>
            </a:r>
            <a:endParaRPr lang="en-US" sz="1700" dirty="0"/>
          </a:p>
        </p:txBody>
      </p:sp>
      <p:sp>
        <p:nvSpPr>
          <p:cNvPr id="27" name="Text 25"/>
          <p:cNvSpPr txBox="1"/>
          <p:nvPr/>
        </p:nvSpPr>
        <p:spPr>
          <a:xfrm>
            <a:off x="822960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中学校に進んだときの環境の変化になじめず、つまずきやすくなること。</a:t>
            </a:r>
            <a:endParaRPr lang="en-US" sz="1600" dirty="0"/>
          </a:p>
        </p:txBody>
      </p:sp>
      <p:sp>
        <p:nvSpPr>
          <p:cNvPr id="28" name="Text 26"/>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用語の説明（2/2）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特別支援学級</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障がいのある子どものために、小中学校の中に置かれる少人数の学級。</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通級</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ふだんの学級に在籍しながら、一部の時間だけ別の教室で支援を受ける仕組み。</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指定緊急避難場所</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災害が迫ったときに、命を守るために逃げる場所。災害の種類ごとに指定されます。</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指定避難所</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災害で家に戻れない人が、しばらく過ごすために市が指定した施設。</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長寿命化計画</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建物を計画的に改修して、長く使うための市の計画。</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放課後児童クラブ</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保護者が働いている家庭などの小学生が、放課後を過ごす場。</a:t>
            </a:r>
            <a:endParaRPr lang="en-US" sz="1600" dirty="0"/>
          </a:p>
        </p:txBody>
      </p:sp>
      <p:sp>
        <p:nvSpPr>
          <p:cNvPr id="22" name="Text 20"/>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2026-10-27T22:59:54Z</dcterms:created>
  <dcterms:modified xsi:type="dcterms:W3CDTF">2026-10-27T22:59:54Z</dcterms:modified>
</cp:coreProperties>
</file>
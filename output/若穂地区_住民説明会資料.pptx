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マップの経路検索（2026年10月27日の夜、片方向）。徒歩は大人の速さ、車は夜の交通量での値で、朝の通学時間帯は長くなることがある。保科小へ向かう徒歩は約100mの上り（若穂中→保科小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R11の4年「25」は写真からの読み取り値で、斜めに続く数値（R10の3年22人）と合わない。原本と照合すること。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学校の数を決める前に、どんな学びを残したいか。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現状維持から再編まで</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検討の出発点｜誰のための学校再編か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840480"/>
            <a:ext cx="3017520" cy="91440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小学校だけでなく、地区全体の教育環境を考える</a:t>
            </a:r>
            <a:endParaRPr lang="en-US" sz="1700" dirty="0"/>
          </a:p>
        </p:txBody>
      </p:sp>
      <p:sp>
        <p:nvSpPr>
          <p:cNvPr id="11" name="Text 8"/>
          <p:cNvSpPr txBox="1"/>
          <p:nvPr/>
        </p:nvSpPr>
        <p:spPr>
          <a:xfrm>
            <a:off x="8412480" y="4800600"/>
            <a:ext cx="3017520" cy="8229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小中9年間の学びの連続性も、検討する価値のある視点です。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9AA59F"/>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◆計画上の更新・改修時期　出典：長野市学校施設長寿命化計画（令和2年時点）。実施済み工事・最新計画の確認が必要です。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各選択肢の評価は、通学・施設・費用などの調査結果をもとに、委員会と地域で確認しながら記入します。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50992"/>
            <a:ext cx="548640" cy="228600"/>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1km</a:t>
            </a:r>
            <a:endParaRPr lang="en-US" sz="11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200" b="1" dirty="0">
                <a:solidFill>
                  <a:srgbClr val="56635D"/>
                </a:solidFill>
                <a:latin typeface="BIZ UDPゴシック" pitchFamily="34" charset="0"/>
                <a:ea typeface="BIZ UDPゴシック" pitchFamily="34" charset="-122"/>
                <a:cs typeface="BIZ UDPゴシック" pitchFamily="34" charset="-120"/>
              </a:rPr>
              <a:t>↑ 北</a:t>
            </a:r>
            <a:endParaRPr lang="en-US" sz="12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18488"/>
            <a:ext cx="1280160" cy="237744"/>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小学校どうし</a:t>
            </a:r>
            <a:endParaRPr lang="en-US" sz="11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92808"/>
            <a:ext cx="1463040" cy="237744"/>
          </a:xfrm>
          <a:prstGeom prst="rect">
            <a:avLst/>
          </a:prstGeom>
          <a:noFill/>
          <a:ln/>
        </p:spPr>
        <p:txBody>
          <a:bodyPr wrap="square" lIns="0" tIns="0" rIns="0" bIns="0" rtlCol="0" anchor="t"/>
          <a:lstStyle/>
          <a:p>
            <a:pPr indent="0" marL="0">
              <a:buNone/>
            </a:pPr>
            <a:r>
              <a:rPr lang="en-US" sz="11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100" dirty="0"/>
          </a:p>
        </p:txBody>
      </p:sp>
      <p:sp>
        <p:nvSpPr>
          <p:cNvPr id="39" name="Text 37"/>
          <p:cNvSpPr txBox="1"/>
          <p:nvPr/>
        </p:nvSpPr>
        <p:spPr>
          <a:xfrm>
            <a:off x="822960" y="2240280"/>
            <a:ext cx="2560320" cy="5029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200" dirty="0"/>
          </a:p>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道のり・時間：Google マップの経路検索（2026年10月27日夜、片方向）。国の目安：文部科学省の適正規模・適正配置の手引（2015年）。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9AA59F"/>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再編で使わなくなる校舎が出る場合は、避難所の機能をどう保つかを、地域と一緒に考える必要があります。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再編を考えるなら、生活への影響も見える化する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再編の結論を待たずに、3校と中学校で試せること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中学校の先生による出前授業、小学6年生の中学校体験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学校の数を減らすことではなく、未来の学びをつくること。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05</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参考資料</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学年ごとの見通しと、用語の説明</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綿内小｜学年ごとの児童数の見通し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52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40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273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265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241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205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FCEBE6"/>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川田小｜学年ごとの児童数の見通し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E2A26"/>
                          </a:solidFill>
                          <a:latin typeface="BIZ UDPゴシック" pitchFamily="34" charset="0"/>
                          <a:ea typeface="BIZ UDPゴシック" pitchFamily="34" charset="-122"/>
                          <a:cs typeface="BIZ UDPゴシック" pitchFamily="34" charset="-120"/>
                        </a:rPr>
                        <a:t>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157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118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101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83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FCEBE6"/>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保科小｜学年ごとの児童数の見通し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同じ子どもたちは、1年ごとに右下へ1マスずつ進みます</a:t>
            </a:r>
            <a:endParaRPr lang="en-US" sz="16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463040"/>
                <a:gridCol w="1371600"/>
                <a:gridCol w="1371600"/>
                <a:gridCol w="1371600"/>
                <a:gridCol w="1371600"/>
                <a:gridCol w="1371600"/>
                <a:gridCol w="1371600"/>
                <a:gridCol w="1371600"/>
              </a:tblGrid>
              <a:tr h="640080">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学年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R8</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R9</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R10</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R11</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2029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R12</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2030</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R13</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R14</a:t>
                      </a:r>
                      <a:endParaRPr lang="en-US" sz="1800" dirty="0">
                        <a:latin typeface="BIZ UDPゴシック" charset="0"/>
                        <a:ea typeface="BIZ UDPゴシック" charset="0"/>
                        <a:cs typeface="BIZ UDPゴシック" charset="0"/>
                      </a:endParaRPr>
                    </a:p>
                    <a:p>
                      <a:pPr algn="ct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2032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1年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2年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3年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6年</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13</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11</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7</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c>
                  <a:txBody>
                    <a:bodyPr/>
                    <a:lstStyle/>
                    <a:p>
                      <a:pPr algn="ctr" indent="0" marL="0">
                        <a:buNone/>
                      </a:pPr>
                      <a:r>
                        <a:rPr lang="en-US" sz="1800" b="1" dirty="0">
                          <a:solidFill>
                            <a:srgbClr val="A3402C"/>
                          </a:solidFill>
                          <a:latin typeface="BIZ UDPゴシック" pitchFamily="34" charset="0"/>
                          <a:ea typeface="BIZ UDPゴシック" pitchFamily="34" charset="-122"/>
                          <a:cs typeface="BIZ UDPゴシック" pitchFamily="34" charset="-120"/>
                        </a:rPr>
                        <a:t>15</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CEBE6"/>
                    </a:solidFill>
                  </a:tcPr>
                </a:tc>
              </a:tr>
              <a:tr h="512064">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合計</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56</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48</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49</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44</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c>
                  <a:txBody>
                    <a:bodyPr/>
                    <a:lstStyle/>
                    <a:p>
                      <a:pPr algn="ctr" indent="0" marL="0">
                        <a:buNone/>
                      </a:pPr>
                      <a:r>
                        <a:rPr lang="en-US" sz="1800" b="1" dirty="0">
                          <a:solidFill>
                            <a:srgbClr val="1E2A26"/>
                          </a:solidFill>
                          <a:latin typeface="BIZ UDPゴシック" pitchFamily="34" charset="0"/>
                          <a:ea typeface="BIZ UDPゴシック" pitchFamily="34" charset="-122"/>
                          <a:cs typeface="BIZ UDPゴシック" pitchFamily="34" charset="-120"/>
                        </a:rPr>
                        <a:t>42</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E8F2EC"/>
                    </a:solidFill>
                  </a:tcPr>
                </a:tc>
              </a:tr>
            </a:tbl>
          </a:graphicData>
        </a:graphic>
      </p:graphicFrame>
      <p:sp>
        <p:nvSpPr>
          <p:cNvPr id="6" name="Shape 3"/>
          <p:cNvSpPr/>
          <p:nvPr/>
        </p:nvSpPr>
        <p:spPr>
          <a:xfrm>
            <a:off x="548640" y="5779008"/>
            <a:ext cx="274320" cy="201168"/>
          </a:xfrm>
          <a:prstGeom prst="rect">
            <a:avLst/>
          </a:prstGeom>
          <a:solidFill>
            <a:srgbClr val="FCEBE6"/>
          </a:solidFill>
          <a:ln w="12700">
            <a:solidFill>
              <a:srgbClr val="D7DFDA"/>
            </a:solidFill>
            <a:prstDash val="solid"/>
          </a:ln>
        </p:spPr>
      </p:sp>
      <p:sp>
        <p:nvSpPr>
          <p:cNvPr id="7" name="Text 4"/>
          <p:cNvSpPr txBox="1"/>
          <p:nvPr/>
        </p:nvSpPr>
        <p:spPr>
          <a:xfrm>
            <a:off x="914400" y="5742432"/>
            <a:ext cx="10058400" cy="27432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20人未満の学年（長野県の目安「学年20人程度」を下回る学年）</a:t>
            </a:r>
            <a:endParaRPr lang="en-US" sz="1400" dirty="0"/>
          </a:p>
        </p:txBody>
      </p:sp>
      <p:sp>
        <p:nvSpPr>
          <p:cNvPr id="8" name="Text 5"/>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出典：提供資料「児童数推計」（R8.5.1現在、長野市教育委員会）。将来推計は変動します。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用語の説明（1/2）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推計</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今の子どもの数などをもとにした将来の見込み。転入・転出で変わります。</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再編</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学校の配置や仕組みを見直すこと。統合や通学区域の変更なども含みます。</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統合</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複数の学校を一つにまとめること。</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通学区域（学区）</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住んでいる場所ごとに決められた、通う学校の範囲。</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複式学級</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子どもが少ないときに、2つの学年を1つの学級にまとめたもの。</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小中一貫教育</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小学校と中学校が、9年間を見通して一緒に教育を進める取り組み。</a:t>
            </a:r>
            <a:endParaRPr lang="en-US" sz="1600" dirty="0"/>
          </a:p>
        </p:txBody>
      </p:sp>
      <p:sp>
        <p:nvSpPr>
          <p:cNvPr id="22" name="Shape 20"/>
          <p:cNvSpPr/>
          <p:nvPr/>
        </p:nvSpPr>
        <p:spPr>
          <a:xfrm>
            <a:off x="548640" y="4626864"/>
            <a:ext cx="5440680" cy="1005840"/>
          </a:xfrm>
          <a:prstGeom prst="roundRect">
            <a:avLst>
              <a:gd name="adj" fmla="val 10909"/>
            </a:avLst>
          </a:prstGeom>
          <a:solidFill>
            <a:srgbClr val="FFFFFF"/>
          </a:solidFill>
          <a:ln w="12700">
            <a:solidFill>
              <a:srgbClr val="D7DFDA"/>
            </a:solidFill>
            <a:prstDash val="solid"/>
          </a:ln>
        </p:spPr>
      </p:sp>
      <p:sp>
        <p:nvSpPr>
          <p:cNvPr id="23" name="Text 21"/>
          <p:cNvSpPr txBox="1"/>
          <p:nvPr/>
        </p:nvSpPr>
        <p:spPr>
          <a:xfrm>
            <a:off x="73152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義務教育学校</a:t>
            </a:r>
            <a:endParaRPr lang="en-US" sz="1700" dirty="0"/>
          </a:p>
        </p:txBody>
      </p:sp>
      <p:sp>
        <p:nvSpPr>
          <p:cNvPr id="24" name="Text 22"/>
          <p:cNvSpPr txBox="1"/>
          <p:nvPr/>
        </p:nvSpPr>
        <p:spPr>
          <a:xfrm>
            <a:off x="260604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小中9年間を一つの学校として教える学校。2016年度に始まった制度。</a:t>
            </a:r>
            <a:endParaRPr lang="en-US" sz="1600" dirty="0"/>
          </a:p>
        </p:txBody>
      </p:sp>
      <p:sp>
        <p:nvSpPr>
          <p:cNvPr id="25" name="Shape 23"/>
          <p:cNvSpPr/>
          <p:nvPr/>
        </p:nvSpPr>
        <p:spPr>
          <a:xfrm>
            <a:off x="6172200" y="4626864"/>
            <a:ext cx="5440680" cy="1005840"/>
          </a:xfrm>
          <a:prstGeom prst="roundRect">
            <a:avLst>
              <a:gd name="adj" fmla="val 10909"/>
            </a:avLst>
          </a:prstGeom>
          <a:solidFill>
            <a:srgbClr val="FFFFFF"/>
          </a:solidFill>
          <a:ln w="12700">
            <a:solidFill>
              <a:srgbClr val="D7DFDA"/>
            </a:solidFill>
            <a:prstDash val="solid"/>
          </a:ln>
        </p:spPr>
      </p:sp>
      <p:sp>
        <p:nvSpPr>
          <p:cNvPr id="26" name="Text 24"/>
          <p:cNvSpPr txBox="1"/>
          <p:nvPr/>
        </p:nvSpPr>
        <p:spPr>
          <a:xfrm>
            <a:off x="6355080" y="4626864"/>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中1ギャップ</a:t>
            </a:r>
            <a:endParaRPr lang="en-US" sz="1700" dirty="0"/>
          </a:p>
        </p:txBody>
      </p:sp>
      <p:sp>
        <p:nvSpPr>
          <p:cNvPr id="27" name="Text 25"/>
          <p:cNvSpPr txBox="1"/>
          <p:nvPr/>
        </p:nvSpPr>
        <p:spPr>
          <a:xfrm>
            <a:off x="8229600" y="4626864"/>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中学校に進んだときの環境の変化になじめず、つまずきやすくなること。</a:t>
            </a:r>
            <a:endParaRPr lang="en-US" sz="1600" dirty="0"/>
          </a:p>
        </p:txBody>
      </p:sp>
      <p:sp>
        <p:nvSpPr>
          <p:cNvPr id="28" name="Text 26"/>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参考資料</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用語の説明（2/2）</a:t>
            </a:r>
            <a:endParaRPr lang="en-US" sz="3000" dirty="0"/>
          </a:p>
        </p:txBody>
      </p:sp>
      <p:sp>
        <p:nvSpPr>
          <p:cNvPr id="4" name="Shape 2"/>
          <p:cNvSpPr/>
          <p:nvPr/>
        </p:nvSpPr>
        <p:spPr>
          <a:xfrm>
            <a:off x="548640" y="1280160"/>
            <a:ext cx="5440680" cy="1005840"/>
          </a:xfrm>
          <a:prstGeom prst="roundRect">
            <a:avLst>
              <a:gd name="adj" fmla="val 10909"/>
            </a:avLst>
          </a:prstGeom>
          <a:solidFill>
            <a:srgbClr val="F4F7F5"/>
          </a:solidFill>
          <a:ln/>
        </p:spPr>
      </p:sp>
      <p:sp>
        <p:nvSpPr>
          <p:cNvPr id="5" name="Text 3"/>
          <p:cNvSpPr txBox="1"/>
          <p:nvPr/>
        </p:nvSpPr>
        <p:spPr>
          <a:xfrm>
            <a:off x="73152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特別支援学級</a:t>
            </a:r>
            <a:endParaRPr lang="en-US" sz="1700" dirty="0"/>
          </a:p>
        </p:txBody>
      </p:sp>
      <p:sp>
        <p:nvSpPr>
          <p:cNvPr id="6" name="Text 4"/>
          <p:cNvSpPr txBox="1"/>
          <p:nvPr/>
        </p:nvSpPr>
        <p:spPr>
          <a:xfrm>
            <a:off x="260604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障がいのある子どものために、小中学校の中に置かれる少人数の学級。</a:t>
            </a:r>
            <a:endParaRPr lang="en-US" sz="1600" dirty="0"/>
          </a:p>
        </p:txBody>
      </p:sp>
      <p:sp>
        <p:nvSpPr>
          <p:cNvPr id="7" name="Shape 5"/>
          <p:cNvSpPr/>
          <p:nvPr/>
        </p:nvSpPr>
        <p:spPr>
          <a:xfrm>
            <a:off x="6172200" y="1280160"/>
            <a:ext cx="5440680" cy="1005840"/>
          </a:xfrm>
          <a:prstGeom prst="roundRect">
            <a:avLst>
              <a:gd name="adj" fmla="val 10909"/>
            </a:avLst>
          </a:prstGeom>
          <a:solidFill>
            <a:srgbClr val="F4F7F5"/>
          </a:solidFill>
          <a:ln/>
        </p:spPr>
      </p:sp>
      <p:sp>
        <p:nvSpPr>
          <p:cNvPr id="8" name="Text 6"/>
          <p:cNvSpPr txBox="1"/>
          <p:nvPr/>
        </p:nvSpPr>
        <p:spPr>
          <a:xfrm>
            <a:off x="6355080" y="1280160"/>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通級</a:t>
            </a:r>
            <a:endParaRPr lang="en-US" sz="1700" dirty="0"/>
          </a:p>
        </p:txBody>
      </p:sp>
      <p:sp>
        <p:nvSpPr>
          <p:cNvPr id="9" name="Text 7"/>
          <p:cNvSpPr txBox="1"/>
          <p:nvPr/>
        </p:nvSpPr>
        <p:spPr>
          <a:xfrm>
            <a:off x="8229600" y="1280160"/>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ふだんの学級に在籍しながら、一部の時間だけ別の教室で支援を受ける仕組み。</a:t>
            </a:r>
            <a:endParaRPr lang="en-US" sz="1600" dirty="0"/>
          </a:p>
        </p:txBody>
      </p:sp>
      <p:sp>
        <p:nvSpPr>
          <p:cNvPr id="10" name="Shape 8"/>
          <p:cNvSpPr/>
          <p:nvPr/>
        </p:nvSpPr>
        <p:spPr>
          <a:xfrm>
            <a:off x="548640" y="2395728"/>
            <a:ext cx="5440680" cy="1005840"/>
          </a:xfrm>
          <a:prstGeom prst="roundRect">
            <a:avLst>
              <a:gd name="adj" fmla="val 10909"/>
            </a:avLst>
          </a:prstGeom>
          <a:solidFill>
            <a:srgbClr val="FFFFFF"/>
          </a:solidFill>
          <a:ln w="12700">
            <a:solidFill>
              <a:srgbClr val="D7DFDA"/>
            </a:solidFill>
            <a:prstDash val="solid"/>
          </a:ln>
        </p:spPr>
      </p:sp>
      <p:sp>
        <p:nvSpPr>
          <p:cNvPr id="11" name="Text 9"/>
          <p:cNvSpPr txBox="1"/>
          <p:nvPr/>
        </p:nvSpPr>
        <p:spPr>
          <a:xfrm>
            <a:off x="73152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指定緊急避難場所</a:t>
            </a:r>
            <a:endParaRPr lang="en-US" sz="1700" dirty="0"/>
          </a:p>
        </p:txBody>
      </p:sp>
      <p:sp>
        <p:nvSpPr>
          <p:cNvPr id="12" name="Text 10"/>
          <p:cNvSpPr txBox="1"/>
          <p:nvPr/>
        </p:nvSpPr>
        <p:spPr>
          <a:xfrm>
            <a:off x="260604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災害が迫ったときに、命を守るために逃げる場所。災害の種類ごとに指定されます。</a:t>
            </a:r>
            <a:endParaRPr lang="en-US" sz="1600" dirty="0"/>
          </a:p>
        </p:txBody>
      </p:sp>
      <p:sp>
        <p:nvSpPr>
          <p:cNvPr id="13" name="Shape 11"/>
          <p:cNvSpPr/>
          <p:nvPr/>
        </p:nvSpPr>
        <p:spPr>
          <a:xfrm>
            <a:off x="6172200" y="2395728"/>
            <a:ext cx="5440680" cy="1005840"/>
          </a:xfrm>
          <a:prstGeom prst="roundRect">
            <a:avLst>
              <a:gd name="adj" fmla="val 10909"/>
            </a:avLst>
          </a:prstGeom>
          <a:solidFill>
            <a:srgbClr val="FFFFFF"/>
          </a:solidFill>
          <a:ln w="12700">
            <a:solidFill>
              <a:srgbClr val="D7DFDA"/>
            </a:solidFill>
            <a:prstDash val="solid"/>
          </a:ln>
        </p:spPr>
      </p:sp>
      <p:sp>
        <p:nvSpPr>
          <p:cNvPr id="14" name="Text 12"/>
          <p:cNvSpPr txBox="1"/>
          <p:nvPr/>
        </p:nvSpPr>
        <p:spPr>
          <a:xfrm>
            <a:off x="6355080" y="2395728"/>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指定避難所</a:t>
            </a:r>
            <a:endParaRPr lang="en-US" sz="1700" dirty="0"/>
          </a:p>
        </p:txBody>
      </p:sp>
      <p:sp>
        <p:nvSpPr>
          <p:cNvPr id="15" name="Text 13"/>
          <p:cNvSpPr txBox="1"/>
          <p:nvPr/>
        </p:nvSpPr>
        <p:spPr>
          <a:xfrm>
            <a:off x="8229600" y="2395728"/>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災害で家に戻れない人が、しばらく過ごすために市が指定した施設。</a:t>
            </a:r>
            <a:endParaRPr lang="en-US" sz="1600" dirty="0"/>
          </a:p>
        </p:txBody>
      </p:sp>
      <p:sp>
        <p:nvSpPr>
          <p:cNvPr id="16" name="Shape 14"/>
          <p:cNvSpPr/>
          <p:nvPr/>
        </p:nvSpPr>
        <p:spPr>
          <a:xfrm>
            <a:off x="548640" y="3511296"/>
            <a:ext cx="5440680" cy="1005840"/>
          </a:xfrm>
          <a:prstGeom prst="roundRect">
            <a:avLst>
              <a:gd name="adj" fmla="val 10909"/>
            </a:avLst>
          </a:prstGeom>
          <a:solidFill>
            <a:srgbClr val="F4F7F5"/>
          </a:solidFill>
          <a:ln/>
        </p:spPr>
      </p:sp>
      <p:sp>
        <p:nvSpPr>
          <p:cNvPr id="17" name="Text 15"/>
          <p:cNvSpPr txBox="1"/>
          <p:nvPr/>
        </p:nvSpPr>
        <p:spPr>
          <a:xfrm>
            <a:off x="73152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長寿命化計画</a:t>
            </a:r>
            <a:endParaRPr lang="en-US" sz="1700" dirty="0"/>
          </a:p>
        </p:txBody>
      </p:sp>
      <p:sp>
        <p:nvSpPr>
          <p:cNvPr id="18" name="Text 16"/>
          <p:cNvSpPr txBox="1"/>
          <p:nvPr/>
        </p:nvSpPr>
        <p:spPr>
          <a:xfrm>
            <a:off x="260604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建物を計画的に改修して、長く使うための市の計画。</a:t>
            </a:r>
            <a:endParaRPr lang="en-US" sz="1600" dirty="0"/>
          </a:p>
        </p:txBody>
      </p:sp>
      <p:sp>
        <p:nvSpPr>
          <p:cNvPr id="19" name="Shape 17"/>
          <p:cNvSpPr/>
          <p:nvPr/>
        </p:nvSpPr>
        <p:spPr>
          <a:xfrm>
            <a:off x="6172200" y="3511296"/>
            <a:ext cx="5440680" cy="1005840"/>
          </a:xfrm>
          <a:prstGeom prst="roundRect">
            <a:avLst>
              <a:gd name="adj" fmla="val 10909"/>
            </a:avLst>
          </a:prstGeom>
          <a:solidFill>
            <a:srgbClr val="F4F7F5"/>
          </a:solidFill>
          <a:ln/>
        </p:spPr>
      </p:sp>
      <p:sp>
        <p:nvSpPr>
          <p:cNvPr id="20" name="Text 18"/>
          <p:cNvSpPr txBox="1"/>
          <p:nvPr/>
        </p:nvSpPr>
        <p:spPr>
          <a:xfrm>
            <a:off x="6355080" y="3511296"/>
            <a:ext cx="1828800" cy="1005840"/>
          </a:xfrm>
          <a:prstGeom prst="rect">
            <a:avLst/>
          </a:prstGeom>
          <a:noFill/>
          <a:ln/>
        </p:spPr>
        <p:txBody>
          <a:bodyPr wrap="square" lIns="0" tIns="0" rIns="0" bIns="0" rtlCol="0" anchor="ctr"/>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放課後児童クラブ</a:t>
            </a:r>
            <a:endParaRPr lang="en-US" sz="1700" dirty="0"/>
          </a:p>
        </p:txBody>
      </p:sp>
      <p:sp>
        <p:nvSpPr>
          <p:cNvPr id="21" name="Text 19"/>
          <p:cNvSpPr txBox="1"/>
          <p:nvPr/>
        </p:nvSpPr>
        <p:spPr>
          <a:xfrm>
            <a:off x="8229600" y="3511296"/>
            <a:ext cx="3246120" cy="10058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保護者が働いている家庭などの小学生が、放課後を過ごす場。</a:t>
            </a:r>
            <a:endParaRPr lang="en-US" sz="1600" dirty="0"/>
          </a:p>
        </p:txBody>
      </p:sp>
      <p:sp>
        <p:nvSpPr>
          <p:cNvPr id="22" name="Text 20"/>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年の表し方：令和の年に2018を足すと西暦になります（令和8年度＝2026年度、令和14年度＝2032年度、令和20年度＝2038年度）。</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33</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2026-10-27T12:58:00Z</dcterms:created>
  <dcterms:modified xsi:type="dcterms:W3CDTF">2026-10-27T12:58:00Z</dcterms:modified>
</cp:coreProperties>
</file>
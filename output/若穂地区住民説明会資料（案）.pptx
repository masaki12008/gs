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f655deca-c5a6-965d-7acd-621287bba68d}">
          <p14:sldIdLst>
            <p14:sldId id="256"/>
            <p14:sldId id="257"/>
            <p14:sldId id="258"/>
          </p14:sldIdLst>
        </p14:section>
        <p14:section name="子どもの数の見通し" id="{ff054404-95c4-a149-885e-faa4fc640ebe}">
          <p14:sldIdLst>
            <p14:sldId id="259"/>
            <p14:sldId id="260"/>
            <p14:sldId id="261"/>
          </p14:sldIdLst>
        </p14:section>
        <p14:section name="なぜ今、考えるのか" id="{37343dcf-16d0-e351-ab85-14f30d6a46a2}">
          <p14:sldIdLst>
            <p14:sldId id="262"/>
            <p14:sldId id="263"/>
            <p14:sldId id="264"/>
          </p14:sldIdLst>
        </p14:section>
        <p14:section name="選択肢" id="{cacc473d-2f4b-2174-69b5-a5f19c24aaab}">
          <p14:sldIdLst>
            <p14:sldId id="265"/>
            <p14:sldId id="266"/>
          </p14:sldIdLst>
        </p14:section>
        <p14:section name="今後の進め方" id="{a18b8614-36c2-9ef1-8c48-5e32e761e6a6}">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mn-lt"/>
              </a:defRPr>
            </a:pPr>
            <a:r>
              <a:rPr sz="1200" b="0" i="0" u="none" strike="noStrike">
                <a:solidFill>
                  <a:srgbClr val="222222"/>
                </a:solidFill>
                <a:latin typeface="+mn-lt"/>
              </a:rPr>
              <a:t>若穂中 全校生徒数の推計（人）</a:t>
            </a:r>
          </a:p>
        </c:rich>
      </c:tx>
      <c:layout/>
      <c:overlay val="0"/>
    </c:title>
    <c:autoTitleDeleted val="0"/>
    <c:plotArea>
      <c:layout/>
      <c:barChart>
        <c:barDir val="col"/>
        <c:grouping val="clustered"/>
        <c:varyColors val="0"/>
        <c:ser>
          <c:idx val="0"/>
          <c:order val="0"/>
          <c:tx>
            <c:strRef>
              <c:f>Sheet1!$B$1</c:f>
              <c:strCache>
                <c:ptCount val="1"/>
                <c:pt idx="0">
                  <c:v>若穂中 全校生徒数</c:v>
                </c:pt>
              </c:strCache>
            </c:strRef>
          </c:tx>
          <c:spPr>
            <a:solidFill>
              <a:srgbClr val="2B84C6"/>
            </a:solidFill>
            <a:effectLst/>
          </c:spPr>
          <c:invertIfNegative val="0"/>
          <c:dLbls>
            <c:numFmt formatCode="#,##0" sourceLinked="0"/>
            <c:txPr>
              <a:bodyPr/>
              <a:lstStyle/>
              <a:p>
                <a:pPr>
                  <a:defRPr b="0" i="0" strike="noStrike" sz="1000" u="none">
                    <a:solidFill>
                      <a:srgbClr val="222222"/>
                    </a:solidFill>
                    <a:latin typeface="+mn-lt"/>
                  </a:defRPr>
                </a:pPr>
              </a:p>
            </c:txPr>
            <c:showLegendKey val="0"/>
            <c:showVal val="1"/>
            <c:showCatName val="0"/>
            <c:showSerName val="0"/>
            <c:showPercent val="0"/>
            <c:showBubbleSize val="0"/>
            <c:showLeaderLines val="0"/>
          </c:dLbls>
          <c:cat>
            <c:multiLvlStrRef>
              <c:f>Sheet1!$A$2:$A$14</c:f>
              <c:multiLvlStrCache>
                <c:ptCount val="13"/>
                <c:lvl>
                  <c:pt idx="0">
                    <c:v>R8</c:v>
                  </c:pt>
                  <c:pt idx="1">
                    <c:v>R9</c:v>
                  </c:pt>
                  <c:pt idx="2">
                    <c:v>R10</c:v>
                  </c:pt>
                  <c:pt idx="3">
                    <c:v>R11</c:v>
                  </c:pt>
                  <c:pt idx="4">
                    <c:v>R12</c:v>
                  </c:pt>
                  <c:pt idx="5">
                    <c:v>R13</c:v>
                  </c:pt>
                  <c:pt idx="6">
                    <c:v>R14</c:v>
                  </c:pt>
                  <c:pt idx="7">
                    <c:v>R15</c:v>
                  </c:pt>
                  <c:pt idx="8">
                    <c:v>R16</c:v>
                  </c:pt>
                  <c:pt idx="9">
                    <c:v>R17</c:v>
                  </c:pt>
                  <c:pt idx="10">
                    <c:v>R18</c:v>
                  </c:pt>
                  <c:pt idx="11">
                    <c:v>R19</c:v>
                  </c:pt>
                  <c:pt idx="12">
                    <c:v>R20</c:v>
                  </c:pt>
                </c:lvl>
              </c:multiLvlStrCache>
            </c:multiLvlStrRef>
          </c:cat>
          <c:val>
            <c:numRef>
              <c:f>Sheet1!$B$2:$B$14</c:f>
              <c:numCache>
                <c:formatCode>General</c:formatCode>
                <c:ptCount val="13"/>
                <c:pt idx="0">
                  <c:v>284</c:v>
                </c:pt>
                <c:pt idx="1">
                  <c:v>287</c:v>
                </c:pt>
                <c:pt idx="2">
                  <c:v>266</c:v>
                </c:pt>
                <c:pt idx="3">
                  <c:v>264</c:v>
                </c:pt>
                <c:pt idx="4">
                  <c:v>248</c:v>
                </c:pt>
                <c:pt idx="5">
                  <c:v>237</c:v>
                </c:pt>
                <c:pt idx="6">
                  <c:v>225</c:v>
                </c:pt>
                <c:pt idx="7">
                  <c:v>219</c:v>
                </c:pt>
                <c:pt idx="8">
                  <c:v>206</c:v>
                </c:pt>
                <c:pt idx="9">
                  <c:v>201</c:v>
                </c:pt>
                <c:pt idx="10">
                  <c:v>180</c:v>
                </c:pt>
                <c:pt idx="11">
                  <c:v>161</c:v>
                </c:pt>
                <c:pt idx="12">
                  <c:v>129</c:v>
                </c:pt>
              </c:numCache>
            </c:numRef>
          </c:val>
        </c:ser>
        <c:dLbls>
          <c:numFmt formatCode="#,##0" sourceLinked="0"/>
          <c:txPr>
            <a:bodyPr/>
            <a:lstStyle/>
            <a:p>
              <a:pPr>
                <a:defRPr b="0" i="0" strike="noStrike" sz="1000" u="none">
                  <a:solidFill>
                    <a:srgbClr val="22222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F5A"/>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mn-lt"/>
              </a:defRPr>
            </a:pPr>
            <a:r>
              <a:rPr sz="1300" b="0" i="0" u="none" strike="noStrike">
                <a:solidFill>
                  <a:srgbClr val="222222"/>
                </a:solidFill>
                <a:latin typeface="+mn-lt"/>
              </a:rPr>
              <a:t>小学生（R8＝100）</a:t>
            </a:r>
          </a:p>
        </c:rich>
      </c:tx>
      <c:layout/>
      <c:overlay val="0"/>
    </c:title>
    <c:autoTitleDeleted val="0"/>
    <c:plotArea>
      <c:layout/>
      <c:lineChart>
        <c:varyColors val="0"/>
        <c:ser>
          <c:idx val="0"/>
          <c:order val="0"/>
          <c:tx>
            <c:strRef>
              <c:f>Sheet1!$B$1</c:f>
              <c:strCache>
                <c:ptCount val="1"/>
                <c:pt idx="0">
                  <c:v>若穂（3小学校）</c:v>
                </c:pt>
              </c:strCache>
            </c:strRef>
          </c:tx>
          <c:spPr>
            <a:solidFill>
              <a:srgbClr val="E1582B"/>
            </a:solidFill>
            <a:ln w="31750" cap="flat">
              <a:solidFill>
                <a:srgbClr val="E158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1582B"/>
              </a:solidFill>
              <a:ln w="9525" cap="flat">
                <a:solidFill>
                  <a:srgbClr val="E1582B"/>
                </a:solidFill>
                <a:prstDash val="solid"/>
                <a:round/>
              </a:ln>
              <a:effectLst/>
            </c:spPr>
          </c:marker>
          <c:cat>
            <c:multiLvlStrRef>
              <c:f>Sheet1!$A$2:$A$8</c:f>
              <c:multiLvlStrCache>
                <c:ptCount val="7"/>
                <c:lvl>
                  <c:pt idx="0">
                    <c:v>R8</c:v>
                  </c:pt>
                  <c:pt idx="1">
                    <c:v>R9</c:v>
                  </c:pt>
                  <c:pt idx="2">
                    <c:v>R10</c:v>
                  </c:pt>
                  <c:pt idx="3">
                    <c:v>R11</c:v>
                  </c:pt>
                  <c:pt idx="4">
                    <c:v>R12</c:v>
                  </c:pt>
                  <c:pt idx="5">
                    <c:v>R13</c:v>
                  </c:pt>
                  <c:pt idx="6">
                    <c:v>R14</c:v>
                  </c:pt>
                </c:lvl>
              </c:multiLvlStrCache>
            </c:multiLvlStrRef>
          </c:cat>
          <c:val>
            <c:numRef>
              <c:f>Sheet1!$B$2:$B$8</c:f>
              <c:numCache>
                <c:formatCode>General</c:formatCode>
                <c:ptCount val="7"/>
                <c:pt idx="0">
                  <c:v>100</c:v>
                </c:pt>
                <c:pt idx="1">
                  <c:v>95.7</c:v>
                </c:pt>
                <c:pt idx="2">
                  <c:v>90.7</c:v>
                </c:pt>
                <c:pt idx="3">
                  <c:v>87.6</c:v>
                </c:pt>
                <c:pt idx="4">
                  <c:v>83.3</c:v>
                </c:pt>
                <c:pt idx="5">
                  <c:v>77.1</c:v>
                </c:pt>
                <c:pt idx="6">
                  <c:v>68.2</c:v>
                </c:pt>
              </c:numCache>
            </c:numRef>
          </c:val>
          <c:smooth val="0"/>
        </c:ser>
        <c:ser>
          <c:idx val="1"/>
          <c:order val="1"/>
          <c:tx>
            <c:strRef>
              <c:f>Sheet1!$C$1</c:f>
              <c:strCache>
                <c:ptCount val="1"/>
                <c:pt idx="0">
                  <c:v>長野市全体</c:v>
                </c:pt>
              </c:strCache>
            </c:strRef>
          </c:tx>
          <c:spPr>
            <a:solidFill>
              <a:srgbClr val="8A968F"/>
            </a:solidFill>
            <a:ln w="31750" cap="flat">
              <a:solidFill>
                <a:srgbClr val="8A96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68F"/>
              </a:solidFill>
              <a:ln w="9525" cap="flat">
                <a:solidFill>
                  <a:srgbClr val="8A968F"/>
                </a:solidFill>
                <a:prstDash val="solid"/>
                <a:round/>
              </a:ln>
              <a:effectLst/>
            </c:spPr>
          </c:marker>
          <c:cat>
            <c:multiLvlStrRef>
              <c:f>Sheet1!$A$2:$A$8</c:f>
              <c:multiLvlStrCache>
                <c:ptCount val="7"/>
                <c:lvl>
                  <c:pt idx="0">
                    <c:v>R8</c:v>
                  </c:pt>
                  <c:pt idx="1">
                    <c:v>R9</c:v>
                  </c:pt>
                  <c:pt idx="2">
                    <c:v>R10</c:v>
                  </c:pt>
                  <c:pt idx="3">
                    <c:v>R11</c:v>
                  </c:pt>
                  <c:pt idx="4">
                    <c:v>R12</c:v>
                  </c:pt>
                  <c:pt idx="5">
                    <c:v>R13</c:v>
                  </c:pt>
                  <c:pt idx="6">
                    <c:v>R14</c:v>
                  </c:pt>
                </c:lvl>
              </c:multiLvlStrCache>
            </c:multiLvlStrRef>
          </c:cat>
          <c:val>
            <c:numRef>
              <c:f>Sheet1!$C$2:$C$8</c:f>
              <c:numCache>
                <c:formatCode>General</c:formatCode>
                <c:ptCount val="7"/>
                <c:pt idx="0">
                  <c:v>100</c:v>
                </c:pt>
                <c:pt idx="1">
                  <c:v>96.3</c:v>
                </c:pt>
                <c:pt idx="2">
                  <c:v>93.2</c:v>
                </c:pt>
                <c:pt idx="3">
                  <c:v>90.4</c:v>
                </c:pt>
                <c:pt idx="4">
                  <c:v>86.8</c:v>
                </c:pt>
                <c:pt idx="5">
                  <c:v>83.6</c:v>
                </c:pt>
                <c:pt idx="6">
                  <c:v>79.7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F5A"/>
                </a:solidFill>
                <a:latin typeface="+mn-lt"/>
              </a:defRPr>
            </a:pPr>
            <a:endParaRPr lang="en-US"/>
          </a:p>
        </c:txPr>
        <c:crossAx val="2094734552"/>
        <c:crosses val="autoZero"/>
        <c:auto val="1"/>
        <c:lblAlgn val="ctr"/>
        <c:noMultiLvlLbl val="1"/>
      </c:catAx>
      <c:valAx>
        <c:axId val="2094734552"/>
        <c:scaling>
          <c:orientation val="minMax"/>
          <c:max val="110"/>
          <c:min val="40"/>
        </c:scaling>
        <c:delete val="0"/>
        <c:axPos val="l"/>
        <c:majorGridlines>
          <c:spPr>
            <a:ln w="9525" cap="flat">
              <a:solidFill>
                <a:srgbClr val="D5DA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5F5A"/>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1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222"/>
                </a:solidFill>
                <a:latin typeface="+mn-lt"/>
              </a:defRPr>
            </a:pPr>
            <a:r>
              <a:rPr sz="1300" b="0" i="0" u="none" strike="noStrike">
                <a:solidFill>
                  <a:srgbClr val="222222"/>
                </a:solidFill>
                <a:latin typeface="+mn-lt"/>
              </a:rPr>
              <a:t>中学生（R8＝100）</a:t>
            </a:r>
          </a:p>
        </c:rich>
      </c:tx>
      <c:layout/>
      <c:overlay val="0"/>
    </c:title>
    <c:autoTitleDeleted val="0"/>
    <c:plotArea>
      <c:layout/>
      <c:lineChart>
        <c:varyColors val="0"/>
        <c:ser>
          <c:idx val="0"/>
          <c:order val="0"/>
          <c:tx>
            <c:strRef>
              <c:f>Sheet1!$B$1</c:f>
              <c:strCache>
                <c:ptCount val="1"/>
                <c:pt idx="0">
                  <c:v>若穂中</c:v>
                </c:pt>
              </c:strCache>
            </c:strRef>
          </c:tx>
          <c:spPr>
            <a:solidFill>
              <a:srgbClr val="E1582B"/>
            </a:solidFill>
            <a:ln w="31750" cap="flat">
              <a:solidFill>
                <a:srgbClr val="E158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1582B"/>
              </a:solidFill>
              <a:ln w="9525" cap="flat">
                <a:solidFill>
                  <a:srgbClr val="E1582B"/>
                </a:solidFill>
                <a:prstDash val="solid"/>
                <a:round/>
              </a:ln>
              <a:effectLst/>
            </c:spPr>
          </c:marker>
          <c:cat>
            <c:multiLvlStrRef>
              <c:f>Sheet1!$A$2:$A$14</c:f>
              <c:multiLvlStrCache>
                <c:ptCount val="13"/>
                <c:lvl>
                  <c:pt idx="0">
                    <c:v>R8</c:v>
                  </c:pt>
                  <c:pt idx="1">
                    <c:v>R9</c:v>
                  </c:pt>
                  <c:pt idx="2">
                    <c:v>R10</c:v>
                  </c:pt>
                  <c:pt idx="3">
                    <c:v>R11</c:v>
                  </c:pt>
                  <c:pt idx="4">
                    <c:v>R12</c:v>
                  </c:pt>
                  <c:pt idx="5">
                    <c:v>R13</c:v>
                  </c:pt>
                  <c:pt idx="6">
                    <c:v>R14</c:v>
                  </c:pt>
                  <c:pt idx="7">
                    <c:v>R15</c:v>
                  </c:pt>
                  <c:pt idx="8">
                    <c:v>R16</c:v>
                  </c:pt>
                  <c:pt idx="9">
                    <c:v>R17</c:v>
                  </c:pt>
                  <c:pt idx="10">
                    <c:v>R18</c:v>
                  </c:pt>
                  <c:pt idx="11">
                    <c:v>R19</c:v>
                  </c:pt>
                  <c:pt idx="12">
                    <c:v>R20</c:v>
                  </c:pt>
                </c:lvl>
              </c:multiLvlStrCache>
            </c:multiLvlStrRef>
          </c:cat>
          <c:val>
            <c:numRef>
              <c:f>Sheet1!$B$2:$B$14</c:f>
              <c:numCache>
                <c:formatCode>General</c:formatCode>
                <c:ptCount val="13"/>
                <c:pt idx="0">
                  <c:v>100</c:v>
                </c:pt>
                <c:pt idx="1">
                  <c:v>101.1</c:v>
                </c:pt>
                <c:pt idx="2">
                  <c:v>93.7</c:v>
                </c:pt>
                <c:pt idx="3">
                  <c:v>93</c:v>
                </c:pt>
                <c:pt idx="4">
                  <c:v>87.3</c:v>
                </c:pt>
                <c:pt idx="5">
                  <c:v>83.5</c:v>
                </c:pt>
                <c:pt idx="6">
                  <c:v>79.2</c:v>
                </c:pt>
                <c:pt idx="7">
                  <c:v>77.1</c:v>
                </c:pt>
                <c:pt idx="8">
                  <c:v>72.5</c:v>
                </c:pt>
                <c:pt idx="9">
                  <c:v>70.8</c:v>
                </c:pt>
                <c:pt idx="10">
                  <c:v>63.4</c:v>
                </c:pt>
                <c:pt idx="11">
                  <c:v>56.7</c:v>
                </c:pt>
                <c:pt idx="12">
                  <c:v>45.4</c:v>
                </c:pt>
              </c:numCache>
            </c:numRef>
          </c:val>
          <c:smooth val="0"/>
        </c:ser>
        <c:ser>
          <c:idx val="1"/>
          <c:order val="1"/>
          <c:tx>
            <c:strRef>
              <c:f>Sheet1!$C$1</c:f>
              <c:strCache>
                <c:ptCount val="1"/>
                <c:pt idx="0">
                  <c:v>長野市全体</c:v>
                </c:pt>
              </c:strCache>
            </c:strRef>
          </c:tx>
          <c:spPr>
            <a:solidFill>
              <a:srgbClr val="8A968F"/>
            </a:solidFill>
            <a:ln w="31750" cap="flat">
              <a:solidFill>
                <a:srgbClr val="8A96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68F"/>
              </a:solidFill>
              <a:ln w="9525" cap="flat">
                <a:solidFill>
                  <a:srgbClr val="8A968F"/>
                </a:solidFill>
                <a:prstDash val="solid"/>
                <a:round/>
              </a:ln>
              <a:effectLst/>
            </c:spPr>
          </c:marker>
          <c:cat>
            <c:multiLvlStrRef>
              <c:f>Sheet1!$A$2:$A$14</c:f>
              <c:multiLvlStrCache>
                <c:ptCount val="13"/>
                <c:lvl>
                  <c:pt idx="0">
                    <c:v>R8</c:v>
                  </c:pt>
                  <c:pt idx="1">
                    <c:v>R9</c:v>
                  </c:pt>
                  <c:pt idx="2">
                    <c:v>R10</c:v>
                  </c:pt>
                  <c:pt idx="3">
                    <c:v>R11</c:v>
                  </c:pt>
                  <c:pt idx="4">
                    <c:v>R12</c:v>
                  </c:pt>
                  <c:pt idx="5">
                    <c:v>R13</c:v>
                  </c:pt>
                  <c:pt idx="6">
                    <c:v>R14</c:v>
                  </c:pt>
                  <c:pt idx="7">
                    <c:v>R15</c:v>
                  </c:pt>
                  <c:pt idx="8">
                    <c:v>R16</c:v>
                  </c:pt>
                  <c:pt idx="9">
                    <c:v>R17</c:v>
                  </c:pt>
                  <c:pt idx="10">
                    <c:v>R18</c:v>
                  </c:pt>
                  <c:pt idx="11">
                    <c:v>R19</c:v>
                  </c:pt>
                  <c:pt idx="12">
                    <c:v>R20</c:v>
                  </c:pt>
                </c:lvl>
              </c:multiLvlStrCache>
            </c:multiLvlStrRef>
          </c:cat>
          <c:val>
            <c:numRef>
              <c:f>Sheet1!$C$2:$C$14</c:f>
              <c:numCache>
                <c:formatCode>General</c:formatCode>
                <c:ptCount val="13"/>
                <c:pt idx="0">
                  <c:v>100</c:v>
                </c:pt>
                <c:pt idx="1">
                  <c:v>98.4</c:v>
                </c:pt>
                <c:pt idx="2">
                  <c:v>95.9</c:v>
                </c:pt>
                <c:pt idx="3">
                  <c:v>94</c:v>
                </c:pt>
                <c:pt idx="4">
                  <c:v>90.3</c:v>
                </c:pt>
                <c:pt idx="5">
                  <c:v>86.7</c:v>
                </c:pt>
                <c:pt idx="6">
                  <c:v>83.4</c:v>
                </c:pt>
                <c:pt idx="7">
                  <c:v>79.5</c:v>
                </c:pt>
                <c:pt idx="8">
                  <c:v>76.8</c:v>
                </c:pt>
                <c:pt idx="9">
                  <c:v>74</c:v>
                </c:pt>
                <c:pt idx="10">
                  <c:v>70.3</c:v>
                </c:pt>
                <c:pt idx="11">
                  <c:v>65.9</c:v>
                </c:pt>
                <c:pt idx="12">
                  <c:v>60.6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F5A"/>
                </a:solidFill>
                <a:latin typeface="+mn-lt"/>
              </a:defRPr>
            </a:pPr>
            <a:endParaRPr lang="en-US"/>
          </a:p>
        </c:txPr>
        <c:crossAx val="2094734552"/>
        <c:crosses val="autoZero"/>
        <c:auto val="1"/>
        <c:lblAlgn val="ctr"/>
        <c:noMultiLvlLbl val="1"/>
      </c:catAx>
      <c:valAx>
        <c:axId val="2094734552"/>
        <c:scaling>
          <c:orientation val="minMax"/>
          <c:max val="110"/>
          <c:min val="40"/>
        </c:scaling>
        <c:delete val="0"/>
        <c:axPos val="l"/>
        <c:majorGridlines>
          <c:spPr>
            <a:ln w="9525" cap="flat">
              <a:solidFill>
                <a:srgbClr val="D5DA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5F5A"/>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1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本日はお集まりいただきありがとうございます。若穂の小中学校のこれからについて、検討委員会の考えと進め方をご説明し、皆さんのご意見をお聞きします。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冒頭で『今日は決めない』ことをはっきり伝えます。会場の緊張がやわらぎ、率直な意見が出やすくなります。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］の部分は委員会の実際の構成・日程に差し替えてください。3地区から偏りなく委員が出ていることを強調します。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小学校の推計は、すでに生まれている子どもの数をもとにしているため、大きくは外れません。川田小の新1年生もR12以降は10人前後になります。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中学校は小学校の減少が数年遅れて表れます。1学年34人は、今の小学校1校分ほどの規模です。部活動や行事にも影響します。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少子化は市全体の課題ですが、若穂はそれより速いペースで進みます。『市全体の話ではなく、若穂の話』として受け止めていただきたいページです。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課題だけでなく小規模校の良さも必ず伝え、『統合ありき』と受け取られないようにします。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資料P4の『少子化とは別に再編を考える理由』への案です。どれを示すかは委員会で確定してください。①は大きな工事の前に学校の形を決めておく、という説明になります。若穂中は昭和36〜37年に3中学校が統合してできた学校で、中学校はすでに若穂でひと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既存資料P4（委員会としての考え・方向性）に対応するページです。文言は委員会で確定させてください。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既存資料P5・P6の内容と重ならないよう整理してください。会場から新しい案が出たら歓迎する姿勢を示します。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資料P7の要点です。詳しい説明は配布資料をご覧いただく形にします。選択肢の一覧（前のページ）の後に示すことで、『義務教育学校に決まっている』と受け取られないようにします。校地や開校年度など、委員会で決めていない具体案は示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交流学習など、どの案になっても役立つ取り組みは結論を待たずに始めることも検討します。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質疑の時間を十分にとります。出た意見は次回までに回答をまとめ、公開します。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chemeClr val="accent1"/>
          </a:solidFill>
          <a:ln/>
        </p:spPr>
      </p:sp>
      <p:sp>
        <p:nvSpPr>
          <p:cNvPr id="3" name="Shape 1"/>
          <p:cNvSpPr/>
          <p:nvPr/>
        </p:nvSpPr>
        <p:spPr>
          <a:xfrm>
            <a:off x="7635240" y="0"/>
            <a:ext cx="502920" cy="713232"/>
          </a:xfrm>
          <a:prstGeom prst="rect">
            <a:avLst/>
          </a:prstGeom>
          <a:solidFill>
            <a:schemeClr val="accent4"/>
          </a:solidFill>
          <a:ln/>
        </p:spPr>
      </p:sp>
      <p:sp>
        <p:nvSpPr>
          <p:cNvPr id="4" name="Shape 2"/>
          <p:cNvSpPr/>
          <p:nvPr/>
        </p:nvSpPr>
        <p:spPr>
          <a:xfrm>
            <a:off x="8138160" y="0"/>
            <a:ext cx="502920" cy="713232"/>
          </a:xfrm>
          <a:prstGeom prst="rect">
            <a:avLst/>
          </a:prstGeom>
          <a:solidFill>
            <a:schemeClr val="accent3"/>
          </a:solidFill>
          <a:ln/>
        </p:spPr>
      </p:sp>
      <p:sp>
        <p:nvSpPr>
          <p:cNvPr id="5" name="Shape 3"/>
          <p:cNvSpPr/>
          <p:nvPr/>
        </p:nvSpPr>
        <p:spPr>
          <a:xfrm>
            <a:off x="8641080" y="0"/>
            <a:ext cx="502920" cy="713232"/>
          </a:xfrm>
          <a:prstGeom prst="rect">
            <a:avLst/>
          </a:prstGeom>
          <a:solidFill>
            <a:schemeClr val="accent2"/>
          </a:solidFill>
          <a:ln/>
        </p:spPr>
      </p:sp>
      <p:sp>
        <p:nvSpPr>
          <p:cNvPr id="6" name="Text 4"/>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若穂地区小中学校再編検討委員会</a:t>
            </a:r>
            <a:endParaRPr lang="en-US" sz="900" dirty="0"/>
          </a:p>
        </p:txBody>
      </p:sp>
      <p:sp>
        <p:nvSpPr>
          <p:cNvPr id="7" name="Text 5"/>
          <p:cNvSpPr/>
          <p:nvPr>
            <p:ph idx="105" type="title" hasCustomPrompt="1"/>
          </p:nvPr>
        </p:nvSpPr>
        <p:spPr>
          <a:xfrm>
            <a:off x="411480" y="82296"/>
            <a:ext cx="7132320" cy="548640"/>
          </a:xfrm>
          <a:prstGeom prst="rect">
            <a:avLst/>
          </a:prstGeom>
          <a:noFill/>
          <a:ln/>
        </p:spPr>
        <p:txBody>
          <a:bodyPr wrap="square" rtlCol="0"/>
          <a:lstStyle>
            <a:lvl1pPr algn="l" indent="0" marL="0">
              <a:buNone/>
              <a:defRPr lang="en-US" sz="2200" b="1" dirty="0">
                <a:solidFill>
                  <a:schemeClr val="bg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8046720" cy="11887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blue"/>
          <p:cNvSpPr/>
          <p:nvPr/>
        </p:nvSpPr>
        <p:spPr>
          <a:xfrm>
            <a:off x="0" y="0"/>
            <a:ext cx="3017520" cy="5143500"/>
          </a:xfrm>
          <a:prstGeom prst="rect">
            <a:avLst/>
          </a:prstGeom>
          <a:solidFill>
            <a:schemeClr val="accent2"/>
          </a:solidFill>
          <a:ln/>
        </p:spPr>
      </p:sp>
      <p:sp>
        <p:nvSpPr>
          <p:cNvPr id="3" name="deco-orange"/>
          <p:cNvSpPr/>
          <p:nvPr/>
        </p:nvSpPr>
        <p:spPr>
          <a:xfrm>
            <a:off x="1280160" y="-1097280"/>
            <a:ext cx="2926080" cy="2926080"/>
          </a:xfrm>
          <a:prstGeom prst="ellipse">
            <a:avLst/>
          </a:prstGeom>
          <a:solidFill>
            <a:schemeClr val="accent1"/>
          </a:solidFill>
          <a:ln/>
        </p:spPr>
      </p:sp>
      <p:sp>
        <p:nvSpPr>
          <p:cNvPr id="4" name="deco-yellow"/>
          <p:cNvSpPr/>
          <p:nvPr/>
        </p:nvSpPr>
        <p:spPr>
          <a:xfrm>
            <a:off x="548640" y="1463040"/>
            <a:ext cx="2377440" cy="2377440"/>
          </a:xfrm>
          <a:prstGeom prst="ellipse">
            <a:avLst/>
          </a:prstGeom>
          <a:solidFill>
            <a:schemeClr val="accent4"/>
          </a:solidFill>
          <a:ln/>
        </p:spPr>
      </p:sp>
      <p:sp>
        <p:nvSpPr>
          <p:cNvPr id="5" name="deco-green"/>
          <p:cNvSpPr/>
          <p:nvPr/>
        </p:nvSpPr>
        <p:spPr>
          <a:xfrm>
            <a:off x="-914400" y="3108960"/>
            <a:ext cx="3108960" cy="3108960"/>
          </a:xfrm>
          <a:prstGeom prst="ellipse">
            <a:avLst/>
          </a:prstGeom>
          <a:solidFill>
            <a:schemeClr val="accent3"/>
          </a:solidFill>
          <a:ln/>
        </p:spPr>
      </p:sp>
      <p:sp>
        <p:nvSpPr>
          <p:cNvPr id="6" name="Text 4"/>
          <p:cNvSpPr txBox="1"/>
          <p:nvPr/>
        </p:nvSpPr>
        <p:spPr>
          <a:xfrm>
            <a:off x="3657600" y="1325880"/>
            <a:ext cx="5120640" cy="640080"/>
          </a:xfrm>
          <a:prstGeom prst="rect">
            <a:avLst/>
          </a:prstGeom>
          <a:noFill/>
          <a:ln/>
        </p:spPr>
        <p:txBody>
          <a:bodyPr wrap="square" lIns="0" tIns="0" rIns="0" bIns="0" rtlCol="0" anchor="t"/>
          <a:lstStyle/>
          <a:p>
            <a:pPr indent="0" marL="0">
              <a:buNone/>
            </a:pPr>
            <a:r>
              <a:rPr lang="en-US" sz="3200" b="1" dirty="0">
                <a:solidFill>
                  <a:schemeClr val="tx1"/>
                </a:solidFill>
              </a:rPr>
              <a:t>若穂地区住民説明会資料</a:t>
            </a:r>
            <a:endParaRPr lang="en-US" sz="3200" dirty="0"/>
          </a:p>
        </p:txBody>
      </p:sp>
      <p:sp>
        <p:nvSpPr>
          <p:cNvPr id="7" name="Text 5"/>
          <p:cNvSpPr txBox="1"/>
          <p:nvPr/>
        </p:nvSpPr>
        <p:spPr>
          <a:xfrm>
            <a:off x="3657600" y="2011680"/>
            <a:ext cx="5120640" cy="411480"/>
          </a:xfrm>
          <a:prstGeom prst="rect">
            <a:avLst/>
          </a:prstGeom>
          <a:noFill/>
          <a:ln/>
        </p:spPr>
        <p:txBody>
          <a:bodyPr wrap="square" lIns="0" tIns="0" rIns="0" bIns="0" rtlCol="0" anchor="t"/>
          <a:lstStyle/>
          <a:p>
            <a:pPr indent="0" marL="0">
              <a:buNone/>
            </a:pPr>
            <a:r>
              <a:rPr lang="en-US" sz="1600" dirty="0">
                <a:solidFill>
                  <a:schemeClr val="tx2"/>
                </a:solidFill>
              </a:rPr>
              <a:t>これからの若穂の小中学校を、地域で考えるために（案）</a:t>
            </a:r>
            <a:endParaRPr lang="en-US" sz="1600" dirty="0"/>
          </a:p>
        </p:txBody>
      </p:sp>
      <p:sp>
        <p:nvSpPr>
          <p:cNvPr id="8" name="Text 6"/>
          <p:cNvSpPr txBox="1"/>
          <p:nvPr/>
        </p:nvSpPr>
        <p:spPr>
          <a:xfrm>
            <a:off x="3657600" y="2926080"/>
            <a:ext cx="5120640" cy="320040"/>
          </a:xfrm>
          <a:prstGeom prst="rect">
            <a:avLst/>
          </a:prstGeom>
          <a:noFill/>
          <a:ln/>
        </p:spPr>
        <p:txBody>
          <a:bodyPr wrap="square" lIns="0" tIns="0" rIns="0" bIns="0" rtlCol="0" anchor="t"/>
          <a:lstStyle/>
          <a:p>
            <a:pPr indent="0" marL="0">
              <a:buNone/>
            </a:pPr>
            <a:r>
              <a:rPr lang="en-US" sz="1400" dirty="0">
                <a:solidFill>
                  <a:schemeClr val="accent5"/>
                </a:solidFill>
              </a:rPr>
              <a:t>R8.○.○</a:t>
            </a:r>
            <a:endParaRPr lang="en-US" sz="1400" dirty="0"/>
          </a:p>
        </p:txBody>
      </p:sp>
      <p:sp>
        <p:nvSpPr>
          <p:cNvPr id="9" name="Text 7"/>
          <p:cNvSpPr txBox="1"/>
          <p:nvPr/>
        </p:nvSpPr>
        <p:spPr>
          <a:xfrm>
            <a:off x="3657600" y="3291840"/>
            <a:ext cx="5120640" cy="640080"/>
          </a:xfrm>
          <a:prstGeom prst="rect">
            <a:avLst/>
          </a:prstGeom>
          <a:noFill/>
          <a:ln/>
        </p:spPr>
        <p:txBody>
          <a:bodyPr wrap="square" lIns="0" tIns="0" rIns="0" bIns="0" rtlCol="0" anchor="t"/>
          <a:lstStyle/>
          <a:p>
            <a:pPr indent="0" marL="0">
              <a:buNone/>
            </a:pPr>
            <a:r>
              <a:rPr lang="en-US" sz="1400" dirty="0">
                <a:solidFill>
                  <a:schemeClr val="tx1"/>
                </a:solidFill>
              </a:rPr>
              <a:t>若穂地区小中学校再編検討委員会</a:t>
            </a:r>
            <a:endParaRPr lang="en-US" sz="1400" dirty="0"/>
          </a:p>
          <a:p>
            <a:pPr indent="0" marL="0">
              <a:buNone/>
            </a:pPr>
            <a:r>
              <a:rPr lang="en-US" sz="1400" dirty="0">
                <a:solidFill>
                  <a:schemeClr val="tx1"/>
                </a:solidFill>
              </a:rPr>
              <a:t>長野市教育委員会事務局 学校教育課</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本日の説明会の目的と流れ</a:t>
            </a:r>
            <a:endParaRPr lang="en-US" sz="2200" dirty="0"/>
          </a:p>
        </p:txBody>
      </p:sp>
      <p:sp>
        <p:nvSpPr>
          <p:cNvPr id="3" name="purpose-card"/>
          <p:cNvSpPr/>
          <p:nvPr/>
        </p:nvSpPr>
        <p:spPr>
          <a:xfrm>
            <a:off x="457200" y="960120"/>
            <a:ext cx="3840480" cy="3611880"/>
          </a:xfrm>
          <a:prstGeom prst="roundRect">
            <a:avLst>
              <a:gd name="adj" fmla="val 2025"/>
            </a:avLst>
          </a:prstGeom>
          <a:solidFill>
            <a:schemeClr val="accent3"/>
          </a:solidFill>
          <a:ln/>
        </p:spPr>
      </p:sp>
      <p:sp>
        <p:nvSpPr>
          <p:cNvPr id="4" name="Text 2"/>
          <p:cNvSpPr txBox="1"/>
          <p:nvPr/>
        </p:nvSpPr>
        <p:spPr>
          <a:xfrm>
            <a:off x="685800" y="1188720"/>
            <a:ext cx="3383280" cy="822960"/>
          </a:xfrm>
          <a:prstGeom prst="rect">
            <a:avLst/>
          </a:prstGeom>
          <a:noFill/>
          <a:ln/>
        </p:spPr>
        <p:txBody>
          <a:bodyPr wrap="square" lIns="0" tIns="0" rIns="0" bIns="0" rtlCol="0" anchor="t"/>
          <a:lstStyle/>
          <a:p>
            <a:pPr indent="0" marL="0">
              <a:buNone/>
            </a:pPr>
            <a:r>
              <a:rPr lang="en-US" sz="2000" b="1" dirty="0">
                <a:solidFill>
                  <a:schemeClr val="bg1"/>
                </a:solidFill>
              </a:rPr>
              <a:t>今日は「決める場」</a:t>
            </a:r>
            <a:endParaRPr lang="en-US" sz="2000" dirty="0"/>
          </a:p>
          <a:p>
            <a:pPr indent="0" marL="0">
              <a:buNone/>
            </a:pPr>
            <a:r>
              <a:rPr lang="en-US" sz="2000" b="1" dirty="0">
                <a:solidFill>
                  <a:schemeClr val="bg1"/>
                </a:solidFill>
              </a:rPr>
              <a:t>ではありません</a:t>
            </a:r>
            <a:endParaRPr lang="en-US" sz="2000" dirty="0"/>
          </a:p>
        </p:txBody>
      </p:sp>
      <p:sp>
        <p:nvSpPr>
          <p:cNvPr id="5" name="Text 3"/>
          <p:cNvSpPr txBox="1"/>
          <p:nvPr/>
        </p:nvSpPr>
        <p:spPr>
          <a:xfrm>
            <a:off x="685800" y="2148840"/>
            <a:ext cx="3383280" cy="1280160"/>
          </a:xfrm>
          <a:prstGeom prst="rect">
            <a:avLst/>
          </a:prstGeom>
          <a:noFill/>
          <a:ln/>
        </p:spPr>
        <p:txBody>
          <a:bodyPr wrap="square" lIns="0" tIns="0" rIns="0" bIns="0" rtlCol="0" anchor="t"/>
          <a:lstStyle/>
          <a:p>
            <a:pPr indent="0" marL="0">
              <a:lnSpc>
                <a:spcPct val="130000"/>
              </a:lnSpc>
              <a:buNone/>
            </a:pPr>
            <a:r>
              <a:rPr lang="en-US" sz="1500" dirty="0">
                <a:solidFill>
                  <a:schemeClr val="bg1"/>
                </a:solidFill>
              </a:rPr>
              <a:t>若穂の子どもたちの数の見通しと、検討委員会の考え・進め方をお伝えし、皆さんのご意見をうかがう場です。</a:t>
            </a:r>
            <a:endParaRPr lang="en-US" sz="1500" dirty="0"/>
          </a:p>
        </p:txBody>
      </p:sp>
      <p:sp>
        <p:nvSpPr>
          <p:cNvPr id="6" name="Shape 4"/>
          <p:cNvSpPr/>
          <p:nvPr/>
        </p:nvSpPr>
        <p:spPr>
          <a:xfrm>
            <a:off x="4663440" y="1069848"/>
            <a:ext cx="384048" cy="384048"/>
          </a:xfrm>
          <a:prstGeom prst="ellipse">
            <a:avLst/>
          </a:prstGeom>
          <a:solidFill>
            <a:schemeClr val="accent1"/>
          </a:solidFill>
          <a:ln/>
        </p:spPr>
      </p:sp>
      <p:sp>
        <p:nvSpPr>
          <p:cNvPr id="7" name="Text 5"/>
          <p:cNvSpPr txBox="1"/>
          <p:nvPr/>
        </p:nvSpPr>
        <p:spPr>
          <a:xfrm>
            <a:off x="4663440" y="106984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5212080" y="1005840"/>
            <a:ext cx="3474720" cy="512064"/>
          </a:xfrm>
          <a:prstGeom prst="rect">
            <a:avLst/>
          </a:prstGeom>
          <a:noFill/>
          <a:ln/>
        </p:spPr>
        <p:txBody>
          <a:bodyPr wrap="square" lIns="0" tIns="0" rIns="0" bIns="0" rtlCol="0" anchor="ctr"/>
          <a:lstStyle/>
          <a:p>
            <a:pPr indent="0" marL="0">
              <a:buNone/>
            </a:pPr>
            <a:r>
              <a:rPr lang="en-US" sz="1700" dirty="0">
                <a:solidFill>
                  <a:schemeClr val="tx1"/>
                </a:solidFill>
              </a:rPr>
              <a:t>若穂の子どもの数の見通し</a:t>
            </a:r>
            <a:endParaRPr lang="en-US" sz="1700" dirty="0"/>
          </a:p>
        </p:txBody>
      </p:sp>
      <p:sp>
        <p:nvSpPr>
          <p:cNvPr id="9" name="Shape 7"/>
          <p:cNvSpPr/>
          <p:nvPr/>
        </p:nvSpPr>
        <p:spPr>
          <a:xfrm>
            <a:off x="4663440" y="1783080"/>
            <a:ext cx="384048" cy="384048"/>
          </a:xfrm>
          <a:prstGeom prst="ellipse">
            <a:avLst/>
          </a:prstGeom>
          <a:solidFill>
            <a:schemeClr val="accent1"/>
          </a:solidFill>
          <a:ln/>
        </p:spPr>
      </p:sp>
      <p:sp>
        <p:nvSpPr>
          <p:cNvPr id="10" name="Text 8"/>
          <p:cNvSpPr txBox="1"/>
          <p:nvPr/>
        </p:nvSpPr>
        <p:spPr>
          <a:xfrm>
            <a:off x="4663440" y="17830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212080" y="1719072"/>
            <a:ext cx="3474720" cy="512064"/>
          </a:xfrm>
          <a:prstGeom prst="rect">
            <a:avLst/>
          </a:prstGeom>
          <a:noFill/>
          <a:ln/>
        </p:spPr>
        <p:txBody>
          <a:bodyPr wrap="square" lIns="0" tIns="0" rIns="0" bIns="0" rtlCol="0" anchor="ctr"/>
          <a:lstStyle/>
          <a:p>
            <a:pPr indent="0" marL="0">
              <a:buNone/>
            </a:pPr>
            <a:r>
              <a:rPr lang="en-US" sz="1700" dirty="0">
                <a:solidFill>
                  <a:schemeClr val="tx1"/>
                </a:solidFill>
              </a:rPr>
              <a:t>なぜ今、再編を考えるのか</a:t>
            </a:r>
            <a:endParaRPr lang="en-US" sz="1700" dirty="0"/>
          </a:p>
        </p:txBody>
      </p:sp>
      <p:sp>
        <p:nvSpPr>
          <p:cNvPr id="12" name="Shape 10"/>
          <p:cNvSpPr/>
          <p:nvPr/>
        </p:nvSpPr>
        <p:spPr>
          <a:xfrm>
            <a:off x="4663440" y="2496312"/>
            <a:ext cx="384048" cy="384048"/>
          </a:xfrm>
          <a:prstGeom prst="ellipse">
            <a:avLst/>
          </a:prstGeom>
          <a:solidFill>
            <a:schemeClr val="accent1"/>
          </a:solidFill>
          <a:ln/>
        </p:spPr>
      </p:sp>
      <p:sp>
        <p:nvSpPr>
          <p:cNvPr id="13" name="Text 11"/>
          <p:cNvSpPr txBox="1"/>
          <p:nvPr/>
        </p:nvSpPr>
        <p:spPr>
          <a:xfrm>
            <a:off x="4663440" y="249631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5212080" y="2432304"/>
            <a:ext cx="3474720" cy="512064"/>
          </a:xfrm>
          <a:prstGeom prst="rect">
            <a:avLst/>
          </a:prstGeom>
          <a:noFill/>
          <a:ln/>
        </p:spPr>
        <p:txBody>
          <a:bodyPr wrap="square" lIns="0" tIns="0" rIns="0" bIns="0" rtlCol="0" anchor="ctr"/>
          <a:lstStyle/>
          <a:p>
            <a:pPr indent="0" marL="0">
              <a:buNone/>
            </a:pPr>
            <a:r>
              <a:rPr lang="en-US" sz="1700" dirty="0">
                <a:solidFill>
                  <a:schemeClr val="tx1"/>
                </a:solidFill>
              </a:rPr>
              <a:t>考えられる選択肢</a:t>
            </a:r>
            <a:endParaRPr lang="en-US" sz="1700" dirty="0"/>
          </a:p>
        </p:txBody>
      </p:sp>
      <p:sp>
        <p:nvSpPr>
          <p:cNvPr id="15" name="Shape 13"/>
          <p:cNvSpPr/>
          <p:nvPr/>
        </p:nvSpPr>
        <p:spPr>
          <a:xfrm>
            <a:off x="4663440" y="3209544"/>
            <a:ext cx="384048" cy="384048"/>
          </a:xfrm>
          <a:prstGeom prst="ellipse">
            <a:avLst/>
          </a:prstGeom>
          <a:solidFill>
            <a:schemeClr val="accent1"/>
          </a:solidFill>
          <a:ln/>
        </p:spPr>
      </p:sp>
      <p:sp>
        <p:nvSpPr>
          <p:cNvPr id="16" name="Text 14"/>
          <p:cNvSpPr txBox="1"/>
          <p:nvPr/>
        </p:nvSpPr>
        <p:spPr>
          <a:xfrm>
            <a:off x="4663440" y="32095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5212080" y="3145536"/>
            <a:ext cx="3474720" cy="512064"/>
          </a:xfrm>
          <a:prstGeom prst="rect">
            <a:avLst/>
          </a:prstGeom>
          <a:noFill/>
          <a:ln/>
        </p:spPr>
        <p:txBody>
          <a:bodyPr wrap="square" lIns="0" tIns="0" rIns="0" bIns="0" rtlCol="0" anchor="ctr"/>
          <a:lstStyle/>
          <a:p>
            <a:pPr indent="0" marL="0">
              <a:buNone/>
            </a:pPr>
            <a:r>
              <a:rPr lang="en-US" sz="1700" dirty="0">
                <a:solidFill>
                  <a:schemeClr val="tx1"/>
                </a:solidFill>
              </a:rPr>
              <a:t>今後の進め方</a:t>
            </a:r>
            <a:endParaRPr lang="en-US" sz="1700" dirty="0"/>
          </a:p>
        </p:txBody>
      </p:sp>
      <p:sp>
        <p:nvSpPr>
          <p:cNvPr id="18" name="Shape 16"/>
          <p:cNvSpPr/>
          <p:nvPr/>
        </p:nvSpPr>
        <p:spPr>
          <a:xfrm>
            <a:off x="4663440" y="3922776"/>
            <a:ext cx="384048" cy="384048"/>
          </a:xfrm>
          <a:prstGeom prst="ellipse">
            <a:avLst/>
          </a:prstGeom>
          <a:solidFill>
            <a:schemeClr val="accent2"/>
          </a:solidFill>
          <a:ln/>
        </p:spPr>
      </p:sp>
      <p:sp>
        <p:nvSpPr>
          <p:cNvPr id="19" name="Text 17"/>
          <p:cNvSpPr txBox="1"/>
          <p:nvPr/>
        </p:nvSpPr>
        <p:spPr>
          <a:xfrm>
            <a:off x="4663440" y="392277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0" name="Text 18"/>
          <p:cNvSpPr txBox="1"/>
          <p:nvPr/>
        </p:nvSpPr>
        <p:spPr>
          <a:xfrm>
            <a:off x="5212080" y="3858768"/>
            <a:ext cx="3474720" cy="512064"/>
          </a:xfrm>
          <a:prstGeom prst="rect">
            <a:avLst/>
          </a:prstGeom>
          <a:noFill/>
          <a:ln/>
        </p:spPr>
        <p:txBody>
          <a:bodyPr wrap="square" lIns="0" tIns="0" rIns="0" bIns="0" rtlCol="0" anchor="ctr"/>
          <a:lstStyle/>
          <a:p>
            <a:pPr indent="0" marL="0">
              <a:buNone/>
            </a:pPr>
            <a:r>
              <a:rPr lang="en-US" sz="1700" dirty="0">
                <a:solidFill>
                  <a:schemeClr val="tx1"/>
                </a:solidFill>
              </a:rPr>
              <a:t>質疑・意見交換</a:t>
            </a:r>
            <a:endParaRPr lang="en-US" sz="17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若穂地区小中学校再編検討委員会について</a:t>
            </a:r>
            <a:endParaRPr lang="en-US" sz="2200" dirty="0"/>
          </a:p>
        </p:txBody>
      </p:sp>
      <p:sp>
        <p:nvSpPr>
          <p:cNvPr id="3" name="members-card"/>
          <p:cNvSpPr/>
          <p:nvPr/>
        </p:nvSpPr>
        <p:spPr>
          <a:xfrm>
            <a:off x="457200" y="960120"/>
            <a:ext cx="3977640" cy="3611880"/>
          </a:xfrm>
          <a:prstGeom prst="roundRect">
            <a:avLst>
              <a:gd name="adj" fmla="val 2025"/>
            </a:avLst>
          </a:prstGeom>
          <a:solidFill>
            <a:schemeClr val="bg2"/>
          </a:solidFill>
          <a:ln/>
        </p:spPr>
      </p:sp>
      <p:sp>
        <p:nvSpPr>
          <p:cNvPr id="4" name="Text 2"/>
          <p:cNvSpPr txBox="1"/>
          <p:nvPr/>
        </p:nvSpPr>
        <p:spPr>
          <a:xfrm>
            <a:off x="685800" y="1143000"/>
            <a:ext cx="3566160" cy="365760"/>
          </a:xfrm>
          <a:prstGeom prst="rect">
            <a:avLst/>
          </a:prstGeom>
          <a:noFill/>
          <a:ln/>
        </p:spPr>
        <p:txBody>
          <a:bodyPr wrap="square" lIns="0" tIns="0" rIns="0" bIns="0" rtlCol="0" anchor="t"/>
          <a:lstStyle/>
          <a:p>
            <a:pPr indent="0" marL="0">
              <a:buNone/>
            </a:pPr>
            <a:r>
              <a:rPr lang="en-US" sz="1800" b="1" dirty="0">
                <a:solidFill>
                  <a:schemeClr val="tx2"/>
                </a:solidFill>
              </a:rPr>
              <a:t>委員の構成</a:t>
            </a:r>
            <a:endParaRPr lang="en-US" sz="1800" dirty="0"/>
          </a:p>
        </p:txBody>
      </p:sp>
      <p:sp>
        <p:nvSpPr>
          <p:cNvPr id="5" name="Text 3"/>
          <p:cNvSpPr txBox="1"/>
          <p:nvPr/>
        </p:nvSpPr>
        <p:spPr>
          <a:xfrm>
            <a:off x="685800" y="1645920"/>
            <a:ext cx="36118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綿内・川田・保科 各地区の代表 [○名]</a:t>
            </a:r>
            <a:endParaRPr lang="en-US" sz="1400" dirty="0"/>
          </a:p>
          <a:p>
            <a:pPr marL="342900" indent="-342900">
              <a:spcAft>
                <a:spcPts val="800"/>
              </a:spcAft>
              <a:buSzPct val="100000"/>
              <a:buChar char="•"/>
            </a:pPr>
            <a:r>
              <a:rPr lang="en-US" sz="1400" dirty="0">
                <a:solidFill>
                  <a:schemeClr val="tx1"/>
                </a:solidFill>
              </a:rPr>
              <a:t>各小学校・若穂中のPTA代表 [○名]</a:t>
            </a:r>
            <a:endParaRPr lang="en-US" sz="1400" dirty="0"/>
          </a:p>
          <a:p>
            <a:pPr marL="342900" indent="-342900">
              <a:spcAft>
                <a:spcPts val="800"/>
              </a:spcAft>
              <a:buSzPct val="100000"/>
              <a:buChar char="•"/>
            </a:pPr>
            <a:r>
              <a:rPr lang="en-US" sz="1400" dirty="0">
                <a:solidFill>
                  <a:schemeClr val="tx1"/>
                </a:solidFill>
              </a:rPr>
              <a:t>学校長 [○名]</a:t>
            </a:r>
            <a:endParaRPr lang="en-US" sz="1400" dirty="0"/>
          </a:p>
          <a:p>
            <a:pPr marL="342900" indent="-342900">
              <a:spcAft>
                <a:spcPts val="800"/>
              </a:spcAft>
              <a:buSzPct val="100000"/>
              <a:buChar char="•"/>
            </a:pPr>
            <a:r>
              <a:rPr lang="en-US" sz="1400" dirty="0">
                <a:solidFill>
                  <a:schemeClr val="tx1"/>
                </a:solidFill>
              </a:rPr>
              <a:t>[未就学児の保護者など]</a:t>
            </a:r>
            <a:endParaRPr lang="en-US" sz="1400" dirty="0"/>
          </a:p>
          <a:p>
            <a:pPr marL="342900" indent="-342900">
              <a:spcAft>
                <a:spcPts val="800"/>
              </a:spcAft>
              <a:buSzPct val="100000"/>
              <a:buChar char="•"/>
            </a:pPr>
            <a:r>
              <a:rPr lang="en-US" sz="1400" dirty="0">
                <a:solidFill>
                  <a:schemeClr val="tx1"/>
                </a:solidFill>
              </a:rPr>
              <a:t>事務局：長野市教育委員会 学校教育課</a:t>
            </a:r>
            <a:endParaRPr lang="en-US" sz="1400" dirty="0"/>
          </a:p>
        </p:txBody>
      </p:sp>
      <p:sp>
        <p:nvSpPr>
          <p:cNvPr id="6" name="Text 4"/>
          <p:cNvSpPr txBox="1"/>
          <p:nvPr/>
        </p:nvSpPr>
        <p:spPr>
          <a:xfrm>
            <a:off x="4754880" y="1143000"/>
            <a:ext cx="3931920" cy="365760"/>
          </a:xfrm>
          <a:prstGeom prst="rect">
            <a:avLst/>
          </a:prstGeom>
          <a:noFill/>
          <a:ln/>
        </p:spPr>
        <p:txBody>
          <a:bodyPr wrap="square" lIns="0" tIns="0" rIns="0" bIns="0" rtlCol="0" anchor="t"/>
          <a:lstStyle/>
          <a:p>
            <a:pPr indent="0" marL="0">
              <a:buNone/>
            </a:pPr>
            <a:r>
              <a:rPr lang="en-US" sz="1800" b="1" dirty="0">
                <a:solidFill>
                  <a:schemeClr val="tx2"/>
                </a:solidFill>
              </a:rPr>
              <a:t>これまでの経緯</a:t>
            </a:r>
            <a:endParaRPr lang="en-US" sz="1800" dirty="0"/>
          </a:p>
        </p:txBody>
      </p:sp>
      <p:sp>
        <p:nvSpPr>
          <p:cNvPr id="7" name="Shape 5"/>
          <p:cNvSpPr/>
          <p:nvPr/>
        </p:nvSpPr>
        <p:spPr>
          <a:xfrm>
            <a:off x="4892040" y="1783080"/>
            <a:ext cx="0" cy="2514600"/>
          </a:xfrm>
          <a:prstGeom prst="line">
            <a:avLst/>
          </a:prstGeom>
          <a:noFill/>
          <a:ln w="25400">
            <a:solidFill>
              <a:srgbClr val="D5DAD7"/>
            </a:solidFill>
            <a:prstDash val="solid"/>
          </a:ln>
        </p:spPr>
      </p:sp>
      <p:sp>
        <p:nvSpPr>
          <p:cNvPr id="8" name="Shape 6"/>
          <p:cNvSpPr/>
          <p:nvPr/>
        </p:nvSpPr>
        <p:spPr>
          <a:xfrm>
            <a:off x="4800600" y="1764792"/>
            <a:ext cx="182880" cy="182880"/>
          </a:xfrm>
          <a:prstGeom prst="ellipse">
            <a:avLst/>
          </a:prstGeom>
          <a:solidFill>
            <a:schemeClr val="accent5"/>
          </a:solidFill>
          <a:ln/>
        </p:spPr>
      </p:sp>
      <p:sp>
        <p:nvSpPr>
          <p:cNvPr id="9" name="Text 7"/>
          <p:cNvSpPr txBox="1"/>
          <p:nvPr/>
        </p:nvSpPr>
        <p:spPr>
          <a:xfrm>
            <a:off x="5120640" y="1691640"/>
            <a:ext cx="914400" cy="329184"/>
          </a:xfrm>
          <a:prstGeom prst="rect">
            <a:avLst/>
          </a:prstGeom>
          <a:noFill/>
          <a:ln/>
        </p:spPr>
        <p:txBody>
          <a:bodyPr wrap="square" lIns="0" tIns="0" rIns="0" bIns="0" rtlCol="0" anchor="t"/>
          <a:lstStyle/>
          <a:p>
            <a:pPr indent="0" marL="0">
              <a:buNone/>
            </a:pPr>
            <a:r>
              <a:rPr lang="en-US" sz="1400" dirty="0">
                <a:solidFill>
                  <a:schemeClr val="accent5"/>
                </a:solidFill>
              </a:rPr>
              <a:t>[R8.○]</a:t>
            </a:r>
            <a:endParaRPr lang="en-US" sz="1400" dirty="0"/>
          </a:p>
        </p:txBody>
      </p:sp>
      <p:sp>
        <p:nvSpPr>
          <p:cNvPr id="10" name="Text 8"/>
          <p:cNvSpPr txBox="1"/>
          <p:nvPr/>
        </p:nvSpPr>
        <p:spPr>
          <a:xfrm>
            <a:off x="6035040" y="1691640"/>
            <a:ext cx="2651760" cy="329184"/>
          </a:xfrm>
          <a:prstGeom prst="rect">
            <a:avLst/>
          </a:prstGeom>
          <a:noFill/>
          <a:ln/>
        </p:spPr>
        <p:txBody>
          <a:bodyPr wrap="square" lIns="0" tIns="0" rIns="0" bIns="0" rtlCol="0" anchor="t"/>
          <a:lstStyle/>
          <a:p>
            <a:pPr indent="0" marL="0">
              <a:buNone/>
            </a:pPr>
            <a:r>
              <a:rPr lang="en-US" sz="1500" dirty="0">
                <a:solidFill>
                  <a:schemeClr val="tx1"/>
                </a:solidFill>
              </a:rPr>
              <a:t>検討委員会を設置</a:t>
            </a:r>
            <a:endParaRPr lang="en-US" sz="1500" dirty="0"/>
          </a:p>
        </p:txBody>
      </p:sp>
      <p:sp>
        <p:nvSpPr>
          <p:cNvPr id="11" name="Shape 9"/>
          <p:cNvSpPr/>
          <p:nvPr/>
        </p:nvSpPr>
        <p:spPr>
          <a:xfrm>
            <a:off x="4800600" y="2450592"/>
            <a:ext cx="182880" cy="182880"/>
          </a:xfrm>
          <a:prstGeom prst="ellipse">
            <a:avLst/>
          </a:prstGeom>
          <a:solidFill>
            <a:schemeClr val="accent5"/>
          </a:solidFill>
          <a:ln/>
        </p:spPr>
      </p:sp>
      <p:sp>
        <p:nvSpPr>
          <p:cNvPr id="12" name="Text 10"/>
          <p:cNvSpPr txBox="1"/>
          <p:nvPr/>
        </p:nvSpPr>
        <p:spPr>
          <a:xfrm>
            <a:off x="5120640" y="2377440"/>
            <a:ext cx="914400" cy="329184"/>
          </a:xfrm>
          <a:prstGeom prst="rect">
            <a:avLst/>
          </a:prstGeom>
          <a:noFill/>
          <a:ln/>
        </p:spPr>
        <p:txBody>
          <a:bodyPr wrap="square" lIns="0" tIns="0" rIns="0" bIns="0" rtlCol="0" anchor="t"/>
          <a:lstStyle/>
          <a:p>
            <a:pPr indent="0" marL="0">
              <a:buNone/>
            </a:pPr>
            <a:r>
              <a:rPr lang="en-US" sz="1400" dirty="0">
                <a:solidFill>
                  <a:schemeClr val="accent5"/>
                </a:solidFill>
              </a:rPr>
              <a:t>[R8.○]</a:t>
            </a:r>
            <a:endParaRPr lang="en-US" sz="1400" dirty="0"/>
          </a:p>
        </p:txBody>
      </p:sp>
      <p:sp>
        <p:nvSpPr>
          <p:cNvPr id="13" name="Text 11"/>
          <p:cNvSpPr txBox="1"/>
          <p:nvPr/>
        </p:nvSpPr>
        <p:spPr>
          <a:xfrm>
            <a:off x="6035040" y="2377440"/>
            <a:ext cx="2651760" cy="329184"/>
          </a:xfrm>
          <a:prstGeom prst="rect">
            <a:avLst/>
          </a:prstGeom>
          <a:noFill/>
          <a:ln/>
        </p:spPr>
        <p:txBody>
          <a:bodyPr wrap="square" lIns="0" tIns="0" rIns="0" bIns="0" rtlCol="0" anchor="t"/>
          <a:lstStyle/>
          <a:p>
            <a:pPr indent="0" marL="0">
              <a:buNone/>
            </a:pPr>
            <a:r>
              <a:rPr lang="en-US" sz="1500" dirty="0">
                <a:solidFill>
                  <a:schemeClr val="tx1"/>
                </a:solidFill>
              </a:rPr>
              <a:t>児童・生徒数の推計を確認</a:t>
            </a:r>
            <a:endParaRPr lang="en-US" sz="1500" dirty="0"/>
          </a:p>
        </p:txBody>
      </p:sp>
      <p:sp>
        <p:nvSpPr>
          <p:cNvPr id="14" name="Shape 12"/>
          <p:cNvSpPr/>
          <p:nvPr/>
        </p:nvSpPr>
        <p:spPr>
          <a:xfrm>
            <a:off x="4800600" y="3136392"/>
            <a:ext cx="182880" cy="182880"/>
          </a:xfrm>
          <a:prstGeom prst="ellipse">
            <a:avLst/>
          </a:prstGeom>
          <a:solidFill>
            <a:schemeClr val="accent5"/>
          </a:solidFill>
          <a:ln/>
        </p:spPr>
      </p:sp>
      <p:sp>
        <p:nvSpPr>
          <p:cNvPr id="15" name="Text 13"/>
          <p:cNvSpPr txBox="1"/>
          <p:nvPr/>
        </p:nvSpPr>
        <p:spPr>
          <a:xfrm>
            <a:off x="5120640" y="3063240"/>
            <a:ext cx="914400" cy="329184"/>
          </a:xfrm>
          <a:prstGeom prst="rect">
            <a:avLst/>
          </a:prstGeom>
          <a:noFill/>
          <a:ln/>
        </p:spPr>
        <p:txBody>
          <a:bodyPr wrap="square" lIns="0" tIns="0" rIns="0" bIns="0" rtlCol="0" anchor="t"/>
          <a:lstStyle/>
          <a:p>
            <a:pPr indent="0" marL="0">
              <a:buNone/>
            </a:pPr>
            <a:r>
              <a:rPr lang="en-US" sz="1400" dirty="0">
                <a:solidFill>
                  <a:schemeClr val="accent5"/>
                </a:solidFill>
              </a:rPr>
              <a:t>[R8.○]</a:t>
            </a:r>
            <a:endParaRPr lang="en-US" sz="1400" dirty="0"/>
          </a:p>
        </p:txBody>
      </p:sp>
      <p:sp>
        <p:nvSpPr>
          <p:cNvPr id="16" name="Text 14"/>
          <p:cNvSpPr txBox="1"/>
          <p:nvPr/>
        </p:nvSpPr>
        <p:spPr>
          <a:xfrm>
            <a:off x="6035040" y="3063240"/>
            <a:ext cx="2651760" cy="329184"/>
          </a:xfrm>
          <a:prstGeom prst="rect">
            <a:avLst/>
          </a:prstGeom>
          <a:noFill/>
          <a:ln/>
        </p:spPr>
        <p:txBody>
          <a:bodyPr wrap="square" lIns="0" tIns="0" rIns="0" bIns="0" rtlCol="0" anchor="t"/>
          <a:lstStyle/>
          <a:p>
            <a:pPr indent="0" marL="0">
              <a:buNone/>
            </a:pPr>
            <a:r>
              <a:rPr lang="en-US" sz="1500" dirty="0">
                <a:solidFill>
                  <a:schemeClr val="tx1"/>
                </a:solidFill>
              </a:rPr>
              <a:t>再編を考える理由と進め方を協議</a:t>
            </a:r>
            <a:endParaRPr lang="en-US" sz="1500" dirty="0"/>
          </a:p>
        </p:txBody>
      </p:sp>
      <p:sp>
        <p:nvSpPr>
          <p:cNvPr id="17" name="Shape 15"/>
          <p:cNvSpPr/>
          <p:nvPr/>
        </p:nvSpPr>
        <p:spPr>
          <a:xfrm>
            <a:off x="4800600" y="3822192"/>
            <a:ext cx="182880" cy="182880"/>
          </a:xfrm>
          <a:prstGeom prst="ellipse">
            <a:avLst/>
          </a:prstGeom>
          <a:solidFill>
            <a:schemeClr val="accent1"/>
          </a:solidFill>
          <a:ln/>
        </p:spPr>
      </p:sp>
      <p:sp>
        <p:nvSpPr>
          <p:cNvPr id="18" name="Text 16"/>
          <p:cNvSpPr txBox="1"/>
          <p:nvPr/>
        </p:nvSpPr>
        <p:spPr>
          <a:xfrm>
            <a:off x="5120640" y="3749040"/>
            <a:ext cx="914400" cy="329184"/>
          </a:xfrm>
          <a:prstGeom prst="rect">
            <a:avLst/>
          </a:prstGeom>
          <a:noFill/>
          <a:ln/>
        </p:spPr>
        <p:txBody>
          <a:bodyPr wrap="square" lIns="0" tIns="0" rIns="0" bIns="0" rtlCol="0" anchor="t"/>
          <a:lstStyle/>
          <a:p>
            <a:pPr indent="0" marL="0">
              <a:buNone/>
            </a:pPr>
            <a:r>
              <a:rPr lang="en-US" sz="1400" dirty="0">
                <a:solidFill>
                  <a:schemeClr val="accent5"/>
                </a:solidFill>
              </a:rPr>
              <a:t>R8.○</a:t>
            </a:r>
            <a:endParaRPr lang="en-US" sz="1400" dirty="0"/>
          </a:p>
        </p:txBody>
      </p:sp>
      <p:sp>
        <p:nvSpPr>
          <p:cNvPr id="19" name="Text 17"/>
          <p:cNvSpPr txBox="1"/>
          <p:nvPr/>
        </p:nvSpPr>
        <p:spPr>
          <a:xfrm>
            <a:off x="6035040" y="3749040"/>
            <a:ext cx="2651760" cy="329184"/>
          </a:xfrm>
          <a:prstGeom prst="rect">
            <a:avLst/>
          </a:prstGeom>
          <a:noFill/>
          <a:ln/>
        </p:spPr>
        <p:txBody>
          <a:bodyPr wrap="square" lIns="0" tIns="0" rIns="0" bIns="0" rtlCol="0" anchor="t"/>
          <a:lstStyle/>
          <a:p>
            <a:pPr indent="0" marL="0">
              <a:buNone/>
            </a:pPr>
            <a:r>
              <a:rPr lang="en-US" sz="1500" b="1" dirty="0">
                <a:solidFill>
                  <a:schemeClr val="tx1"/>
                </a:solidFill>
              </a:rPr>
              <a:t>住民説明会（本日）</a:t>
            </a:r>
            <a:endParaRPr lang="en-US" sz="15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児童数の見通し：3校とも減っていく</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5577840" cy="914400"/>
        </p:xfrm>
        <a:graphic>
          <a:graphicData uri="http://schemas.openxmlformats.org/drawingml/2006/table">
            <a:tbl>
              <a:tblPr/>
              <a:tblGrid>
                <a:gridCol w="1417320"/>
                <a:gridCol w="594360"/>
                <a:gridCol w="594360"/>
                <a:gridCol w="594360"/>
                <a:gridCol w="594360"/>
                <a:gridCol w="594360"/>
                <a:gridCol w="594360"/>
                <a:gridCol w="594360"/>
              </a:tblGrid>
              <a:tr h="438912">
                <a:tc>
                  <a:txBody>
                    <a:bodyPr/>
                    <a:lstStyle/>
                    <a:p>
                      <a:pPr algn="l" indent="0" marL="0">
                        <a:buNone/>
                      </a:pP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R8</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R9</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R10</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R11</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R12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R13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R14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r>
              <a:tr h="438912">
                <a:tc>
                  <a:txBody>
                    <a:bodyPr/>
                    <a:lstStyle/>
                    <a:p>
                      <a:pPr algn="l"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綿内小</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273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265</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256</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245</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241</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230</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205</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438912">
                <a:tc>
                  <a:txBody>
                    <a:bodyPr/>
                    <a:lstStyle/>
                    <a:p>
                      <a:pPr algn="l"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川田小</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157</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142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135</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130</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118</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101</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83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438912">
                <a:tc>
                  <a:txBody>
                    <a:bodyPr/>
                    <a:lstStyle/>
                    <a:p>
                      <a:pPr algn="l"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保科小</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54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56</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48</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49</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44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42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42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438912">
                <a:tc>
                  <a:txBody>
                    <a:bodyPr/>
                    <a:lstStyle/>
                    <a:p>
                      <a:pPr algn="l"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3校合計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484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463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439</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424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403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373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c>
                  <a:txBody>
                    <a:bodyPr/>
                    <a:lstStyle/>
                    <a:p>
                      <a:pPr algn="ctr" indent="0" marL="0">
                        <a:buNone/>
                      </a:pPr>
                      <a:r>
                        <a:rPr lang="en-US" sz="1300" b="1" dirty="0">
                          <a:solidFill>
                            <a:srgbClr val="222222"/>
                          </a:solidFill>
                          <a:latin typeface="BIZ UDPゴシック" pitchFamily="34" charset="0"/>
                          <a:ea typeface="BIZ UDPゴシック" pitchFamily="34" charset="-122"/>
                          <a:cs typeface="BIZ UDPゴシック" pitchFamily="34" charset="-120"/>
                        </a:rPr>
                        <a:t>330</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F1F3F2"/>
                    </a:solidFill>
                  </a:tcPr>
                </a:tc>
              </a:tr>
              <a:tr h="438912">
                <a:tc>
                  <a:txBody>
                    <a:bodyPr/>
                    <a:lstStyle/>
                    <a:p>
                      <a:pPr algn="l"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新1年生計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72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72</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63</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66</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51</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44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algn="ctr" indent="0" marL="0">
                        <a:buNone/>
                      </a:pPr>
                      <a:r>
                        <a:rPr lang="en-US" sz="1300" b="1" dirty="0">
                          <a:solidFill>
                            <a:srgbClr val="E1582B"/>
                          </a:solidFill>
                          <a:latin typeface="BIZ UDPゴシック" pitchFamily="34" charset="0"/>
                          <a:ea typeface="BIZ UDPゴシック" pitchFamily="34" charset="-122"/>
                          <a:cs typeface="BIZ UDPゴシック" pitchFamily="34" charset="-120"/>
                        </a:rPr>
                        <a:t>34</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bl>
          </a:graphicData>
        </a:graphic>
      </p:graphicFrame>
      <p:sp>
        <p:nvSpPr>
          <p:cNvPr id="4" name="Text 1"/>
          <p:cNvSpPr txBox="1"/>
          <p:nvPr/>
        </p:nvSpPr>
        <p:spPr>
          <a:xfrm>
            <a:off x="457200" y="3703320"/>
            <a:ext cx="5577840" cy="274320"/>
          </a:xfrm>
          <a:prstGeom prst="rect">
            <a:avLst/>
          </a:prstGeom>
          <a:noFill/>
          <a:ln/>
        </p:spPr>
        <p:txBody>
          <a:bodyPr wrap="square" lIns="0" tIns="0" rIns="0" bIns="0" rtlCol="0" anchor="t"/>
          <a:lstStyle/>
          <a:p>
            <a:pPr indent="0" marL="0">
              <a:buNone/>
            </a:pPr>
            <a:r>
              <a:rPr lang="en-US" sz="1000" dirty="0">
                <a:solidFill>
                  <a:schemeClr val="accent5"/>
                </a:solidFill>
              </a:rPr>
              <a:t>単位：人。R8.5.1現在の推計（長野市教育委員会）</a:t>
            </a:r>
            <a:endParaRPr lang="en-US" sz="1000" dirty="0"/>
          </a:p>
        </p:txBody>
      </p:sp>
      <p:sp>
        <p:nvSpPr>
          <p:cNvPr id="5" name="callout-total"/>
          <p:cNvSpPr/>
          <p:nvPr/>
        </p:nvSpPr>
        <p:spPr>
          <a:xfrm>
            <a:off x="6355080" y="960120"/>
            <a:ext cx="2331720" cy="1691640"/>
          </a:xfrm>
          <a:prstGeom prst="roundRect">
            <a:avLst>
              <a:gd name="adj" fmla="val 4324"/>
            </a:avLst>
          </a:prstGeom>
          <a:solidFill>
            <a:schemeClr val="bg2"/>
          </a:solidFill>
          <a:ln/>
        </p:spPr>
      </p:sp>
      <p:sp>
        <p:nvSpPr>
          <p:cNvPr id="6" name="Text 3"/>
          <p:cNvSpPr txBox="1"/>
          <p:nvPr/>
        </p:nvSpPr>
        <p:spPr>
          <a:xfrm>
            <a:off x="6537960" y="1097280"/>
            <a:ext cx="2011680" cy="685800"/>
          </a:xfrm>
          <a:prstGeom prst="rect">
            <a:avLst/>
          </a:prstGeom>
          <a:noFill/>
          <a:ln/>
        </p:spPr>
        <p:txBody>
          <a:bodyPr wrap="square" lIns="0" tIns="0" rIns="0" bIns="0" rtlCol="0" anchor="t"/>
          <a:lstStyle/>
          <a:p>
            <a:pPr indent="0" marL="0">
              <a:buNone/>
            </a:pPr>
            <a:r>
              <a:rPr lang="en-US" sz="4000" b="1" dirty="0">
                <a:solidFill>
                  <a:schemeClr val="accent1"/>
                </a:solidFill>
              </a:rPr>
              <a:t>−32%</a:t>
            </a:r>
            <a:endParaRPr lang="en-US" sz="4000" dirty="0"/>
          </a:p>
        </p:txBody>
      </p:sp>
      <p:sp>
        <p:nvSpPr>
          <p:cNvPr id="7" name="Text 4"/>
          <p:cNvSpPr txBox="1"/>
          <p:nvPr/>
        </p:nvSpPr>
        <p:spPr>
          <a:xfrm>
            <a:off x="6537960" y="1828800"/>
            <a:ext cx="2011680" cy="685800"/>
          </a:xfrm>
          <a:prstGeom prst="rect">
            <a:avLst/>
          </a:prstGeom>
          <a:noFill/>
          <a:ln/>
        </p:spPr>
        <p:txBody>
          <a:bodyPr wrap="square" lIns="0" tIns="0" rIns="0" bIns="0" rtlCol="0" anchor="t"/>
          <a:lstStyle/>
          <a:p>
            <a:pPr indent="0" marL="0">
              <a:buNone/>
            </a:pPr>
            <a:r>
              <a:rPr lang="en-US" sz="1300" dirty="0">
                <a:solidFill>
                  <a:schemeClr val="tx1"/>
                </a:solidFill>
              </a:rPr>
              <a:t>3校の児童数</a:t>
            </a:r>
            <a:endParaRPr lang="en-US" sz="1300" dirty="0"/>
          </a:p>
          <a:p>
            <a:pPr indent="0" marL="0">
              <a:buNone/>
            </a:pPr>
            <a:r>
              <a:rPr lang="en-US" sz="1300" dirty="0">
                <a:solidFill>
                  <a:schemeClr val="tx1"/>
                </a:solidFill>
              </a:rPr>
              <a:t>R8 484人 → R14 330人</a:t>
            </a:r>
            <a:endParaRPr lang="en-US" sz="1300" dirty="0"/>
          </a:p>
        </p:txBody>
      </p:sp>
      <p:sp>
        <p:nvSpPr>
          <p:cNvPr id="8" name="callout-hoshina"/>
          <p:cNvSpPr/>
          <p:nvPr/>
        </p:nvSpPr>
        <p:spPr>
          <a:xfrm>
            <a:off x="6355080" y="2834640"/>
            <a:ext cx="2331720" cy="1691640"/>
          </a:xfrm>
          <a:prstGeom prst="roundRect">
            <a:avLst>
              <a:gd name="adj" fmla="val 4324"/>
            </a:avLst>
          </a:prstGeom>
          <a:solidFill>
            <a:schemeClr val="bg2"/>
          </a:solidFill>
          <a:ln/>
        </p:spPr>
      </p:sp>
      <p:sp>
        <p:nvSpPr>
          <p:cNvPr id="9" name="Text 6"/>
          <p:cNvSpPr txBox="1"/>
          <p:nvPr/>
        </p:nvSpPr>
        <p:spPr>
          <a:xfrm>
            <a:off x="6537960" y="2971800"/>
            <a:ext cx="2011680" cy="685800"/>
          </a:xfrm>
          <a:prstGeom prst="rect">
            <a:avLst/>
          </a:prstGeom>
          <a:noFill/>
          <a:ln/>
        </p:spPr>
        <p:txBody>
          <a:bodyPr wrap="square" lIns="0" tIns="0" rIns="0" bIns="0" rtlCol="0" anchor="t"/>
          <a:lstStyle/>
          <a:p>
            <a:pPr indent="0" marL="0">
              <a:buNone/>
            </a:pPr>
            <a:r>
              <a:rPr lang="en-US" sz="4000" b="1" dirty="0">
                <a:solidFill>
                  <a:schemeClr val="accent1"/>
                </a:solidFill>
              </a:rPr>
              <a:t>2人</a:t>
            </a:r>
            <a:endParaRPr lang="en-US" sz="4000" dirty="0"/>
          </a:p>
        </p:txBody>
      </p:sp>
      <p:sp>
        <p:nvSpPr>
          <p:cNvPr id="10" name="Text 7"/>
          <p:cNvSpPr txBox="1"/>
          <p:nvPr/>
        </p:nvSpPr>
        <p:spPr>
          <a:xfrm>
            <a:off x="6537960" y="3703320"/>
            <a:ext cx="2011680" cy="685800"/>
          </a:xfrm>
          <a:prstGeom prst="rect">
            <a:avLst/>
          </a:prstGeom>
          <a:noFill/>
          <a:ln/>
        </p:spPr>
        <p:txBody>
          <a:bodyPr wrap="square" lIns="0" tIns="0" rIns="0" bIns="0" rtlCol="0" anchor="t"/>
          <a:lstStyle/>
          <a:p>
            <a:pPr indent="0" marL="0">
              <a:buNone/>
            </a:pPr>
            <a:r>
              <a:rPr lang="en-US" sz="1300" dirty="0">
                <a:solidFill>
                  <a:schemeClr val="tx1"/>
                </a:solidFill>
              </a:rPr>
              <a:t>保科小で新1年生が</a:t>
            </a:r>
            <a:endParaRPr lang="en-US" sz="1300" dirty="0"/>
          </a:p>
          <a:p>
            <a:pPr indent="0" marL="0">
              <a:buNone/>
            </a:pPr>
            <a:r>
              <a:rPr lang="en-US" sz="1300" dirty="0">
                <a:solidFill>
                  <a:schemeClr val="tx1"/>
                </a:solidFill>
              </a:rPr>
              <a:t>2人になる年</a:t>
            </a:r>
            <a:endParaRPr lang="en-US" sz="1300" dirty="0"/>
          </a:p>
          <a:p>
            <a:pPr indent="0" marL="0">
              <a:buNone/>
            </a:pPr>
            <a:r>
              <a:rPr lang="en-US" sz="1300" dirty="0">
                <a:solidFill>
                  <a:schemeClr val="tx1"/>
                </a:solidFill>
              </a:rPr>
              <a:t>（R8・R12・R14）</a:t>
            </a:r>
            <a:endParaRPr lang="en-US" sz="1300" dirty="0"/>
          </a:p>
        </p:txBody>
      </p:sp>
      <p:sp>
        <p:nvSpPr>
          <p:cNvPr id="11" name="Text 8"/>
          <p:cNvSpPr txBox="1"/>
          <p:nvPr/>
        </p:nvSpPr>
        <p:spPr>
          <a:xfrm>
            <a:off x="457200" y="4069080"/>
            <a:ext cx="5577840" cy="548640"/>
          </a:xfrm>
          <a:prstGeom prst="rect">
            <a:avLst/>
          </a:prstGeom>
          <a:noFill/>
          <a:ln/>
        </p:spPr>
        <p:txBody>
          <a:bodyPr wrap="square" lIns="0" tIns="0" rIns="0" bIns="0" rtlCol="0" anchor="t"/>
          <a:lstStyle/>
          <a:p>
            <a:pPr indent="0" marL="0">
              <a:buNone/>
            </a:pPr>
            <a:r>
              <a:rPr lang="en-US" sz="1400" b="1" dirty="0">
                <a:solidFill>
                  <a:schemeClr val="tx2"/>
                </a:solidFill>
              </a:rPr>
              <a:t>若穂全体の新1年生は、R8の72人からR14には34人と半分以下になります。</a:t>
            </a:r>
            <a:endParaRPr lang="en-US" sz="14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生徒数の見通し：若穂中はR20に半分以下へ</a:t>
            </a:r>
            <a:endParaRPr lang="en-US" sz="2200" dirty="0"/>
          </a:p>
        </p:txBody>
      </p:sp>
      <p:graphicFrame>
        <p:nvGraphicFramePr>
          <p:cNvPr id="3" name="Chart 0" descr=""/>
          <p:cNvGraphicFramePr/>
          <p:nvPr/>
        </p:nvGraphicFramePr>
        <p:xfrm>
          <a:off x="365760" y="914400"/>
          <a:ext cx="5760720" cy="3611880"/>
        </p:xfrm>
        <a:graphic xmlns:a="http://schemas.openxmlformats.org/drawingml/2006/main">
          <a:graphicData uri="http://schemas.openxmlformats.org/drawingml/2006/chart">
            <c:chart xmlns:c="http://schemas.openxmlformats.org/drawingml/2006/chart" r:id="rId1"/>
          </a:graphicData>
        </a:graphic>
      </p:graphicFrame>
      <p:sp>
        <p:nvSpPr>
          <p:cNvPr id="4" name="callout-jh-total"/>
          <p:cNvSpPr/>
          <p:nvPr/>
        </p:nvSpPr>
        <p:spPr>
          <a:xfrm>
            <a:off x="6355080" y="960120"/>
            <a:ext cx="2331720" cy="1691640"/>
          </a:xfrm>
          <a:prstGeom prst="roundRect">
            <a:avLst>
              <a:gd name="adj" fmla="val 4324"/>
            </a:avLst>
          </a:prstGeom>
          <a:solidFill>
            <a:schemeClr val="bg2"/>
          </a:solidFill>
          <a:ln/>
        </p:spPr>
      </p:sp>
      <p:sp>
        <p:nvSpPr>
          <p:cNvPr id="5" name="Text 2"/>
          <p:cNvSpPr txBox="1"/>
          <p:nvPr/>
        </p:nvSpPr>
        <p:spPr>
          <a:xfrm>
            <a:off x="6537960" y="1097280"/>
            <a:ext cx="2011680" cy="685800"/>
          </a:xfrm>
          <a:prstGeom prst="rect">
            <a:avLst/>
          </a:prstGeom>
          <a:noFill/>
          <a:ln/>
        </p:spPr>
        <p:txBody>
          <a:bodyPr wrap="square" lIns="0" tIns="0" rIns="0" bIns="0" rtlCol="0" anchor="t"/>
          <a:lstStyle/>
          <a:p>
            <a:pPr indent="0" marL="0">
              <a:buNone/>
            </a:pPr>
            <a:r>
              <a:rPr lang="en-US" sz="4000" b="1" dirty="0">
                <a:solidFill>
                  <a:schemeClr val="accent1"/>
                </a:solidFill>
              </a:rPr>
              <a:t>129人</a:t>
            </a:r>
            <a:endParaRPr lang="en-US" sz="4000" dirty="0"/>
          </a:p>
        </p:txBody>
      </p:sp>
      <p:sp>
        <p:nvSpPr>
          <p:cNvPr id="6" name="Text 3"/>
          <p:cNvSpPr txBox="1"/>
          <p:nvPr/>
        </p:nvSpPr>
        <p:spPr>
          <a:xfrm>
            <a:off x="6537960" y="1828800"/>
            <a:ext cx="2011680" cy="685800"/>
          </a:xfrm>
          <a:prstGeom prst="rect">
            <a:avLst/>
          </a:prstGeom>
          <a:noFill/>
          <a:ln/>
        </p:spPr>
        <p:txBody>
          <a:bodyPr wrap="square" lIns="0" tIns="0" rIns="0" bIns="0" rtlCol="0" anchor="t"/>
          <a:lstStyle/>
          <a:p>
            <a:pPr indent="0" marL="0">
              <a:buNone/>
            </a:pPr>
            <a:r>
              <a:rPr lang="en-US" sz="1300" dirty="0">
                <a:solidFill>
                  <a:schemeClr val="tx1"/>
                </a:solidFill>
              </a:rPr>
              <a:t>R20の全校生徒数</a:t>
            </a:r>
            <a:endParaRPr lang="en-US" sz="1300" dirty="0"/>
          </a:p>
          <a:p>
            <a:pPr indent="0" marL="0">
              <a:buNone/>
            </a:pPr>
            <a:r>
              <a:rPr lang="en-US" sz="1300" dirty="0">
                <a:solidFill>
                  <a:schemeClr val="tx1"/>
                </a:solidFill>
              </a:rPr>
              <a:t>（R8は284人）</a:t>
            </a:r>
            <a:endParaRPr lang="en-US" sz="1300" dirty="0"/>
          </a:p>
        </p:txBody>
      </p:sp>
      <p:sp>
        <p:nvSpPr>
          <p:cNvPr id="7" name="callout-jh-first"/>
          <p:cNvSpPr/>
          <p:nvPr/>
        </p:nvSpPr>
        <p:spPr>
          <a:xfrm>
            <a:off x="6355080" y="2834640"/>
            <a:ext cx="2331720" cy="1691640"/>
          </a:xfrm>
          <a:prstGeom prst="roundRect">
            <a:avLst>
              <a:gd name="adj" fmla="val 4324"/>
            </a:avLst>
          </a:prstGeom>
          <a:solidFill>
            <a:schemeClr val="bg2"/>
          </a:solidFill>
          <a:ln/>
        </p:spPr>
      </p:sp>
      <p:sp>
        <p:nvSpPr>
          <p:cNvPr id="8" name="Text 5"/>
          <p:cNvSpPr txBox="1"/>
          <p:nvPr/>
        </p:nvSpPr>
        <p:spPr>
          <a:xfrm>
            <a:off x="6537960" y="2971800"/>
            <a:ext cx="2011680" cy="685800"/>
          </a:xfrm>
          <a:prstGeom prst="rect">
            <a:avLst/>
          </a:prstGeom>
          <a:noFill/>
          <a:ln/>
        </p:spPr>
        <p:txBody>
          <a:bodyPr wrap="square" lIns="0" tIns="0" rIns="0" bIns="0" rtlCol="0" anchor="t"/>
          <a:lstStyle/>
          <a:p>
            <a:pPr indent="0" marL="0">
              <a:buNone/>
            </a:pPr>
            <a:r>
              <a:rPr lang="en-US" sz="4000" b="1" dirty="0">
                <a:solidFill>
                  <a:schemeClr val="accent1"/>
                </a:solidFill>
              </a:rPr>
              <a:t>34人</a:t>
            </a:r>
            <a:endParaRPr lang="en-US" sz="4000" dirty="0"/>
          </a:p>
        </p:txBody>
      </p:sp>
      <p:sp>
        <p:nvSpPr>
          <p:cNvPr id="9" name="Text 6"/>
          <p:cNvSpPr txBox="1"/>
          <p:nvPr/>
        </p:nvSpPr>
        <p:spPr>
          <a:xfrm>
            <a:off x="6537960" y="3703320"/>
            <a:ext cx="2011680" cy="685800"/>
          </a:xfrm>
          <a:prstGeom prst="rect">
            <a:avLst/>
          </a:prstGeom>
          <a:noFill/>
          <a:ln/>
        </p:spPr>
        <p:txBody>
          <a:bodyPr wrap="square" lIns="0" tIns="0" rIns="0" bIns="0" rtlCol="0" anchor="t"/>
          <a:lstStyle/>
          <a:p>
            <a:pPr indent="0" marL="0">
              <a:buNone/>
            </a:pPr>
            <a:r>
              <a:rPr lang="en-US" sz="1300" dirty="0">
                <a:solidFill>
                  <a:schemeClr val="tx1"/>
                </a:solidFill>
              </a:rPr>
              <a:t>R20の1年生</a:t>
            </a:r>
            <a:endParaRPr lang="en-US" sz="1300" dirty="0"/>
          </a:p>
          <a:p>
            <a:pPr indent="0" marL="0">
              <a:buNone/>
            </a:pPr>
            <a:r>
              <a:rPr lang="en-US" sz="1300" dirty="0">
                <a:solidFill>
                  <a:schemeClr val="tx1"/>
                </a:solidFill>
              </a:rPr>
              <a:t>（R8は85人）</a:t>
            </a:r>
            <a:endParaRPr lang="en-US" sz="1300" dirty="0"/>
          </a:p>
        </p:txBody>
      </p:sp>
      <p:sp>
        <p:nvSpPr>
          <p:cNvPr id="10" name="Text 7"/>
          <p:cNvSpPr txBox="1"/>
          <p:nvPr/>
        </p:nvSpPr>
        <p:spPr>
          <a:xfrm>
            <a:off x="457200" y="4526280"/>
            <a:ext cx="5486400" cy="228600"/>
          </a:xfrm>
          <a:prstGeom prst="rect">
            <a:avLst/>
          </a:prstGeom>
          <a:noFill/>
          <a:ln/>
        </p:spPr>
        <p:txBody>
          <a:bodyPr wrap="square" lIns="0" tIns="0" rIns="0" bIns="0" rtlCol="0" anchor="t"/>
          <a:lstStyle/>
          <a:p>
            <a:pPr indent="0" marL="0">
              <a:buNone/>
            </a:pPr>
            <a:r>
              <a:rPr lang="en-US" sz="1000" dirty="0">
                <a:solidFill>
                  <a:schemeClr val="accent5"/>
                </a:solidFill>
              </a:rPr>
              <a:t>R8.5.1現在の推計（長野市教育委員会）</a:t>
            </a:r>
            <a:endParaRPr lang="en-US" sz="10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若穂は、市全体より速いペースで減っていく</a:t>
            </a:r>
            <a:endParaRPr lang="en-US" sz="2200" dirty="0"/>
          </a:p>
        </p:txBody>
      </p:sp>
      <p:graphicFrame>
        <p:nvGraphicFramePr>
          <p:cNvPr id="3" name="Chart 0" descr=""/>
          <p:cNvGraphicFramePr/>
          <p:nvPr/>
        </p:nvGraphicFramePr>
        <p:xfrm>
          <a:off x="365760" y="914400"/>
          <a:ext cx="4023360" cy="2971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754880" y="914400"/>
          <a:ext cx="4023360" cy="2971800"/>
        </p:xfrm>
        <a:graphic xmlns:a="http://schemas.openxmlformats.org/drawingml/2006/main">
          <a:graphicData uri="http://schemas.openxmlformats.org/drawingml/2006/chart">
            <c:chart xmlns:c="http://schemas.openxmlformats.org/drawingml/2006/chart" r:id="rId2"/>
          </a:graphicData>
        </a:graphic>
      </p:graphicFrame>
      <p:sp>
        <p:nvSpPr>
          <p:cNvPr id="5" name="elem-compare"/>
          <p:cNvSpPr/>
          <p:nvPr/>
        </p:nvSpPr>
        <p:spPr>
          <a:xfrm>
            <a:off x="457200" y="3977640"/>
            <a:ext cx="3840480" cy="640080"/>
          </a:xfrm>
          <a:prstGeom prst="roundRect">
            <a:avLst>
              <a:gd name="adj" fmla="val 11429"/>
            </a:avLst>
          </a:prstGeom>
          <a:solidFill>
            <a:schemeClr val="bg2"/>
          </a:solidFill>
          <a:ln/>
        </p:spPr>
      </p:sp>
      <p:sp>
        <p:nvSpPr>
          <p:cNvPr id="6" name="Text 2"/>
          <p:cNvSpPr txBox="1"/>
          <p:nvPr/>
        </p:nvSpPr>
        <p:spPr>
          <a:xfrm>
            <a:off x="640080" y="4023360"/>
            <a:ext cx="3566160" cy="548640"/>
          </a:xfrm>
          <a:prstGeom prst="rect">
            <a:avLst/>
          </a:prstGeom>
          <a:noFill/>
          <a:ln/>
        </p:spPr>
        <p:txBody>
          <a:bodyPr wrap="square" lIns="0" tIns="0" rIns="0" bIns="0" rtlCol="0" anchor="ctr"/>
          <a:lstStyle/>
          <a:p>
            <a:pPr indent="0" marL="0">
              <a:buNone/>
            </a:pPr>
            <a:r>
              <a:rPr lang="en-US" sz="1400" dirty="0">
                <a:solidFill>
                  <a:schemeClr val="tx1"/>
                </a:solidFill>
              </a:rPr>
              <a:t>R14  若穂 </a:t>
            </a:r>
            <a:pPr indent="0" marL="0">
              <a:buNone/>
            </a:pPr>
            <a:r>
              <a:rPr lang="en-US" sz="2000" b="1" dirty="0">
                <a:solidFill>
                  <a:schemeClr val="accent1"/>
                </a:solidFill>
              </a:rPr>
              <a:t>68</a:t>
            </a:r>
            <a:pPr indent="0" marL="0">
              <a:buNone/>
            </a:pPr>
            <a:r>
              <a:rPr lang="en-US" sz="1400" dirty="0">
                <a:solidFill>
                  <a:schemeClr val="tx1"/>
                </a:solidFill>
              </a:rPr>
              <a:t>　／　市全体 80</a:t>
            </a:r>
            <a:endParaRPr lang="en-US" sz="1400" dirty="0"/>
          </a:p>
        </p:txBody>
      </p:sp>
      <p:sp>
        <p:nvSpPr>
          <p:cNvPr id="7" name="jh-compare"/>
          <p:cNvSpPr/>
          <p:nvPr/>
        </p:nvSpPr>
        <p:spPr>
          <a:xfrm>
            <a:off x="4846320" y="3977640"/>
            <a:ext cx="3840480" cy="640080"/>
          </a:xfrm>
          <a:prstGeom prst="roundRect">
            <a:avLst>
              <a:gd name="adj" fmla="val 11429"/>
            </a:avLst>
          </a:prstGeom>
          <a:solidFill>
            <a:schemeClr val="bg2"/>
          </a:solidFill>
          <a:ln/>
        </p:spPr>
      </p:sp>
      <p:sp>
        <p:nvSpPr>
          <p:cNvPr id="8" name="Text 4"/>
          <p:cNvSpPr txBox="1"/>
          <p:nvPr/>
        </p:nvSpPr>
        <p:spPr>
          <a:xfrm>
            <a:off x="5029200" y="4023360"/>
            <a:ext cx="3566160" cy="548640"/>
          </a:xfrm>
          <a:prstGeom prst="rect">
            <a:avLst/>
          </a:prstGeom>
          <a:noFill/>
          <a:ln/>
        </p:spPr>
        <p:txBody>
          <a:bodyPr wrap="square" lIns="0" tIns="0" rIns="0" bIns="0" rtlCol="0" anchor="ctr"/>
          <a:lstStyle/>
          <a:p>
            <a:pPr indent="0" marL="0">
              <a:buNone/>
            </a:pPr>
            <a:r>
              <a:rPr lang="en-US" sz="1400" dirty="0">
                <a:solidFill>
                  <a:schemeClr val="tx1"/>
                </a:solidFill>
              </a:rPr>
              <a:t>R20  若穂 </a:t>
            </a:r>
            <a:pPr indent="0" marL="0">
              <a:buNone/>
            </a:pPr>
            <a:r>
              <a:rPr lang="en-US" sz="2000" b="1" dirty="0">
                <a:solidFill>
                  <a:schemeClr val="accent1"/>
                </a:solidFill>
              </a:rPr>
              <a:t>45</a:t>
            </a:r>
            <a:pPr indent="0" marL="0">
              <a:buNone/>
            </a:pPr>
            <a:r>
              <a:rPr lang="en-US" sz="1400" dirty="0">
                <a:solidFill>
                  <a:schemeClr val="tx1"/>
                </a:solidFill>
              </a:rPr>
              <a:t>　／　市全体 61</a:t>
            </a:r>
            <a:endParaRPr lang="en-US" sz="1400" dirty="0"/>
          </a:p>
        </p:txBody>
      </p:sp>
      <p:sp>
        <p:nvSpPr>
          <p:cNvPr id="9" name="Text 5"/>
          <p:cNvSpPr txBox="1"/>
          <p:nvPr/>
        </p:nvSpPr>
        <p:spPr>
          <a:xfrm>
            <a:off x="457200" y="4617720"/>
            <a:ext cx="7315200" cy="201168"/>
          </a:xfrm>
          <a:prstGeom prst="rect">
            <a:avLst/>
          </a:prstGeom>
          <a:noFill/>
          <a:ln/>
        </p:spPr>
        <p:txBody>
          <a:bodyPr wrap="square" lIns="0" tIns="0" rIns="0" bIns="0" rtlCol="0" anchor="t"/>
          <a:lstStyle/>
          <a:p>
            <a:pPr indent="0" marL="0">
              <a:buNone/>
            </a:pPr>
            <a:r>
              <a:rPr lang="en-US" sz="900" dirty="0">
                <a:solidFill>
                  <a:schemeClr val="accent5"/>
                </a:solidFill>
              </a:rPr>
              <a:t>R8年度の人数を100とした指数。配布資料の推計（R8.5.1現在）から作成</a:t>
            </a:r>
            <a:endParaRPr lang="en-US" sz="9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なぜ今？① 子どもの数から見えてくること</a:t>
            </a:r>
            <a:endParaRPr lang="en-US" sz="2200" dirty="0"/>
          </a:p>
        </p:txBody>
      </p:sp>
      <p:sp>
        <p:nvSpPr>
          <p:cNvPr id="3" name="card-0"/>
          <p:cNvSpPr/>
          <p:nvPr/>
        </p:nvSpPr>
        <p:spPr>
          <a:xfrm>
            <a:off x="457200" y="960120"/>
            <a:ext cx="2615184" cy="2971800"/>
          </a:xfrm>
          <a:prstGeom prst="roundRect">
            <a:avLst>
              <a:gd name="adj" fmla="val 2797"/>
            </a:avLst>
          </a:prstGeom>
          <a:solidFill>
            <a:schemeClr val="bg2"/>
          </a:solidFill>
          <a:ln/>
        </p:spPr>
      </p:sp>
      <p:sp>
        <p:nvSpPr>
          <p:cNvPr id="4" name="Text 2"/>
          <p:cNvSpPr txBox="1"/>
          <p:nvPr/>
        </p:nvSpPr>
        <p:spPr>
          <a:xfrm>
            <a:off x="658368" y="1143000"/>
            <a:ext cx="2212848" cy="411480"/>
          </a:xfrm>
          <a:prstGeom prst="rect">
            <a:avLst/>
          </a:prstGeom>
          <a:noFill/>
          <a:ln/>
        </p:spPr>
        <p:txBody>
          <a:bodyPr wrap="square" lIns="0" tIns="0" rIns="0" bIns="0" rtlCol="0" anchor="t"/>
          <a:lstStyle/>
          <a:p>
            <a:pPr indent="0" marL="0">
              <a:buNone/>
            </a:pPr>
            <a:r>
              <a:rPr lang="en-US" sz="1800" b="1" dirty="0">
                <a:solidFill>
                  <a:schemeClr val="tx2"/>
                </a:solidFill>
              </a:rPr>
              <a:t>学級の人数</a:t>
            </a:r>
            <a:endParaRPr lang="en-US" sz="1800" dirty="0"/>
          </a:p>
        </p:txBody>
      </p:sp>
      <p:sp>
        <p:nvSpPr>
          <p:cNvPr id="5" name="Text 3"/>
          <p:cNvSpPr txBox="1"/>
          <p:nvPr/>
        </p:nvSpPr>
        <p:spPr>
          <a:xfrm>
            <a:off x="658368" y="1645920"/>
            <a:ext cx="2212848" cy="132588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川田小の新1年生はR12以降10人前後。保科小は年によって2人〜15人と大きく変わります。</a:t>
            </a:r>
            <a:endParaRPr lang="en-US" sz="1400" dirty="0"/>
          </a:p>
        </p:txBody>
      </p:sp>
      <p:sp>
        <p:nvSpPr>
          <p:cNvPr id="6" name="Text 4"/>
          <p:cNvSpPr txBox="1"/>
          <p:nvPr/>
        </p:nvSpPr>
        <p:spPr>
          <a:xfrm>
            <a:off x="658368" y="3063240"/>
            <a:ext cx="2212848" cy="731520"/>
          </a:xfrm>
          <a:prstGeom prst="rect">
            <a:avLst/>
          </a:prstGeom>
          <a:noFill/>
          <a:ln/>
        </p:spPr>
        <p:txBody>
          <a:bodyPr wrap="square" lIns="0" tIns="0" rIns="0" bIns="0" rtlCol="0" anchor="t"/>
          <a:lstStyle/>
          <a:p>
            <a:pPr indent="0" marL="0">
              <a:buNone/>
            </a:pPr>
            <a:r>
              <a:rPr lang="en-US" sz="1400" b="1" dirty="0">
                <a:solidFill>
                  <a:schemeClr val="accent1"/>
                </a:solidFill>
              </a:rPr>
              <a:t>話し合いや集団での活動が組みにくくなる</a:t>
            </a:r>
            <a:endParaRPr lang="en-US" sz="1400" dirty="0"/>
          </a:p>
        </p:txBody>
      </p:sp>
      <p:sp>
        <p:nvSpPr>
          <p:cNvPr id="7" name="card-1"/>
          <p:cNvSpPr/>
          <p:nvPr/>
        </p:nvSpPr>
        <p:spPr>
          <a:xfrm>
            <a:off x="3264408" y="960120"/>
            <a:ext cx="2615184" cy="2971800"/>
          </a:xfrm>
          <a:prstGeom prst="roundRect">
            <a:avLst>
              <a:gd name="adj" fmla="val 2797"/>
            </a:avLst>
          </a:prstGeom>
          <a:solidFill>
            <a:schemeClr val="bg2"/>
          </a:solidFill>
          <a:ln/>
        </p:spPr>
      </p:sp>
      <p:sp>
        <p:nvSpPr>
          <p:cNvPr id="8" name="Text 6"/>
          <p:cNvSpPr txBox="1"/>
          <p:nvPr/>
        </p:nvSpPr>
        <p:spPr>
          <a:xfrm>
            <a:off x="3465576" y="1143000"/>
            <a:ext cx="2212848" cy="411480"/>
          </a:xfrm>
          <a:prstGeom prst="rect">
            <a:avLst/>
          </a:prstGeom>
          <a:noFill/>
          <a:ln/>
        </p:spPr>
        <p:txBody>
          <a:bodyPr wrap="square" lIns="0" tIns="0" rIns="0" bIns="0" rtlCol="0" anchor="t"/>
          <a:lstStyle/>
          <a:p>
            <a:pPr indent="0" marL="0">
              <a:buNone/>
            </a:pPr>
            <a:r>
              <a:rPr lang="en-US" sz="1800" b="1" dirty="0">
                <a:solidFill>
                  <a:schemeClr val="tx2"/>
                </a:solidFill>
              </a:rPr>
              <a:t>クラス替え</a:t>
            </a:r>
            <a:endParaRPr lang="en-US" sz="1800" dirty="0"/>
          </a:p>
        </p:txBody>
      </p:sp>
      <p:sp>
        <p:nvSpPr>
          <p:cNvPr id="9" name="Text 7"/>
          <p:cNvSpPr txBox="1"/>
          <p:nvPr/>
        </p:nvSpPr>
        <p:spPr>
          <a:xfrm>
            <a:off x="3465576" y="1645920"/>
            <a:ext cx="2212848" cy="132588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川田小・保科小は各学年1学級。6年間、同じ顔ぶれで過ごします。</a:t>
            </a:r>
            <a:endParaRPr lang="en-US" sz="1400" dirty="0"/>
          </a:p>
        </p:txBody>
      </p:sp>
      <p:sp>
        <p:nvSpPr>
          <p:cNvPr id="10" name="Text 8"/>
          <p:cNvSpPr txBox="1"/>
          <p:nvPr/>
        </p:nvSpPr>
        <p:spPr>
          <a:xfrm>
            <a:off x="3465576" y="3063240"/>
            <a:ext cx="2212848" cy="731520"/>
          </a:xfrm>
          <a:prstGeom prst="rect">
            <a:avLst/>
          </a:prstGeom>
          <a:noFill/>
          <a:ln/>
        </p:spPr>
        <p:txBody>
          <a:bodyPr wrap="square" lIns="0" tIns="0" rIns="0" bIns="0" rtlCol="0" anchor="t"/>
          <a:lstStyle/>
          <a:p>
            <a:pPr indent="0" marL="0">
              <a:buNone/>
            </a:pPr>
            <a:r>
              <a:rPr lang="en-US" sz="1400" b="1" dirty="0">
                <a:solidFill>
                  <a:schemeClr val="accent1"/>
                </a:solidFill>
              </a:rPr>
              <a:t>人間関係が固定し、こじれたときの逃げ場が少ない</a:t>
            </a:r>
            <a:endParaRPr lang="en-US" sz="1400" dirty="0"/>
          </a:p>
        </p:txBody>
      </p:sp>
      <p:sp>
        <p:nvSpPr>
          <p:cNvPr id="11" name="card-2"/>
          <p:cNvSpPr/>
          <p:nvPr/>
        </p:nvSpPr>
        <p:spPr>
          <a:xfrm>
            <a:off x="6071616" y="960120"/>
            <a:ext cx="2615184" cy="2971800"/>
          </a:xfrm>
          <a:prstGeom prst="roundRect">
            <a:avLst>
              <a:gd name="adj" fmla="val 2797"/>
            </a:avLst>
          </a:prstGeom>
          <a:solidFill>
            <a:schemeClr val="bg2"/>
          </a:solidFill>
          <a:ln/>
        </p:spPr>
      </p:sp>
      <p:sp>
        <p:nvSpPr>
          <p:cNvPr id="12" name="Text 10"/>
          <p:cNvSpPr txBox="1"/>
          <p:nvPr/>
        </p:nvSpPr>
        <p:spPr>
          <a:xfrm>
            <a:off x="6272784" y="1143000"/>
            <a:ext cx="2212848" cy="411480"/>
          </a:xfrm>
          <a:prstGeom prst="rect">
            <a:avLst/>
          </a:prstGeom>
          <a:noFill/>
          <a:ln/>
        </p:spPr>
        <p:txBody>
          <a:bodyPr wrap="square" lIns="0" tIns="0" rIns="0" bIns="0" rtlCol="0" anchor="t"/>
          <a:lstStyle/>
          <a:p>
            <a:pPr indent="0" marL="0">
              <a:buNone/>
            </a:pPr>
            <a:r>
              <a:rPr lang="en-US" sz="1800" b="1" dirty="0">
                <a:solidFill>
                  <a:schemeClr val="tx2"/>
                </a:solidFill>
              </a:rPr>
              <a:t>中学校の部活動</a:t>
            </a:r>
            <a:endParaRPr lang="en-US" sz="1800" dirty="0"/>
          </a:p>
        </p:txBody>
      </p:sp>
      <p:sp>
        <p:nvSpPr>
          <p:cNvPr id="13" name="Text 11"/>
          <p:cNvSpPr txBox="1"/>
          <p:nvPr/>
        </p:nvSpPr>
        <p:spPr>
          <a:xfrm>
            <a:off x="6272784" y="1645920"/>
            <a:ext cx="2212848" cy="132588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若穂中の1年生はR8の85人からR20には34人に。</a:t>
            </a:r>
            <a:endParaRPr lang="en-US" sz="1400" dirty="0"/>
          </a:p>
        </p:txBody>
      </p:sp>
      <p:sp>
        <p:nvSpPr>
          <p:cNvPr id="14" name="Text 12"/>
          <p:cNvSpPr txBox="1"/>
          <p:nvPr/>
        </p:nvSpPr>
        <p:spPr>
          <a:xfrm>
            <a:off x="6272784" y="3063240"/>
            <a:ext cx="2212848" cy="731520"/>
          </a:xfrm>
          <a:prstGeom prst="rect">
            <a:avLst/>
          </a:prstGeom>
          <a:noFill/>
          <a:ln/>
        </p:spPr>
        <p:txBody>
          <a:bodyPr wrap="square" lIns="0" tIns="0" rIns="0" bIns="0" rtlCol="0" anchor="t"/>
          <a:lstStyle/>
          <a:p>
            <a:pPr indent="0" marL="0">
              <a:buNone/>
            </a:pPr>
            <a:r>
              <a:rPr lang="en-US" sz="1400" b="1" dirty="0">
                <a:solidFill>
                  <a:schemeClr val="accent1"/>
                </a:solidFill>
              </a:rPr>
              <a:t>チームが組めない部活動が出てくるおそれ</a:t>
            </a:r>
            <a:endParaRPr lang="en-US" sz="1400" dirty="0"/>
          </a:p>
        </p:txBody>
      </p:sp>
      <p:sp>
        <p:nvSpPr>
          <p:cNvPr id="15" name="Text 13"/>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400" b="1" dirty="0">
                <a:solidFill>
                  <a:schemeClr val="tx2"/>
                </a:solidFill>
              </a:rPr>
              <a:t>一方で、小規模校には「一人ひとりに目が届く」「全員に出番がある」良さもあります。良さを生かしながら考えます。</a:t>
            </a:r>
            <a:endParaRPr lang="en-US" sz="14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なぜ今？② 少子化とは別の理由</a:t>
            </a:r>
            <a:endParaRPr lang="en-US" sz="2200" dirty="0"/>
          </a:p>
        </p:txBody>
      </p:sp>
      <p:sp>
        <p:nvSpPr>
          <p:cNvPr id="3" name="reason-0"/>
          <p:cNvSpPr/>
          <p:nvPr/>
        </p:nvSpPr>
        <p:spPr>
          <a:xfrm>
            <a:off x="457200" y="914400"/>
            <a:ext cx="8229600" cy="786384"/>
          </a:xfrm>
          <a:prstGeom prst="roundRect">
            <a:avLst>
              <a:gd name="adj" fmla="val 9302"/>
            </a:avLst>
          </a:prstGeom>
          <a:solidFill>
            <a:schemeClr val="bg2"/>
          </a:solidFill>
          <a:ln/>
        </p:spPr>
      </p:sp>
      <p:sp>
        <p:nvSpPr>
          <p:cNvPr id="4" name="Shape 2"/>
          <p:cNvSpPr/>
          <p:nvPr/>
        </p:nvSpPr>
        <p:spPr>
          <a:xfrm>
            <a:off x="640080" y="1115568"/>
            <a:ext cx="384048" cy="384048"/>
          </a:xfrm>
          <a:prstGeom prst="ellipse">
            <a:avLst/>
          </a:prstGeom>
          <a:solidFill>
            <a:schemeClr val="accent1"/>
          </a:solidFill>
          <a:ln/>
        </p:spPr>
      </p:sp>
      <p:sp>
        <p:nvSpPr>
          <p:cNvPr id="5" name="Text 3"/>
          <p:cNvSpPr txBox="1"/>
          <p:nvPr/>
        </p:nvSpPr>
        <p:spPr>
          <a:xfrm>
            <a:off x="640080" y="1115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88720" y="1005840"/>
            <a:ext cx="2514600" cy="603504"/>
          </a:xfrm>
          <a:prstGeom prst="rect">
            <a:avLst/>
          </a:prstGeom>
          <a:noFill/>
          <a:ln/>
        </p:spPr>
        <p:txBody>
          <a:bodyPr wrap="square" lIns="0" tIns="0" rIns="0" bIns="0" rtlCol="0" anchor="ctr"/>
          <a:lstStyle/>
          <a:p>
            <a:pPr indent="0" marL="0">
              <a:buNone/>
            </a:pPr>
            <a:r>
              <a:rPr lang="en-US" sz="1500" b="1" dirty="0">
                <a:solidFill>
                  <a:schemeClr val="tx2"/>
                </a:solidFill>
              </a:rPr>
              <a:t>校舎の改修・更新の時期が重なる</a:t>
            </a:r>
            <a:endParaRPr lang="en-US" sz="1500" dirty="0"/>
          </a:p>
        </p:txBody>
      </p:sp>
      <p:sp>
        <p:nvSpPr>
          <p:cNvPr id="7" name="Text 5"/>
          <p:cNvSpPr txBox="1"/>
          <p:nvPr/>
        </p:nvSpPr>
        <p:spPr>
          <a:xfrm>
            <a:off x="3794760" y="987552"/>
            <a:ext cx="4754880" cy="640080"/>
          </a:xfrm>
          <a:prstGeom prst="rect">
            <a:avLst/>
          </a:prstGeom>
          <a:noFill/>
          <a:ln/>
        </p:spPr>
        <p:txBody>
          <a:bodyPr wrap="square" lIns="0" tIns="0" rIns="0" bIns="0" rtlCol="0" anchor="ctr"/>
          <a:lstStyle/>
          <a:p>
            <a:pPr indent="0" marL="0">
              <a:lnSpc>
                <a:spcPct val="110000"/>
              </a:lnSpc>
              <a:buNone/>
            </a:pPr>
            <a:r>
              <a:rPr lang="en-US" sz="1300" dirty="0">
                <a:solidFill>
                  <a:schemeClr val="tx1"/>
                </a:solidFill>
              </a:rPr>
              <a:t>川田小（1973年度築）は市の計画上の更新時期を過ぎています。若穂中はR9、綿内小・保科小はR12に改修・更新の時期を迎えます。</a:t>
            </a:r>
            <a:endParaRPr lang="en-US" sz="1300" dirty="0"/>
          </a:p>
        </p:txBody>
      </p:sp>
      <p:sp>
        <p:nvSpPr>
          <p:cNvPr id="8" name="reason-1"/>
          <p:cNvSpPr/>
          <p:nvPr/>
        </p:nvSpPr>
        <p:spPr>
          <a:xfrm>
            <a:off x="457200" y="1810512"/>
            <a:ext cx="8229600" cy="786384"/>
          </a:xfrm>
          <a:prstGeom prst="roundRect">
            <a:avLst>
              <a:gd name="adj" fmla="val 9302"/>
            </a:avLst>
          </a:prstGeom>
          <a:solidFill>
            <a:schemeClr val="bg1"/>
          </a:solidFill>
          <a:ln/>
        </p:spPr>
      </p:sp>
      <p:sp>
        <p:nvSpPr>
          <p:cNvPr id="9" name="Shape 7"/>
          <p:cNvSpPr/>
          <p:nvPr/>
        </p:nvSpPr>
        <p:spPr>
          <a:xfrm>
            <a:off x="640080" y="2011680"/>
            <a:ext cx="384048" cy="384048"/>
          </a:xfrm>
          <a:prstGeom prst="ellipse">
            <a:avLst/>
          </a:prstGeom>
          <a:solidFill>
            <a:schemeClr val="accent1"/>
          </a:solidFill>
          <a:ln/>
        </p:spPr>
      </p:sp>
      <p:sp>
        <p:nvSpPr>
          <p:cNvPr id="10" name="Text 8"/>
          <p:cNvSpPr txBox="1"/>
          <p:nvPr/>
        </p:nvSpPr>
        <p:spPr>
          <a:xfrm>
            <a:off x="640080" y="20116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188720" y="1901952"/>
            <a:ext cx="2514600" cy="603504"/>
          </a:xfrm>
          <a:prstGeom prst="rect">
            <a:avLst/>
          </a:prstGeom>
          <a:noFill/>
          <a:ln/>
        </p:spPr>
        <p:txBody>
          <a:bodyPr wrap="square" lIns="0" tIns="0" rIns="0" bIns="0" rtlCol="0" anchor="ctr"/>
          <a:lstStyle/>
          <a:p>
            <a:pPr indent="0" marL="0">
              <a:buNone/>
            </a:pPr>
            <a:r>
              <a:rPr lang="en-US" sz="1500" b="1" dirty="0">
                <a:solidFill>
                  <a:schemeClr val="tx2"/>
                </a:solidFill>
              </a:rPr>
              <a:t>中学入学時の「環境の段差」</a:t>
            </a:r>
            <a:endParaRPr lang="en-US" sz="1500" dirty="0"/>
          </a:p>
        </p:txBody>
      </p:sp>
      <p:sp>
        <p:nvSpPr>
          <p:cNvPr id="12" name="Text 10"/>
          <p:cNvSpPr txBox="1"/>
          <p:nvPr/>
        </p:nvSpPr>
        <p:spPr>
          <a:xfrm>
            <a:off x="3794760" y="1883664"/>
            <a:ext cx="4754880" cy="640080"/>
          </a:xfrm>
          <a:prstGeom prst="rect">
            <a:avLst/>
          </a:prstGeom>
          <a:noFill/>
          <a:ln/>
        </p:spPr>
        <p:txBody>
          <a:bodyPr wrap="square" lIns="0" tIns="0" rIns="0" bIns="0" rtlCol="0" anchor="ctr"/>
          <a:lstStyle/>
          <a:p>
            <a:pPr indent="0" marL="0">
              <a:lnSpc>
                <a:spcPct val="110000"/>
              </a:lnSpc>
              <a:buNone/>
            </a:pPr>
            <a:r>
              <a:rPr lang="en-US" sz="1300" dirty="0">
                <a:solidFill>
                  <a:schemeClr val="tx1"/>
                </a:solidFill>
              </a:rPr>
              <a:t>R8の6年生は保科小13人・川田小32人・綿内小48人。全員が若穂中の約90人の学年に入ります。</a:t>
            </a:r>
            <a:endParaRPr lang="en-US" sz="1300" dirty="0"/>
          </a:p>
        </p:txBody>
      </p:sp>
      <p:sp>
        <p:nvSpPr>
          <p:cNvPr id="13" name="reason-2"/>
          <p:cNvSpPr/>
          <p:nvPr/>
        </p:nvSpPr>
        <p:spPr>
          <a:xfrm>
            <a:off x="457200" y="2706624"/>
            <a:ext cx="8229600" cy="786384"/>
          </a:xfrm>
          <a:prstGeom prst="roundRect">
            <a:avLst>
              <a:gd name="adj" fmla="val 9302"/>
            </a:avLst>
          </a:prstGeom>
          <a:solidFill>
            <a:schemeClr val="bg2"/>
          </a:solidFill>
          <a:ln/>
        </p:spPr>
      </p:sp>
      <p:sp>
        <p:nvSpPr>
          <p:cNvPr id="14" name="Shape 12"/>
          <p:cNvSpPr/>
          <p:nvPr/>
        </p:nvSpPr>
        <p:spPr>
          <a:xfrm>
            <a:off x="640080" y="2907792"/>
            <a:ext cx="384048" cy="384048"/>
          </a:xfrm>
          <a:prstGeom prst="ellipse">
            <a:avLst/>
          </a:prstGeom>
          <a:solidFill>
            <a:schemeClr val="accent1"/>
          </a:solidFill>
          <a:ln/>
        </p:spPr>
      </p:sp>
      <p:sp>
        <p:nvSpPr>
          <p:cNvPr id="15" name="Text 13"/>
          <p:cNvSpPr txBox="1"/>
          <p:nvPr/>
        </p:nvSpPr>
        <p:spPr>
          <a:xfrm>
            <a:off x="640080" y="29077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188720" y="2798064"/>
            <a:ext cx="2514600" cy="603504"/>
          </a:xfrm>
          <a:prstGeom prst="rect">
            <a:avLst/>
          </a:prstGeom>
          <a:noFill/>
          <a:ln/>
        </p:spPr>
        <p:txBody>
          <a:bodyPr wrap="square" lIns="0" tIns="0" rIns="0" bIns="0" rtlCol="0" anchor="ctr"/>
          <a:lstStyle/>
          <a:p>
            <a:pPr indent="0" marL="0">
              <a:buNone/>
            </a:pPr>
            <a:r>
              <a:rPr lang="en-US" sz="1500" b="1" dirty="0">
                <a:solidFill>
                  <a:schemeClr val="tx2"/>
                </a:solidFill>
              </a:rPr>
              <a:t>同じ若穂でも学ぶ環境が違う</a:t>
            </a:r>
            <a:endParaRPr lang="en-US" sz="1500" dirty="0"/>
          </a:p>
        </p:txBody>
      </p:sp>
      <p:sp>
        <p:nvSpPr>
          <p:cNvPr id="17" name="Text 15"/>
          <p:cNvSpPr txBox="1"/>
          <p:nvPr/>
        </p:nvSpPr>
        <p:spPr>
          <a:xfrm>
            <a:off x="3794760" y="2779776"/>
            <a:ext cx="4754880" cy="640080"/>
          </a:xfrm>
          <a:prstGeom prst="rect">
            <a:avLst/>
          </a:prstGeom>
          <a:noFill/>
          <a:ln/>
        </p:spPr>
        <p:txBody>
          <a:bodyPr wrap="square" lIns="0" tIns="0" rIns="0" bIns="0" rtlCol="0" anchor="ctr"/>
          <a:lstStyle/>
          <a:p>
            <a:pPr indent="0" marL="0">
              <a:lnSpc>
                <a:spcPct val="110000"/>
              </a:lnSpc>
              <a:buNone/>
            </a:pPr>
            <a:r>
              <a:rPr lang="en-US" sz="1300" dirty="0">
                <a:solidFill>
                  <a:schemeClr val="tx1"/>
                </a:solidFill>
              </a:rPr>
              <a:t>綿内小は各学年2学級、川田小・保科小は1学級。住む地区によって学びの条件が変わります。</a:t>
            </a:r>
            <a:endParaRPr lang="en-US" sz="1300" dirty="0"/>
          </a:p>
        </p:txBody>
      </p:sp>
      <p:sp>
        <p:nvSpPr>
          <p:cNvPr id="18" name="reason-3"/>
          <p:cNvSpPr/>
          <p:nvPr/>
        </p:nvSpPr>
        <p:spPr>
          <a:xfrm>
            <a:off x="457200" y="3602736"/>
            <a:ext cx="8229600" cy="786384"/>
          </a:xfrm>
          <a:prstGeom prst="roundRect">
            <a:avLst>
              <a:gd name="adj" fmla="val 9302"/>
            </a:avLst>
          </a:prstGeom>
          <a:solidFill>
            <a:schemeClr val="bg1"/>
          </a:solidFill>
          <a:ln/>
        </p:spPr>
      </p:sp>
      <p:sp>
        <p:nvSpPr>
          <p:cNvPr id="19" name="Shape 17"/>
          <p:cNvSpPr/>
          <p:nvPr/>
        </p:nvSpPr>
        <p:spPr>
          <a:xfrm>
            <a:off x="640080" y="3803904"/>
            <a:ext cx="384048" cy="384048"/>
          </a:xfrm>
          <a:prstGeom prst="ellipse">
            <a:avLst/>
          </a:prstGeom>
          <a:solidFill>
            <a:schemeClr val="accent1"/>
          </a:solidFill>
          <a:ln/>
        </p:spPr>
      </p:sp>
      <p:sp>
        <p:nvSpPr>
          <p:cNvPr id="20" name="Text 18"/>
          <p:cNvSpPr txBox="1"/>
          <p:nvPr/>
        </p:nvSpPr>
        <p:spPr>
          <a:xfrm>
            <a:off x="640080" y="380390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188720" y="3694176"/>
            <a:ext cx="2514600" cy="603504"/>
          </a:xfrm>
          <a:prstGeom prst="rect">
            <a:avLst/>
          </a:prstGeom>
          <a:noFill/>
          <a:ln/>
        </p:spPr>
        <p:txBody>
          <a:bodyPr wrap="square" lIns="0" tIns="0" rIns="0" bIns="0" rtlCol="0" anchor="ctr"/>
          <a:lstStyle/>
          <a:p>
            <a:pPr indent="0" marL="0">
              <a:buNone/>
            </a:pPr>
            <a:r>
              <a:rPr lang="en-US" sz="1500" b="1" dirty="0">
                <a:solidFill>
                  <a:schemeClr val="tx2"/>
                </a:solidFill>
              </a:rPr>
              <a:t>9年間を見通した学び</a:t>
            </a:r>
            <a:endParaRPr lang="en-US" sz="1500" dirty="0"/>
          </a:p>
        </p:txBody>
      </p:sp>
      <p:sp>
        <p:nvSpPr>
          <p:cNvPr id="22" name="Text 20"/>
          <p:cNvSpPr txBox="1"/>
          <p:nvPr/>
        </p:nvSpPr>
        <p:spPr>
          <a:xfrm>
            <a:off x="3794760" y="3675888"/>
            <a:ext cx="4754880" cy="640080"/>
          </a:xfrm>
          <a:prstGeom prst="rect">
            <a:avLst/>
          </a:prstGeom>
          <a:noFill/>
          <a:ln/>
        </p:spPr>
        <p:txBody>
          <a:bodyPr wrap="square" lIns="0" tIns="0" rIns="0" bIns="0" rtlCol="0" anchor="ctr"/>
          <a:lstStyle/>
          <a:p>
            <a:pPr indent="0" marL="0">
              <a:lnSpc>
                <a:spcPct val="110000"/>
              </a:lnSpc>
              <a:buNone/>
            </a:pPr>
            <a:r>
              <a:rPr lang="en-US" sz="1300" dirty="0">
                <a:solidFill>
                  <a:schemeClr val="tx1"/>
                </a:solidFill>
              </a:rPr>
              <a:t>若穂の小学生は全員が若穂中に進みます。小中が連携した学びをつくりやすい地域です。</a:t>
            </a:r>
            <a:endParaRPr lang="en-US" sz="1300" dirty="0"/>
          </a:p>
        </p:txBody>
      </p:sp>
      <p:sp>
        <p:nvSpPr>
          <p:cNvPr id="23" name="Text 21"/>
          <p:cNvSpPr txBox="1"/>
          <p:nvPr/>
        </p:nvSpPr>
        <p:spPr>
          <a:xfrm>
            <a:off x="457200" y="4553712"/>
            <a:ext cx="8229600" cy="228600"/>
          </a:xfrm>
          <a:prstGeom prst="rect">
            <a:avLst/>
          </a:prstGeom>
          <a:noFill/>
          <a:ln/>
        </p:spPr>
        <p:txBody>
          <a:bodyPr wrap="square" lIns="0" tIns="0" rIns="0" bIns="0" rtlCol="0" anchor="t"/>
          <a:lstStyle/>
          <a:p>
            <a:pPr indent="0" marL="0">
              <a:buNone/>
            </a:pPr>
            <a:r>
              <a:rPr lang="en-US" sz="900" dirty="0">
                <a:solidFill>
                  <a:schemeClr val="accent5"/>
                </a:solidFill>
              </a:rPr>
              <a:t>①は長野市学校施設長寿命化計画（令和2年4月時点）による。最新の予定は事務局で確認中</a:t>
            </a:r>
            <a:endParaRPr lang="en-US" sz="9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検討委員会として大切にしたいこと（案）</a:t>
            </a:r>
            <a:endParaRPr lang="en-US" sz="2200" dirty="0"/>
          </a:p>
        </p:txBody>
      </p:sp>
      <p:sp>
        <p:nvSpPr>
          <p:cNvPr id="3" name="principle-0"/>
          <p:cNvSpPr/>
          <p:nvPr/>
        </p:nvSpPr>
        <p:spPr>
          <a:xfrm>
            <a:off x="457200" y="960120"/>
            <a:ext cx="4023360" cy="1600200"/>
          </a:xfrm>
          <a:prstGeom prst="roundRect">
            <a:avLst>
              <a:gd name="adj" fmla="val 4571"/>
            </a:avLst>
          </a:prstGeom>
          <a:solidFill>
            <a:schemeClr val="bg2"/>
          </a:solidFill>
          <a:ln/>
        </p:spPr>
      </p:sp>
      <p:sp>
        <p:nvSpPr>
          <p:cNvPr id="4" name="Shape 2"/>
          <p:cNvSpPr/>
          <p:nvPr/>
        </p:nvSpPr>
        <p:spPr>
          <a:xfrm>
            <a:off x="685800" y="1188720"/>
            <a:ext cx="384048" cy="384048"/>
          </a:xfrm>
          <a:prstGeom prst="ellipse">
            <a:avLst/>
          </a:prstGeom>
          <a:solidFill>
            <a:schemeClr val="accent3"/>
          </a:solidFill>
          <a:ln/>
        </p:spPr>
      </p:sp>
      <p:sp>
        <p:nvSpPr>
          <p:cNvPr id="5" name="Text 3"/>
          <p:cNvSpPr txBox="1"/>
          <p:nvPr/>
        </p:nvSpPr>
        <p:spPr>
          <a:xfrm>
            <a:off x="685800" y="11887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188720"/>
            <a:ext cx="3063240" cy="411480"/>
          </a:xfrm>
          <a:prstGeom prst="rect">
            <a:avLst/>
          </a:prstGeom>
          <a:noFill/>
          <a:ln/>
        </p:spPr>
        <p:txBody>
          <a:bodyPr wrap="square" lIns="0" tIns="0" rIns="0" bIns="0" rtlCol="0" anchor="ctr"/>
          <a:lstStyle/>
          <a:p>
            <a:pPr indent="0" marL="0">
              <a:buNone/>
            </a:pPr>
            <a:r>
              <a:rPr lang="en-US" sz="1800" b="1" dirty="0">
                <a:solidFill>
                  <a:schemeClr val="tx2"/>
                </a:solidFill>
              </a:rPr>
              <a:t>子どもの最善を第一に</a:t>
            </a:r>
            <a:endParaRPr lang="en-US" sz="1800" dirty="0"/>
          </a:p>
        </p:txBody>
      </p:sp>
      <p:sp>
        <p:nvSpPr>
          <p:cNvPr id="7" name="Text 5"/>
          <p:cNvSpPr txBox="1"/>
          <p:nvPr/>
        </p:nvSpPr>
        <p:spPr>
          <a:xfrm>
            <a:off x="1234440" y="1737360"/>
            <a:ext cx="3063240" cy="68580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学びと育ちの環境を、何よりも優先して考えます。</a:t>
            </a:r>
            <a:endParaRPr lang="en-US" sz="1400" dirty="0"/>
          </a:p>
        </p:txBody>
      </p:sp>
      <p:sp>
        <p:nvSpPr>
          <p:cNvPr id="8" name="principle-1"/>
          <p:cNvSpPr/>
          <p:nvPr/>
        </p:nvSpPr>
        <p:spPr>
          <a:xfrm>
            <a:off x="4663440" y="960120"/>
            <a:ext cx="4023360" cy="1600200"/>
          </a:xfrm>
          <a:prstGeom prst="roundRect">
            <a:avLst>
              <a:gd name="adj" fmla="val 4571"/>
            </a:avLst>
          </a:prstGeom>
          <a:solidFill>
            <a:schemeClr val="bg2"/>
          </a:solidFill>
          <a:ln/>
        </p:spPr>
      </p:sp>
      <p:sp>
        <p:nvSpPr>
          <p:cNvPr id="9" name="Shape 7"/>
          <p:cNvSpPr/>
          <p:nvPr/>
        </p:nvSpPr>
        <p:spPr>
          <a:xfrm>
            <a:off x="4892040" y="1188720"/>
            <a:ext cx="384048" cy="384048"/>
          </a:xfrm>
          <a:prstGeom prst="ellipse">
            <a:avLst/>
          </a:prstGeom>
          <a:solidFill>
            <a:schemeClr val="accent3"/>
          </a:solidFill>
          <a:ln/>
        </p:spPr>
      </p:sp>
      <p:sp>
        <p:nvSpPr>
          <p:cNvPr id="10" name="Text 8"/>
          <p:cNvSpPr txBox="1"/>
          <p:nvPr/>
        </p:nvSpPr>
        <p:spPr>
          <a:xfrm>
            <a:off x="4892040" y="11887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440680" y="1188720"/>
            <a:ext cx="3063240" cy="411480"/>
          </a:xfrm>
          <a:prstGeom prst="rect">
            <a:avLst/>
          </a:prstGeom>
          <a:noFill/>
          <a:ln/>
        </p:spPr>
        <p:txBody>
          <a:bodyPr wrap="square" lIns="0" tIns="0" rIns="0" bIns="0" rtlCol="0" anchor="ctr"/>
          <a:lstStyle/>
          <a:p>
            <a:pPr indent="0" marL="0">
              <a:buNone/>
            </a:pPr>
            <a:r>
              <a:rPr lang="en-US" sz="1800" b="1" dirty="0">
                <a:solidFill>
                  <a:schemeClr val="tx2"/>
                </a:solidFill>
              </a:rPr>
              <a:t>結論ありきで進めない</a:t>
            </a:r>
            <a:endParaRPr lang="en-US" sz="1800" dirty="0"/>
          </a:p>
        </p:txBody>
      </p:sp>
      <p:sp>
        <p:nvSpPr>
          <p:cNvPr id="12" name="Text 10"/>
          <p:cNvSpPr txBox="1"/>
          <p:nvPr/>
        </p:nvSpPr>
        <p:spPr>
          <a:xfrm>
            <a:off x="5440680" y="1737360"/>
            <a:ext cx="3063240" cy="68580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現状維持も含め、すべての選択肢を同じ物差しで比べます。</a:t>
            </a:r>
            <a:endParaRPr lang="en-US" sz="1400" dirty="0"/>
          </a:p>
        </p:txBody>
      </p:sp>
      <p:sp>
        <p:nvSpPr>
          <p:cNvPr id="13" name="principle-2"/>
          <p:cNvSpPr/>
          <p:nvPr/>
        </p:nvSpPr>
        <p:spPr>
          <a:xfrm>
            <a:off x="457200" y="2743200"/>
            <a:ext cx="4023360" cy="1600200"/>
          </a:xfrm>
          <a:prstGeom prst="roundRect">
            <a:avLst>
              <a:gd name="adj" fmla="val 4571"/>
            </a:avLst>
          </a:prstGeom>
          <a:solidFill>
            <a:schemeClr val="bg2"/>
          </a:solidFill>
          <a:ln/>
        </p:spPr>
      </p:sp>
      <p:sp>
        <p:nvSpPr>
          <p:cNvPr id="14" name="Shape 12"/>
          <p:cNvSpPr/>
          <p:nvPr/>
        </p:nvSpPr>
        <p:spPr>
          <a:xfrm>
            <a:off x="685800" y="2971800"/>
            <a:ext cx="384048" cy="384048"/>
          </a:xfrm>
          <a:prstGeom prst="ellipse">
            <a:avLst/>
          </a:prstGeom>
          <a:solidFill>
            <a:schemeClr val="accent3"/>
          </a:solidFill>
          <a:ln/>
        </p:spPr>
      </p:sp>
      <p:sp>
        <p:nvSpPr>
          <p:cNvPr id="15" name="Text 13"/>
          <p:cNvSpPr txBox="1"/>
          <p:nvPr/>
        </p:nvSpPr>
        <p:spPr>
          <a:xfrm>
            <a:off x="685800" y="2971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234440" y="2971800"/>
            <a:ext cx="3063240" cy="411480"/>
          </a:xfrm>
          <a:prstGeom prst="rect">
            <a:avLst/>
          </a:prstGeom>
          <a:noFill/>
          <a:ln/>
        </p:spPr>
        <p:txBody>
          <a:bodyPr wrap="square" lIns="0" tIns="0" rIns="0" bIns="0" rtlCol="0" anchor="ctr"/>
          <a:lstStyle/>
          <a:p>
            <a:pPr indent="0" marL="0">
              <a:buNone/>
            </a:pPr>
            <a:r>
              <a:rPr lang="en-US" sz="1800" b="1" dirty="0">
                <a:solidFill>
                  <a:schemeClr val="tx2"/>
                </a:solidFill>
              </a:rPr>
              <a:t>3地区の声を等しく聞く</a:t>
            </a:r>
            <a:endParaRPr lang="en-US" sz="1800" dirty="0"/>
          </a:p>
        </p:txBody>
      </p:sp>
      <p:sp>
        <p:nvSpPr>
          <p:cNvPr id="17" name="Text 15"/>
          <p:cNvSpPr txBox="1"/>
          <p:nvPr/>
        </p:nvSpPr>
        <p:spPr>
          <a:xfrm>
            <a:off x="1234440" y="3520440"/>
            <a:ext cx="3063240" cy="68580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綿内・川田・保科、それぞれの地区で意見を聞く場を設けます。</a:t>
            </a:r>
            <a:endParaRPr lang="en-US" sz="1400" dirty="0"/>
          </a:p>
        </p:txBody>
      </p:sp>
      <p:sp>
        <p:nvSpPr>
          <p:cNvPr id="18" name="principle-3"/>
          <p:cNvSpPr/>
          <p:nvPr/>
        </p:nvSpPr>
        <p:spPr>
          <a:xfrm>
            <a:off x="4663440" y="2743200"/>
            <a:ext cx="4023360" cy="1600200"/>
          </a:xfrm>
          <a:prstGeom prst="roundRect">
            <a:avLst>
              <a:gd name="adj" fmla="val 4571"/>
            </a:avLst>
          </a:prstGeom>
          <a:solidFill>
            <a:schemeClr val="bg2"/>
          </a:solidFill>
          <a:ln/>
        </p:spPr>
      </p:sp>
      <p:sp>
        <p:nvSpPr>
          <p:cNvPr id="19" name="Shape 17"/>
          <p:cNvSpPr/>
          <p:nvPr/>
        </p:nvSpPr>
        <p:spPr>
          <a:xfrm>
            <a:off x="4892040" y="2971800"/>
            <a:ext cx="384048" cy="384048"/>
          </a:xfrm>
          <a:prstGeom prst="ellipse">
            <a:avLst/>
          </a:prstGeom>
          <a:solidFill>
            <a:schemeClr val="accent3"/>
          </a:solidFill>
          <a:ln/>
        </p:spPr>
      </p:sp>
      <p:sp>
        <p:nvSpPr>
          <p:cNvPr id="20" name="Text 18"/>
          <p:cNvSpPr txBox="1"/>
          <p:nvPr/>
        </p:nvSpPr>
        <p:spPr>
          <a:xfrm>
            <a:off x="4892040" y="2971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5440680" y="2971800"/>
            <a:ext cx="3063240" cy="411480"/>
          </a:xfrm>
          <a:prstGeom prst="rect">
            <a:avLst/>
          </a:prstGeom>
          <a:noFill/>
          <a:ln/>
        </p:spPr>
        <p:txBody>
          <a:bodyPr wrap="square" lIns="0" tIns="0" rIns="0" bIns="0" rtlCol="0" anchor="ctr"/>
          <a:lstStyle/>
          <a:p>
            <a:pPr indent="0" marL="0">
              <a:buNone/>
            </a:pPr>
            <a:r>
              <a:rPr lang="en-US" sz="1800" b="1" dirty="0">
                <a:solidFill>
                  <a:schemeClr val="tx2"/>
                </a:solidFill>
              </a:rPr>
              <a:t>検討の過程を公開する</a:t>
            </a:r>
            <a:endParaRPr lang="en-US" sz="1800" dirty="0"/>
          </a:p>
        </p:txBody>
      </p:sp>
      <p:sp>
        <p:nvSpPr>
          <p:cNvPr id="22" name="Text 20"/>
          <p:cNvSpPr txBox="1"/>
          <p:nvPr/>
        </p:nvSpPr>
        <p:spPr>
          <a:xfrm>
            <a:off x="5440680" y="3520440"/>
            <a:ext cx="3063240" cy="68580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資料や会議の要旨は、回覧や広報で皆さんにお知らせします。</a:t>
            </a:r>
            <a:endParaRPr lang="en-US" sz="1400" dirty="0"/>
          </a:p>
        </p:txBody>
      </p:sp>
      <p:sp>
        <p:nvSpPr>
          <p:cNvPr id="23" name="Text 21"/>
          <p:cNvSpPr txBox="1"/>
          <p:nvPr/>
        </p:nvSpPr>
        <p:spPr>
          <a:xfrm>
            <a:off x="457200" y="4553712"/>
            <a:ext cx="8229600" cy="228600"/>
          </a:xfrm>
          <a:prstGeom prst="rect">
            <a:avLst/>
          </a:prstGeom>
          <a:noFill/>
          <a:ln/>
        </p:spPr>
        <p:txBody>
          <a:bodyPr wrap="square" lIns="0" tIns="0" rIns="0" bIns="0" rtlCol="0" anchor="t"/>
          <a:lstStyle/>
          <a:p>
            <a:pPr indent="0" marL="0">
              <a:buNone/>
            </a:pPr>
            <a:r>
              <a:rPr lang="en-US" sz="900" dirty="0">
                <a:solidFill>
                  <a:schemeClr val="accent5"/>
                </a:solidFill>
              </a:rPr>
              <a:t>※委員会で協議のうえ確定</a:t>
            </a:r>
            <a:endParaRPr lang="en-US" sz="9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考えられる選択肢</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737360"/>
                <a:gridCol w="2377440"/>
                <a:gridCol w="2057400"/>
                <a:gridCol w="2057400"/>
              </a:tblGrid>
              <a:tr h="411480">
                <a:tc>
                  <a:txBody>
                    <a:bodyP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内容</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主な良い点</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c>
                  <a:txBody>
                    <a:bodyP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主な留意点</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solidFill>
                      <a:srgbClr val="2E4A3A"/>
                    </a:solidFill>
                  </a:tcPr>
                </a:tc>
              </a:tr>
              <a:tr h="731520">
                <a:tc>
                  <a:txBody>
                    <a:bodyPr/>
                    <a:lstStyle/>
                    <a:p>
                      <a:pPr indent="0" marL="0">
                        <a:buNone/>
                      </a:pPr>
                      <a:r>
                        <a:rPr lang="en-US" sz="1300" b="1" dirty="0">
                          <a:solidFill>
                            <a:srgbClr val="2E4A3A"/>
                          </a:solidFill>
                          <a:latin typeface="BIZ UDPゴシック" pitchFamily="34" charset="0"/>
                          <a:ea typeface="BIZ UDPゴシック" pitchFamily="34" charset="-122"/>
                          <a:cs typeface="BIZ UDPゴシック" pitchFamily="34" charset="-120"/>
                        </a:rPr>
                        <a:t>現状維持＋魅力化</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3校を残し、合同授業・行事やICTで学びを補う</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通学や地域の拠点が今のまま</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少人数化の根本的な解決にはならない</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731520">
                <a:tc>
                  <a:txBody>
                    <a:bodyPr/>
                    <a:lstStyle/>
                    <a:p>
                      <a:pPr indent="0" marL="0">
                        <a:buNone/>
                      </a:pPr>
                      <a:r>
                        <a:rPr lang="en-US" sz="1300" b="1" dirty="0">
                          <a:solidFill>
                            <a:srgbClr val="2E4A3A"/>
                          </a:solidFill>
                          <a:latin typeface="BIZ UDPゴシック" pitchFamily="34" charset="0"/>
                          <a:ea typeface="BIZ UDPゴシック" pitchFamily="34" charset="-122"/>
                          <a:cs typeface="BIZ UDPゴシック" pitchFamily="34" charset="-120"/>
                        </a:rPr>
                        <a:t>一部統合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小規模化が著しい学校を、近隣校と統合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影響を抑えつつ、課題の大きい所から対応</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組み合わせ方、将来の再検討の可能性</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731520">
                <a:tc>
                  <a:txBody>
                    <a:bodyPr/>
                    <a:lstStyle/>
                    <a:p>
                      <a:pPr indent="0" marL="0">
                        <a:buNone/>
                      </a:pPr>
                      <a:r>
                        <a:rPr lang="en-US" sz="1300" b="1" dirty="0">
                          <a:solidFill>
                            <a:srgbClr val="2E4A3A"/>
                          </a:solidFill>
                          <a:latin typeface="BIZ UDPゴシック" pitchFamily="34" charset="0"/>
                          <a:ea typeface="BIZ UDPゴシック" pitchFamily="34" charset="-122"/>
                          <a:cs typeface="BIZ UDPゴシック" pitchFamily="34" charset="-120"/>
                        </a:rPr>
                        <a:t>3小学校の統合</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若穂で1つの小学校にする</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学年複数学級・クラス替えが可能に</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通学距離、スクールバス、跡地の活用</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r h="731520">
                <a:tc>
                  <a:txBody>
                    <a:bodyPr/>
                    <a:lstStyle/>
                    <a:p>
                      <a:pPr indent="0" marL="0">
                        <a:buNone/>
                      </a:pPr>
                      <a:r>
                        <a:rPr lang="en-US" sz="1300" b="1" dirty="0">
                          <a:solidFill>
                            <a:srgbClr val="2E4A3A"/>
                          </a:solidFill>
                          <a:latin typeface="BIZ UDPゴシック" pitchFamily="34" charset="0"/>
                          <a:ea typeface="BIZ UDPゴシック" pitchFamily="34" charset="-122"/>
                          <a:cs typeface="BIZ UDPゴシック" pitchFamily="34" charset="-120"/>
                        </a:rPr>
                        <a:t>義務教育学校など</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若穂中と一体の小中一貫の学校にする</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9年間を見通した教育ができる</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c>
                  <a:txBody>
                    <a:bodyPr/>
                    <a:lstStyle/>
                    <a:p>
                      <a:pPr indent="0" marL="0">
                        <a:buNone/>
                      </a:pPr>
                      <a:r>
                        <a:rPr lang="en-US" sz="1300" dirty="0">
                          <a:solidFill>
                            <a:srgbClr val="222222"/>
                          </a:solidFill>
                          <a:latin typeface="BIZ UDPゴシック" pitchFamily="34" charset="0"/>
                          <a:ea typeface="BIZ UDPゴシック" pitchFamily="34" charset="-122"/>
                          <a:cs typeface="BIZ UDPゴシック" pitchFamily="34" charset="-120"/>
                        </a:rPr>
                        <a:t>校舎整備の規模が大きく、時間がかかる</a:t>
                      </a:r>
                      <a:endParaRPr lang="en-US" sz="1300" dirty="0">
                        <a:latin typeface="BIZ UDPゴシック" charset="0"/>
                        <a:ea typeface="BIZ UDPゴシック" charset="0"/>
                        <a:cs typeface="BIZ UDPゴシック" charset="0"/>
                      </a:endParaRPr>
                    </a:p>
                  </a:txBody>
                  <a:tcPr marL="91440" marR="91440" marT="45720" marB="45720" anchor="ctr">
                    <a:lnL w="9525" cap="flat" cmpd="sng" algn="ctr">
                      <a:solidFill>
                        <a:srgbClr val="D5DAD7"/>
                      </a:solidFill>
                      <a:prstDash val="solid"/>
                      <a:round/>
                      <a:headEnd type="none" w="med" len="med"/>
                      <a:tailEnd type="none" w="med" len="med"/>
                    </a:lnL>
                    <a:lnR w="9525" cap="flat" cmpd="sng" algn="ctr">
                      <a:solidFill>
                        <a:srgbClr val="D5DAD7"/>
                      </a:solidFill>
                      <a:prstDash val="solid"/>
                      <a:round/>
                      <a:headEnd type="none" w="med" len="med"/>
                      <a:tailEnd type="none" w="med" len="med"/>
                    </a:lnR>
                    <a:lnT w="9525" cap="flat" cmpd="sng" algn="ctr">
                      <a:solidFill>
                        <a:srgbClr val="D5DAD7"/>
                      </a:solidFill>
                      <a:prstDash val="solid"/>
                      <a:round/>
                      <a:headEnd type="none" w="med" len="med"/>
                      <a:tailEnd type="none" w="med" len="med"/>
                    </a:lnT>
                    <a:lnB w="9525" cap="flat" cmpd="sng" algn="ctr">
                      <a:solidFill>
                        <a:srgbClr val="D5DAD7"/>
                      </a:solidFill>
                      <a:prstDash val="solid"/>
                      <a:round/>
                      <a:headEnd type="none" w="med" len="med"/>
                      <a:tailEnd type="none" w="med" len="med"/>
                    </a:lnB>
                  </a:tcPr>
                </a:tc>
              </a:tr>
            </a:tbl>
          </a:graphicData>
        </a:graphic>
      </p:graphicFrame>
      <p:sp>
        <p:nvSpPr>
          <p:cNvPr id="4" name="Text 1"/>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400" b="1" dirty="0">
                <a:solidFill>
                  <a:schemeClr val="accent1"/>
                </a:solidFill>
              </a:rPr>
              <a:t>いずれかに決まっているものではありません。比べるための「たたき台」です。</a:t>
            </a:r>
            <a:endParaRPr lang="en-US" sz="14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義務教育学校について</a:t>
            </a:r>
            <a:endParaRPr lang="en-US" sz="2200" dirty="0"/>
          </a:p>
        </p:txBody>
      </p:sp>
      <p:sp>
        <p:nvSpPr>
          <p:cNvPr id="3" name="merit"/>
          <p:cNvSpPr/>
          <p:nvPr/>
        </p:nvSpPr>
        <p:spPr>
          <a:xfrm>
            <a:off x="457200" y="960120"/>
            <a:ext cx="4023360" cy="2103120"/>
          </a:xfrm>
          <a:prstGeom prst="roundRect">
            <a:avLst>
              <a:gd name="adj" fmla="val 3478"/>
            </a:avLst>
          </a:prstGeom>
          <a:solidFill>
            <a:schemeClr val="bg2"/>
          </a:solidFill>
          <a:ln/>
        </p:spPr>
      </p:sp>
      <p:sp>
        <p:nvSpPr>
          <p:cNvPr id="4" name="Text 2"/>
          <p:cNvSpPr txBox="1"/>
          <p:nvPr/>
        </p:nvSpPr>
        <p:spPr>
          <a:xfrm>
            <a:off x="640080" y="1097280"/>
            <a:ext cx="3657600" cy="365760"/>
          </a:xfrm>
          <a:prstGeom prst="rect">
            <a:avLst/>
          </a:prstGeom>
          <a:noFill/>
          <a:ln/>
        </p:spPr>
        <p:txBody>
          <a:bodyPr wrap="square" lIns="0" tIns="0" rIns="0" bIns="0" rtlCol="0" anchor="t"/>
          <a:lstStyle/>
          <a:p>
            <a:pPr indent="0" marL="0">
              <a:buNone/>
            </a:pPr>
            <a:r>
              <a:rPr lang="en-US" sz="1700" b="1" dirty="0">
                <a:solidFill>
                  <a:schemeClr val="accent2"/>
                </a:solidFill>
              </a:rPr>
              <a:t>主なメリット（一般論）</a:t>
            </a:r>
            <a:endParaRPr lang="en-US" sz="1700" dirty="0"/>
          </a:p>
        </p:txBody>
      </p:sp>
      <p:sp>
        <p:nvSpPr>
          <p:cNvPr id="5" name="Text 3"/>
          <p:cNvSpPr txBox="1"/>
          <p:nvPr/>
        </p:nvSpPr>
        <p:spPr>
          <a:xfrm>
            <a:off x="640080" y="1554480"/>
            <a:ext cx="36576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9年間を見通した柔軟なカリキュラム</a:t>
            </a:r>
            <a:endParaRPr lang="en-US" sz="1500" dirty="0"/>
          </a:p>
          <a:p>
            <a:pPr marL="342900" indent="-342900">
              <a:spcAft>
                <a:spcPts val="800"/>
              </a:spcAft>
              <a:buSzPct val="100000"/>
              <a:buChar char="•"/>
            </a:pPr>
            <a:r>
              <a:rPr lang="en-US" sz="1500" dirty="0">
                <a:solidFill>
                  <a:schemeClr val="tx1"/>
                </a:solidFill>
              </a:rPr>
              <a:t>「中1ギャップ」の緩和</a:t>
            </a:r>
            <a:endParaRPr lang="en-US" sz="1500" dirty="0"/>
          </a:p>
          <a:p>
            <a:pPr marL="342900" indent="-342900">
              <a:spcAft>
                <a:spcPts val="800"/>
              </a:spcAft>
              <a:buSzPct val="100000"/>
              <a:buChar char="•"/>
            </a:pPr>
            <a:r>
              <a:rPr lang="en-US" sz="1500" dirty="0">
                <a:solidFill>
                  <a:schemeClr val="tx1"/>
                </a:solidFill>
              </a:rPr>
              <a:t>異学年交流の活性化</a:t>
            </a:r>
            <a:endParaRPr lang="en-US" sz="1500" dirty="0"/>
          </a:p>
          <a:p>
            <a:pPr marL="342900" indent="-342900">
              <a:spcAft>
                <a:spcPts val="800"/>
              </a:spcAft>
              <a:buSzPct val="100000"/>
              <a:buChar char="•"/>
            </a:pPr>
            <a:r>
              <a:rPr lang="en-US" sz="1500" dirty="0">
                <a:solidFill>
                  <a:schemeClr val="tx1"/>
                </a:solidFill>
              </a:rPr>
              <a:t>小・中の先生の連携強化</a:t>
            </a:r>
            <a:endParaRPr lang="en-US" sz="1500" dirty="0"/>
          </a:p>
        </p:txBody>
      </p:sp>
      <p:sp>
        <p:nvSpPr>
          <p:cNvPr id="6" name="caution"/>
          <p:cNvSpPr/>
          <p:nvPr/>
        </p:nvSpPr>
        <p:spPr>
          <a:xfrm>
            <a:off x="4663440" y="960120"/>
            <a:ext cx="4023360" cy="2103120"/>
          </a:xfrm>
          <a:prstGeom prst="roundRect">
            <a:avLst>
              <a:gd name="adj" fmla="val 3478"/>
            </a:avLst>
          </a:prstGeom>
          <a:solidFill>
            <a:schemeClr val="bg2"/>
          </a:solidFill>
          <a:ln/>
        </p:spPr>
      </p:sp>
      <p:sp>
        <p:nvSpPr>
          <p:cNvPr id="7" name="Text 5"/>
          <p:cNvSpPr txBox="1"/>
          <p:nvPr/>
        </p:nvSpPr>
        <p:spPr>
          <a:xfrm>
            <a:off x="4846320" y="1097280"/>
            <a:ext cx="3657600" cy="365760"/>
          </a:xfrm>
          <a:prstGeom prst="rect">
            <a:avLst/>
          </a:prstGeom>
          <a:noFill/>
          <a:ln/>
        </p:spPr>
        <p:txBody>
          <a:bodyPr wrap="square" lIns="0" tIns="0" rIns="0" bIns="0" rtlCol="0" anchor="t"/>
          <a:lstStyle/>
          <a:p>
            <a:pPr indent="0" marL="0">
              <a:buNone/>
            </a:pPr>
            <a:r>
              <a:rPr lang="en-US" sz="1700" b="1" dirty="0">
                <a:solidFill>
                  <a:schemeClr val="accent1"/>
                </a:solidFill>
              </a:rPr>
              <a:t>気をつけるポイント（一般論）</a:t>
            </a:r>
            <a:endParaRPr lang="en-US" sz="1700" dirty="0"/>
          </a:p>
        </p:txBody>
      </p:sp>
      <p:sp>
        <p:nvSpPr>
          <p:cNvPr id="8" name="Text 6"/>
          <p:cNvSpPr txBox="1"/>
          <p:nvPr/>
        </p:nvSpPr>
        <p:spPr>
          <a:xfrm>
            <a:off x="4846320" y="1554480"/>
            <a:ext cx="36576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人間関係が固定しやすい</a:t>
            </a:r>
            <a:endParaRPr lang="en-US" sz="1500" dirty="0"/>
          </a:p>
          <a:p>
            <a:pPr marL="342900" indent="-342900">
              <a:spcAft>
                <a:spcPts val="800"/>
              </a:spcAft>
              <a:buSzPct val="100000"/>
              <a:buChar char="•"/>
            </a:pPr>
            <a:r>
              <a:rPr lang="en-US" sz="1500" dirty="0">
                <a:solidFill>
                  <a:schemeClr val="tx1"/>
                </a:solidFill>
              </a:rPr>
              <a:t>上級生が低学年に与える影響への配慮</a:t>
            </a:r>
            <a:endParaRPr lang="en-US" sz="1500" dirty="0"/>
          </a:p>
          <a:p>
            <a:pPr marL="342900" indent="-342900">
              <a:spcAft>
                <a:spcPts val="800"/>
              </a:spcAft>
              <a:buSzPct val="100000"/>
              <a:buChar char="•"/>
            </a:pPr>
            <a:r>
              <a:rPr lang="en-US" sz="1500" dirty="0">
                <a:solidFill>
                  <a:schemeClr val="tx1"/>
                </a:solidFill>
              </a:rPr>
              <a:t>通学距離の負担</a:t>
            </a:r>
            <a:endParaRPr lang="en-US" sz="1500" dirty="0"/>
          </a:p>
        </p:txBody>
      </p:sp>
      <p:sp>
        <p:nvSpPr>
          <p:cNvPr id="9" name="wakaho-points"/>
          <p:cNvSpPr/>
          <p:nvPr/>
        </p:nvSpPr>
        <p:spPr>
          <a:xfrm>
            <a:off x="457200" y="3291840"/>
            <a:ext cx="8229600" cy="1188720"/>
          </a:xfrm>
          <a:prstGeom prst="roundRect">
            <a:avLst>
              <a:gd name="adj" fmla="val 6154"/>
            </a:avLst>
          </a:prstGeom>
          <a:solidFill>
            <a:schemeClr val="accent3"/>
          </a:solidFill>
          <a:ln/>
        </p:spPr>
      </p:sp>
      <p:sp>
        <p:nvSpPr>
          <p:cNvPr id="10" name="Text 8"/>
          <p:cNvSpPr txBox="1"/>
          <p:nvPr/>
        </p:nvSpPr>
        <p:spPr>
          <a:xfrm>
            <a:off x="640080" y="3474720"/>
            <a:ext cx="1828800" cy="822960"/>
          </a:xfrm>
          <a:prstGeom prst="rect">
            <a:avLst/>
          </a:prstGeom>
          <a:noFill/>
          <a:ln/>
        </p:spPr>
        <p:txBody>
          <a:bodyPr wrap="square" lIns="0" tIns="0" rIns="0" bIns="0" rtlCol="0" anchor="ctr"/>
          <a:lstStyle/>
          <a:p>
            <a:pPr indent="0" marL="0">
              <a:buNone/>
            </a:pPr>
            <a:r>
              <a:rPr lang="en-US" sz="1600" b="1" dirty="0">
                <a:solidFill>
                  <a:schemeClr val="bg1"/>
                </a:solidFill>
              </a:rPr>
              <a:t>若穂で考えるなら</a:t>
            </a:r>
            <a:endParaRPr lang="en-US" sz="1600" dirty="0"/>
          </a:p>
        </p:txBody>
      </p:sp>
      <p:sp>
        <p:nvSpPr>
          <p:cNvPr id="11" name="Text 9"/>
          <p:cNvSpPr txBox="1"/>
          <p:nvPr/>
        </p:nvSpPr>
        <p:spPr>
          <a:xfrm>
            <a:off x="2514600" y="3474720"/>
            <a:ext cx="6035040" cy="822960"/>
          </a:xfrm>
          <a:prstGeom prst="rect">
            <a:avLst/>
          </a:prstGeom>
          <a:noFill/>
          <a:ln/>
        </p:spPr>
        <p:txBody>
          <a:bodyPr wrap="square" lIns="0" tIns="0" rIns="0" bIns="0" rtlCol="0" anchor="ctr"/>
          <a:lstStyle/>
          <a:p>
            <a:pPr indent="0" marL="0">
              <a:buNone/>
            </a:pPr>
            <a:r>
              <a:rPr lang="en-US" sz="1500" dirty="0">
                <a:solidFill>
                  <a:schemeClr val="bg1"/>
                </a:solidFill>
              </a:rPr>
              <a:t>中学入学時の「段差」をなくせる一方、校地の場所によって通学距離が大きく変わります。通学方法や3小学校の跡地の活用も、あわせて検討が必要です。</a:t>
            </a:r>
            <a:endParaRPr lang="en-US" sz="15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411480" y="82296"/>
            <a:ext cx="7132320" cy="548640"/>
          </a:xfrm>
          <a:prstGeom prst="rect">
            <a:avLst/>
          </a:prstGeom>
          <a:noFill/>
          <a:ln/>
        </p:spPr>
        <p:txBody>
          <a:bodyPr wrap="square" lIns="0" tIns="0" rIns="0" bIns="0" rtlCol="0" anchor="ctr"/>
          <a:lstStyle/>
          <a:p>
            <a:pPr algn="l" indent="0" marL="0">
              <a:buNone/>
            </a:pPr>
            <a:r>
              <a:rPr lang="en-US" sz="2200" b="1" dirty="0">
                <a:solidFill>
                  <a:schemeClr val="bg1"/>
                </a:solidFill>
              </a:rPr>
              <a:t>今後の進め方（目安）</a:t>
            </a:r>
            <a:endParaRPr lang="en-US" sz="2200" dirty="0"/>
          </a:p>
        </p:txBody>
      </p:sp>
      <p:sp>
        <p:nvSpPr>
          <p:cNvPr id="3" name="Shape 1"/>
          <p:cNvSpPr/>
          <p:nvPr/>
        </p:nvSpPr>
        <p:spPr>
          <a:xfrm>
            <a:off x="1828800" y="1097280"/>
            <a:ext cx="0" cy="3291840"/>
          </a:xfrm>
          <a:prstGeom prst="line">
            <a:avLst/>
          </a:prstGeom>
          <a:noFill/>
          <a:ln w="25400">
            <a:solidFill>
              <a:srgbClr val="D5DAD7"/>
            </a:solidFill>
            <a:prstDash val="solid"/>
          </a:ln>
        </p:spPr>
      </p:sp>
      <p:sp>
        <p:nvSpPr>
          <p:cNvPr id="4" name="Text 2"/>
          <p:cNvSpPr txBox="1"/>
          <p:nvPr/>
        </p:nvSpPr>
        <p:spPr>
          <a:xfrm>
            <a:off x="457200" y="914400"/>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R8 秋〜冬</a:t>
            </a:r>
            <a:endParaRPr lang="en-US" sz="1400" dirty="0"/>
          </a:p>
        </p:txBody>
      </p:sp>
      <p:sp>
        <p:nvSpPr>
          <p:cNvPr id="5" name="Shape 3"/>
          <p:cNvSpPr/>
          <p:nvPr/>
        </p:nvSpPr>
        <p:spPr>
          <a:xfrm>
            <a:off x="1728216" y="1042416"/>
            <a:ext cx="201168" cy="201168"/>
          </a:xfrm>
          <a:prstGeom prst="ellipse">
            <a:avLst/>
          </a:prstGeom>
          <a:solidFill>
            <a:schemeClr val="accent1"/>
          </a:solidFill>
          <a:ln/>
        </p:spPr>
      </p:sp>
      <p:sp>
        <p:nvSpPr>
          <p:cNvPr id="6" name="now-row"/>
          <p:cNvSpPr/>
          <p:nvPr/>
        </p:nvSpPr>
        <p:spPr>
          <a:xfrm>
            <a:off x="2103120" y="896112"/>
            <a:ext cx="6583680" cy="493776"/>
          </a:xfrm>
          <a:prstGeom prst="roundRect">
            <a:avLst>
              <a:gd name="adj" fmla="val 14815"/>
            </a:avLst>
          </a:prstGeom>
          <a:solidFill>
            <a:schemeClr val="bg2"/>
          </a:solidFill>
          <a:ln/>
        </p:spPr>
      </p:sp>
      <p:sp>
        <p:nvSpPr>
          <p:cNvPr id="7" name="Text 5"/>
          <p:cNvSpPr txBox="1"/>
          <p:nvPr/>
        </p:nvSpPr>
        <p:spPr>
          <a:xfrm>
            <a:off x="2240280" y="914400"/>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住民説明会（本日）</a:t>
            </a:r>
            <a:endParaRPr lang="en-US" sz="1500" dirty="0"/>
          </a:p>
        </p:txBody>
      </p:sp>
      <p:sp>
        <p:nvSpPr>
          <p:cNvPr id="8" name="Text 6"/>
          <p:cNvSpPr txBox="1"/>
          <p:nvPr/>
        </p:nvSpPr>
        <p:spPr>
          <a:xfrm>
            <a:off x="4846320" y="914400"/>
            <a:ext cx="3794760" cy="457200"/>
          </a:xfrm>
          <a:prstGeom prst="rect">
            <a:avLst/>
          </a:prstGeom>
          <a:noFill/>
          <a:ln/>
        </p:spPr>
        <p:txBody>
          <a:bodyPr wrap="square" lIns="0" tIns="0" rIns="0" bIns="0" rtlCol="0" anchor="ctr"/>
          <a:lstStyle/>
          <a:p>
            <a:pPr indent="0" marL="0">
              <a:buNone/>
            </a:pPr>
            <a:r>
              <a:rPr lang="en-US" sz="1300" dirty="0">
                <a:solidFill>
                  <a:schemeClr val="tx1"/>
                </a:solidFill>
              </a:rPr>
              <a:t>進め方を共有し、ご意見をうかがう</a:t>
            </a:r>
            <a:endParaRPr lang="en-US" sz="1300" dirty="0"/>
          </a:p>
        </p:txBody>
      </p:sp>
      <p:sp>
        <p:nvSpPr>
          <p:cNvPr id="9" name="Text 7"/>
          <p:cNvSpPr txBox="1"/>
          <p:nvPr/>
        </p:nvSpPr>
        <p:spPr>
          <a:xfrm>
            <a:off x="457200" y="1517904"/>
            <a:ext cx="1188720" cy="457200"/>
          </a:xfrm>
          <a:prstGeom prst="rect">
            <a:avLst/>
          </a:prstGeom>
          <a:noFill/>
          <a:ln/>
        </p:spPr>
        <p:txBody>
          <a:bodyPr wrap="square" lIns="0" tIns="0" rIns="0" bIns="0" rtlCol="0" anchor="ctr"/>
          <a:lstStyle/>
          <a:p>
            <a:pPr indent="0" marL="0">
              <a:buNone/>
            </a:pPr>
            <a:r>
              <a:rPr lang="en-US" sz="1400" b="1" dirty="0">
                <a:solidFill>
                  <a:schemeClr val="accent5"/>
                </a:solidFill>
              </a:rPr>
              <a:t>R9 前半</a:t>
            </a:r>
            <a:endParaRPr lang="en-US" sz="1400" dirty="0"/>
          </a:p>
        </p:txBody>
      </p:sp>
      <p:sp>
        <p:nvSpPr>
          <p:cNvPr id="10" name="Shape 8"/>
          <p:cNvSpPr/>
          <p:nvPr/>
        </p:nvSpPr>
        <p:spPr>
          <a:xfrm>
            <a:off x="1728216" y="1645920"/>
            <a:ext cx="201168" cy="201168"/>
          </a:xfrm>
          <a:prstGeom prst="ellipse">
            <a:avLst/>
          </a:prstGeom>
          <a:solidFill>
            <a:schemeClr val="accent3"/>
          </a:solidFill>
          <a:ln/>
        </p:spPr>
      </p:sp>
      <p:sp>
        <p:nvSpPr>
          <p:cNvPr id="11" name="Text 9"/>
          <p:cNvSpPr txBox="1"/>
          <p:nvPr/>
        </p:nvSpPr>
        <p:spPr>
          <a:xfrm>
            <a:off x="2240280" y="1517904"/>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現状把握・アンケート</a:t>
            </a:r>
            <a:endParaRPr lang="en-US" sz="1500" dirty="0"/>
          </a:p>
        </p:txBody>
      </p:sp>
      <p:sp>
        <p:nvSpPr>
          <p:cNvPr id="12" name="Text 10"/>
          <p:cNvSpPr txBox="1"/>
          <p:nvPr/>
        </p:nvSpPr>
        <p:spPr>
          <a:xfrm>
            <a:off x="4846320" y="1517904"/>
            <a:ext cx="3794760" cy="457200"/>
          </a:xfrm>
          <a:prstGeom prst="rect">
            <a:avLst/>
          </a:prstGeom>
          <a:noFill/>
          <a:ln/>
        </p:spPr>
        <p:txBody>
          <a:bodyPr wrap="square" lIns="0" tIns="0" rIns="0" bIns="0" rtlCol="0" anchor="ctr"/>
          <a:lstStyle/>
          <a:p>
            <a:pPr indent="0" marL="0">
              <a:buNone/>
            </a:pPr>
            <a:r>
              <a:rPr lang="en-US" sz="1300" dirty="0">
                <a:solidFill>
                  <a:schemeClr val="tx1"/>
                </a:solidFill>
              </a:rPr>
              <a:t>保護者（未就学児を含む）へのアンケート、先行事例の視察</a:t>
            </a:r>
            <a:endParaRPr lang="en-US" sz="1300" dirty="0"/>
          </a:p>
        </p:txBody>
      </p:sp>
      <p:sp>
        <p:nvSpPr>
          <p:cNvPr id="13" name="Text 11"/>
          <p:cNvSpPr txBox="1"/>
          <p:nvPr/>
        </p:nvSpPr>
        <p:spPr>
          <a:xfrm>
            <a:off x="457200" y="2121408"/>
            <a:ext cx="1188720" cy="457200"/>
          </a:xfrm>
          <a:prstGeom prst="rect">
            <a:avLst/>
          </a:prstGeom>
          <a:noFill/>
          <a:ln/>
        </p:spPr>
        <p:txBody>
          <a:bodyPr wrap="square" lIns="0" tIns="0" rIns="0" bIns="0" rtlCol="0" anchor="ctr"/>
          <a:lstStyle/>
          <a:p>
            <a:pPr indent="0" marL="0">
              <a:buNone/>
            </a:pPr>
            <a:r>
              <a:rPr lang="en-US" sz="1400" b="1" dirty="0">
                <a:solidFill>
                  <a:schemeClr val="accent5"/>
                </a:solidFill>
              </a:rPr>
              <a:t>R9 後半</a:t>
            </a:r>
            <a:endParaRPr lang="en-US" sz="1400" dirty="0"/>
          </a:p>
        </p:txBody>
      </p:sp>
      <p:sp>
        <p:nvSpPr>
          <p:cNvPr id="14" name="Shape 12"/>
          <p:cNvSpPr/>
          <p:nvPr/>
        </p:nvSpPr>
        <p:spPr>
          <a:xfrm>
            <a:off x="1728216" y="2249424"/>
            <a:ext cx="201168" cy="201168"/>
          </a:xfrm>
          <a:prstGeom prst="ellipse">
            <a:avLst/>
          </a:prstGeom>
          <a:solidFill>
            <a:schemeClr val="accent3"/>
          </a:solidFill>
          <a:ln/>
        </p:spPr>
      </p:sp>
      <p:sp>
        <p:nvSpPr>
          <p:cNvPr id="15" name="Text 13"/>
          <p:cNvSpPr txBox="1"/>
          <p:nvPr/>
        </p:nvSpPr>
        <p:spPr>
          <a:xfrm>
            <a:off x="2240280" y="2121408"/>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選択肢の比較・中間報告</a:t>
            </a:r>
            <a:endParaRPr lang="en-US" sz="1500" dirty="0"/>
          </a:p>
        </p:txBody>
      </p:sp>
      <p:sp>
        <p:nvSpPr>
          <p:cNvPr id="16" name="Text 14"/>
          <p:cNvSpPr txBox="1"/>
          <p:nvPr/>
        </p:nvSpPr>
        <p:spPr>
          <a:xfrm>
            <a:off x="4846320" y="2121408"/>
            <a:ext cx="3794760" cy="457200"/>
          </a:xfrm>
          <a:prstGeom prst="rect">
            <a:avLst/>
          </a:prstGeom>
          <a:noFill/>
          <a:ln/>
        </p:spPr>
        <p:txBody>
          <a:bodyPr wrap="square" lIns="0" tIns="0" rIns="0" bIns="0" rtlCol="0" anchor="ctr"/>
          <a:lstStyle/>
          <a:p>
            <a:pPr indent="0" marL="0">
              <a:buNone/>
            </a:pPr>
            <a:r>
              <a:rPr lang="en-US" sz="1300" dirty="0">
                <a:solidFill>
                  <a:schemeClr val="tx1"/>
                </a:solidFill>
              </a:rPr>
              <a:t>同じ物差しで比較し、地区ごとの懇談会で報告</a:t>
            </a:r>
            <a:endParaRPr lang="en-US" sz="1300" dirty="0"/>
          </a:p>
        </p:txBody>
      </p:sp>
      <p:sp>
        <p:nvSpPr>
          <p:cNvPr id="17" name="Text 15"/>
          <p:cNvSpPr txBox="1"/>
          <p:nvPr/>
        </p:nvSpPr>
        <p:spPr>
          <a:xfrm>
            <a:off x="457200" y="2724912"/>
            <a:ext cx="1188720" cy="457200"/>
          </a:xfrm>
          <a:prstGeom prst="rect">
            <a:avLst/>
          </a:prstGeom>
          <a:noFill/>
          <a:ln/>
        </p:spPr>
        <p:txBody>
          <a:bodyPr wrap="square" lIns="0" tIns="0" rIns="0" bIns="0" rtlCol="0" anchor="ctr"/>
          <a:lstStyle/>
          <a:p>
            <a:pPr indent="0" marL="0">
              <a:buNone/>
            </a:pPr>
            <a:r>
              <a:rPr lang="en-US" sz="1400" b="1" dirty="0">
                <a:solidFill>
                  <a:schemeClr val="accent5"/>
                </a:solidFill>
              </a:rPr>
              <a:t>R10 前半</a:t>
            </a:r>
            <a:endParaRPr lang="en-US" sz="1400" dirty="0"/>
          </a:p>
        </p:txBody>
      </p:sp>
      <p:sp>
        <p:nvSpPr>
          <p:cNvPr id="18" name="Shape 16"/>
          <p:cNvSpPr/>
          <p:nvPr/>
        </p:nvSpPr>
        <p:spPr>
          <a:xfrm>
            <a:off x="1728216" y="2852928"/>
            <a:ext cx="201168" cy="201168"/>
          </a:xfrm>
          <a:prstGeom prst="ellipse">
            <a:avLst/>
          </a:prstGeom>
          <a:solidFill>
            <a:schemeClr val="accent3"/>
          </a:solidFill>
          <a:ln/>
        </p:spPr>
      </p:sp>
      <p:sp>
        <p:nvSpPr>
          <p:cNvPr id="19" name="Text 17"/>
          <p:cNvSpPr txBox="1"/>
          <p:nvPr/>
        </p:nvSpPr>
        <p:spPr>
          <a:xfrm>
            <a:off x="2240280" y="2724912"/>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地域の方向性をまとめる</a:t>
            </a:r>
            <a:endParaRPr lang="en-US" sz="1500" dirty="0"/>
          </a:p>
        </p:txBody>
      </p:sp>
      <p:sp>
        <p:nvSpPr>
          <p:cNvPr id="20" name="Text 18"/>
          <p:cNvSpPr txBox="1"/>
          <p:nvPr/>
        </p:nvSpPr>
        <p:spPr>
          <a:xfrm>
            <a:off x="4846320" y="2724912"/>
            <a:ext cx="3794760" cy="457200"/>
          </a:xfrm>
          <a:prstGeom prst="rect">
            <a:avLst/>
          </a:prstGeom>
          <a:noFill/>
          <a:ln/>
        </p:spPr>
        <p:txBody>
          <a:bodyPr wrap="square" lIns="0" tIns="0" rIns="0" bIns="0" rtlCol="0" anchor="ctr"/>
          <a:lstStyle/>
          <a:p>
            <a:pPr indent="0" marL="0">
              <a:buNone/>
            </a:pPr>
            <a:r>
              <a:rPr lang="en-US" sz="1300" dirty="0">
                <a:solidFill>
                  <a:schemeClr val="tx1"/>
                </a:solidFill>
              </a:rPr>
              <a:t>説明会と意見募集を経て、方向性案をまとめる</a:t>
            </a:r>
            <a:endParaRPr lang="en-US" sz="1300" dirty="0"/>
          </a:p>
        </p:txBody>
      </p:sp>
      <p:sp>
        <p:nvSpPr>
          <p:cNvPr id="21" name="Text 19"/>
          <p:cNvSpPr txBox="1"/>
          <p:nvPr/>
        </p:nvSpPr>
        <p:spPr>
          <a:xfrm>
            <a:off x="457200" y="3328416"/>
            <a:ext cx="1188720" cy="457200"/>
          </a:xfrm>
          <a:prstGeom prst="rect">
            <a:avLst/>
          </a:prstGeom>
          <a:noFill/>
          <a:ln/>
        </p:spPr>
        <p:txBody>
          <a:bodyPr wrap="square" lIns="0" tIns="0" rIns="0" bIns="0" rtlCol="0" anchor="ctr"/>
          <a:lstStyle/>
          <a:p>
            <a:pPr indent="0" marL="0">
              <a:buNone/>
            </a:pPr>
            <a:r>
              <a:rPr lang="en-US" sz="1400" b="1" dirty="0">
                <a:solidFill>
                  <a:schemeClr val="accent5"/>
                </a:solidFill>
              </a:rPr>
              <a:t>R10 後半〜</a:t>
            </a:r>
            <a:endParaRPr lang="en-US" sz="1400" dirty="0"/>
          </a:p>
        </p:txBody>
      </p:sp>
      <p:sp>
        <p:nvSpPr>
          <p:cNvPr id="22" name="Shape 20"/>
          <p:cNvSpPr/>
          <p:nvPr/>
        </p:nvSpPr>
        <p:spPr>
          <a:xfrm>
            <a:off x="1728216" y="3456432"/>
            <a:ext cx="201168" cy="201168"/>
          </a:xfrm>
          <a:prstGeom prst="ellipse">
            <a:avLst/>
          </a:prstGeom>
          <a:solidFill>
            <a:schemeClr val="accent3"/>
          </a:solidFill>
          <a:ln/>
        </p:spPr>
      </p:sp>
      <p:sp>
        <p:nvSpPr>
          <p:cNvPr id="23" name="Text 21"/>
          <p:cNvSpPr txBox="1"/>
          <p:nvPr/>
        </p:nvSpPr>
        <p:spPr>
          <a:xfrm>
            <a:off x="2240280" y="3328416"/>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長野市へ提言・市の検討</a:t>
            </a:r>
            <a:endParaRPr lang="en-US" sz="1500" dirty="0"/>
          </a:p>
        </p:txBody>
      </p:sp>
      <p:sp>
        <p:nvSpPr>
          <p:cNvPr id="24" name="Text 22"/>
          <p:cNvSpPr txBox="1"/>
          <p:nvPr/>
        </p:nvSpPr>
        <p:spPr>
          <a:xfrm>
            <a:off x="4846320" y="3328416"/>
            <a:ext cx="3794760" cy="457200"/>
          </a:xfrm>
          <a:prstGeom prst="rect">
            <a:avLst/>
          </a:prstGeom>
          <a:noFill/>
          <a:ln/>
        </p:spPr>
        <p:txBody>
          <a:bodyPr wrap="square" lIns="0" tIns="0" rIns="0" bIns="0" rtlCol="0" anchor="ctr"/>
          <a:lstStyle/>
          <a:p>
            <a:pPr indent="0" marL="0">
              <a:buNone/>
            </a:pPr>
            <a:r>
              <a:rPr lang="en-US" sz="1300" dirty="0">
                <a:solidFill>
                  <a:schemeClr val="tx1"/>
                </a:solidFill>
              </a:rPr>
              <a:t>意見書を提出し、市が方針を決める</a:t>
            </a:r>
            <a:endParaRPr lang="en-US" sz="1300" dirty="0"/>
          </a:p>
        </p:txBody>
      </p:sp>
      <p:sp>
        <p:nvSpPr>
          <p:cNvPr id="25" name="Text 23"/>
          <p:cNvSpPr txBox="1"/>
          <p:nvPr/>
        </p:nvSpPr>
        <p:spPr>
          <a:xfrm>
            <a:off x="457200" y="3931920"/>
            <a:ext cx="1188720" cy="457200"/>
          </a:xfrm>
          <a:prstGeom prst="rect">
            <a:avLst/>
          </a:prstGeom>
          <a:noFill/>
          <a:ln/>
        </p:spPr>
        <p:txBody>
          <a:bodyPr wrap="square" lIns="0" tIns="0" rIns="0" bIns="0" rtlCol="0" anchor="ctr"/>
          <a:lstStyle/>
          <a:p>
            <a:pPr indent="0" marL="0">
              <a:buNone/>
            </a:pPr>
            <a:r>
              <a:rPr lang="en-US" sz="1400" b="1" dirty="0">
                <a:solidFill>
                  <a:schemeClr val="accent5"/>
                </a:solidFill>
              </a:rPr>
              <a:t>その後</a:t>
            </a:r>
            <a:endParaRPr lang="en-US" sz="1400" dirty="0"/>
          </a:p>
        </p:txBody>
      </p:sp>
      <p:sp>
        <p:nvSpPr>
          <p:cNvPr id="26" name="Shape 24"/>
          <p:cNvSpPr/>
          <p:nvPr/>
        </p:nvSpPr>
        <p:spPr>
          <a:xfrm>
            <a:off x="1728216" y="4059936"/>
            <a:ext cx="201168" cy="201168"/>
          </a:xfrm>
          <a:prstGeom prst="ellipse">
            <a:avLst/>
          </a:prstGeom>
          <a:solidFill>
            <a:schemeClr val="accent3"/>
          </a:solidFill>
          <a:ln/>
        </p:spPr>
      </p:sp>
      <p:sp>
        <p:nvSpPr>
          <p:cNvPr id="27" name="Text 25"/>
          <p:cNvSpPr txBox="1"/>
          <p:nvPr/>
        </p:nvSpPr>
        <p:spPr>
          <a:xfrm>
            <a:off x="2240280" y="3931920"/>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移行準備（再編する場合）</a:t>
            </a:r>
            <a:endParaRPr lang="en-US" sz="1500" dirty="0"/>
          </a:p>
        </p:txBody>
      </p:sp>
      <p:sp>
        <p:nvSpPr>
          <p:cNvPr id="28" name="Text 26"/>
          <p:cNvSpPr txBox="1"/>
          <p:nvPr/>
        </p:nvSpPr>
        <p:spPr>
          <a:xfrm>
            <a:off x="4846320" y="3931920"/>
            <a:ext cx="3794760" cy="457200"/>
          </a:xfrm>
          <a:prstGeom prst="rect">
            <a:avLst/>
          </a:prstGeom>
          <a:noFill/>
          <a:ln/>
        </p:spPr>
        <p:txBody>
          <a:bodyPr wrap="square" lIns="0" tIns="0" rIns="0" bIns="0" rtlCol="0" anchor="ctr"/>
          <a:lstStyle/>
          <a:p>
            <a:pPr indent="0" marL="0">
              <a:buNone/>
            </a:pPr>
            <a:r>
              <a:rPr lang="en-US" sz="1300" dirty="0">
                <a:solidFill>
                  <a:schemeClr val="tx1"/>
                </a:solidFill>
              </a:rPr>
              <a:t>校名・通学方法・跡地活用などを協議</a:t>
            </a:r>
            <a:endParaRPr lang="en-US" sz="1300" dirty="0"/>
          </a:p>
        </p:txBody>
      </p:sp>
      <p:sp>
        <p:nvSpPr>
          <p:cNvPr id="29" name="Text 27"/>
          <p:cNvSpPr txBox="1"/>
          <p:nvPr/>
        </p:nvSpPr>
        <p:spPr>
          <a:xfrm>
            <a:off x="457200" y="4553712"/>
            <a:ext cx="8229600" cy="228600"/>
          </a:xfrm>
          <a:prstGeom prst="rect">
            <a:avLst/>
          </a:prstGeom>
          <a:noFill/>
          <a:ln/>
        </p:spPr>
        <p:txBody>
          <a:bodyPr wrap="square" lIns="0" tIns="0" rIns="0" bIns="0" rtlCol="0" anchor="t"/>
          <a:lstStyle/>
          <a:p>
            <a:pPr indent="0" marL="0">
              <a:buNone/>
            </a:pPr>
            <a:r>
              <a:rPr lang="en-US" sz="900" dirty="0">
                <a:solidFill>
                  <a:schemeClr val="accent5"/>
                </a:solidFill>
              </a:rPr>
              <a:t>時期は目安です。市の手続きの日程によって前後します。</a:t>
            </a:r>
            <a:endParaRPr lang="en-US" sz="900" dirty="0"/>
          </a:p>
        </p:txBody>
      </p:sp>
      <p:sp>
        <p:nvSpPr>
          <p:cNvPr id="25" name="Slide Number Placeholder 0"/>
          <p:cNvSpPr>
            <a:spLocks noGrp="1"/>
          </p:cNvSpPr>
          <p:nvPr>
            <p:ph type="sldNum" sz="quarter" idx="4294967295"/>
          </p:nvPr>
        </p:nvSpPr>
        <p:spPr>
          <a:xfrm>
            <a:off x="8321040" y="4791456"/>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皆さんのご意見を</a:t>
            </a:r>
            <a:endParaRPr lang="en-US" sz="3400" dirty="0"/>
          </a:p>
          <a:p>
            <a:pPr algn="l" indent="0" marL="0">
              <a:buNone/>
            </a:pPr>
            <a:r>
              <a:rPr lang="en-US" sz="3400" b="1" dirty="0">
                <a:solidFill>
                  <a:schemeClr val="bg1"/>
                </a:solidFill>
              </a:rPr>
              <a:t>お聞かせください</a:t>
            </a:r>
            <a:endParaRPr lang="en-US" sz="3400" dirty="0"/>
          </a:p>
        </p:txBody>
      </p:sp>
      <p:sp>
        <p:nvSpPr>
          <p:cNvPr id="3" name="Shape 1"/>
          <p:cNvSpPr/>
          <p:nvPr/>
        </p:nvSpPr>
        <p:spPr>
          <a:xfrm>
            <a:off x="548640" y="2606040"/>
            <a:ext cx="2377440" cy="0"/>
          </a:xfrm>
          <a:prstGeom prst="line">
            <a:avLst/>
          </a:prstGeom>
          <a:noFill/>
          <a:ln w="38100">
            <a:solidFill>
              <a:srgbClr val="E2B43B"/>
            </a:solidFill>
            <a:prstDash val="solid"/>
          </a:ln>
        </p:spPr>
      </p:sp>
      <p:sp>
        <p:nvSpPr>
          <p:cNvPr id="4" name="Text 2"/>
          <p:cNvSpPr txBox="1"/>
          <p:nvPr/>
        </p:nvSpPr>
        <p:spPr>
          <a:xfrm>
            <a:off x="548640" y="2788920"/>
            <a:ext cx="2377440" cy="411480"/>
          </a:xfrm>
          <a:prstGeom prst="rect">
            <a:avLst/>
          </a:prstGeom>
          <a:noFill/>
          <a:ln/>
        </p:spPr>
        <p:txBody>
          <a:bodyPr wrap="square" lIns="0" tIns="0" rIns="0" bIns="0" rtlCol="0" anchor="t"/>
          <a:lstStyle/>
          <a:p>
            <a:pPr indent="0" marL="0">
              <a:buNone/>
            </a:pPr>
            <a:r>
              <a:rPr lang="en-US" sz="1800" b="1" dirty="0">
                <a:solidFill>
                  <a:schemeClr val="bg1"/>
                </a:solidFill>
              </a:rPr>
              <a:t>会場で</a:t>
            </a:r>
            <a:endParaRPr lang="en-US" sz="1800" dirty="0"/>
          </a:p>
        </p:txBody>
      </p:sp>
      <p:sp>
        <p:nvSpPr>
          <p:cNvPr id="5" name="Text 3"/>
          <p:cNvSpPr txBox="1"/>
          <p:nvPr/>
        </p:nvSpPr>
        <p:spPr>
          <a:xfrm>
            <a:off x="548640" y="3291840"/>
            <a:ext cx="2377440" cy="1005840"/>
          </a:xfrm>
          <a:prstGeom prst="rect">
            <a:avLst/>
          </a:prstGeom>
          <a:noFill/>
          <a:ln/>
        </p:spPr>
        <p:txBody>
          <a:bodyPr wrap="square" lIns="0" tIns="0" rIns="0" bIns="0" rtlCol="0" anchor="t"/>
          <a:lstStyle/>
          <a:p>
            <a:pPr indent="0" marL="0">
              <a:lnSpc>
                <a:spcPct val="120000"/>
              </a:lnSpc>
              <a:buNone/>
            </a:pPr>
            <a:r>
              <a:rPr lang="en-US" sz="1400" dirty="0">
                <a:solidFill>
                  <a:schemeClr val="bg1"/>
                </a:solidFill>
              </a:rPr>
              <a:t>お配りした意見シートにご記入ください</a:t>
            </a:r>
            <a:endParaRPr lang="en-US" sz="1400" dirty="0"/>
          </a:p>
        </p:txBody>
      </p:sp>
      <p:sp>
        <p:nvSpPr>
          <p:cNvPr id="6" name="Shape 4"/>
          <p:cNvSpPr/>
          <p:nvPr/>
        </p:nvSpPr>
        <p:spPr>
          <a:xfrm>
            <a:off x="3291840" y="2606040"/>
            <a:ext cx="2377440" cy="0"/>
          </a:xfrm>
          <a:prstGeom prst="line">
            <a:avLst/>
          </a:prstGeom>
          <a:noFill/>
          <a:ln w="38100">
            <a:solidFill>
              <a:srgbClr val="E2B43B"/>
            </a:solidFill>
            <a:prstDash val="solid"/>
          </a:ln>
        </p:spPr>
      </p:sp>
      <p:sp>
        <p:nvSpPr>
          <p:cNvPr id="7" name="Text 5"/>
          <p:cNvSpPr txBox="1"/>
          <p:nvPr/>
        </p:nvSpPr>
        <p:spPr>
          <a:xfrm>
            <a:off x="3291840" y="2788920"/>
            <a:ext cx="2377440" cy="411480"/>
          </a:xfrm>
          <a:prstGeom prst="rect">
            <a:avLst/>
          </a:prstGeom>
          <a:noFill/>
          <a:ln/>
        </p:spPr>
        <p:txBody>
          <a:bodyPr wrap="square" lIns="0" tIns="0" rIns="0" bIns="0" rtlCol="0" anchor="t"/>
          <a:lstStyle/>
          <a:p>
            <a:pPr indent="0" marL="0">
              <a:buNone/>
            </a:pPr>
            <a:r>
              <a:rPr lang="en-US" sz="1800" b="1" dirty="0">
                <a:solidFill>
                  <a:schemeClr val="bg1"/>
                </a:solidFill>
              </a:rPr>
              <a:t>後日</a:t>
            </a:r>
            <a:endParaRPr lang="en-US" sz="1800" dirty="0"/>
          </a:p>
        </p:txBody>
      </p:sp>
      <p:sp>
        <p:nvSpPr>
          <p:cNvPr id="8" name="Text 6"/>
          <p:cNvSpPr txBox="1"/>
          <p:nvPr/>
        </p:nvSpPr>
        <p:spPr>
          <a:xfrm>
            <a:off x="3291840" y="3291840"/>
            <a:ext cx="2377440" cy="1005840"/>
          </a:xfrm>
          <a:prstGeom prst="rect">
            <a:avLst/>
          </a:prstGeom>
          <a:noFill/>
          <a:ln/>
        </p:spPr>
        <p:txBody>
          <a:bodyPr wrap="square" lIns="0" tIns="0" rIns="0" bIns="0" rtlCol="0" anchor="t"/>
          <a:lstStyle/>
          <a:p>
            <a:pPr indent="0" marL="0">
              <a:lnSpc>
                <a:spcPct val="120000"/>
              </a:lnSpc>
              <a:buNone/>
            </a:pPr>
            <a:r>
              <a:rPr lang="en-US" sz="1400" dirty="0">
                <a:solidFill>
                  <a:schemeClr val="bg1"/>
                </a:solidFill>
              </a:rPr>
              <a:t>[提出先・メールアドレス・QRコード]</a:t>
            </a:r>
            <a:endParaRPr lang="en-US" sz="1400" dirty="0"/>
          </a:p>
          <a:p>
            <a:pPr indent="0" marL="0">
              <a:lnSpc>
                <a:spcPct val="120000"/>
              </a:lnSpc>
              <a:buNone/>
            </a:pPr>
            <a:r>
              <a:rPr lang="en-US" sz="1400" dirty="0">
                <a:solidFill>
                  <a:schemeClr val="bg1"/>
                </a:solidFill>
              </a:rPr>
              <a:t>[締切：R8.○.○]</a:t>
            </a:r>
            <a:endParaRPr lang="en-US" sz="1400" dirty="0"/>
          </a:p>
        </p:txBody>
      </p:sp>
      <p:sp>
        <p:nvSpPr>
          <p:cNvPr id="9" name="Shape 7"/>
          <p:cNvSpPr/>
          <p:nvPr/>
        </p:nvSpPr>
        <p:spPr>
          <a:xfrm>
            <a:off x="6035040" y="2606040"/>
            <a:ext cx="2377440" cy="0"/>
          </a:xfrm>
          <a:prstGeom prst="line">
            <a:avLst/>
          </a:prstGeom>
          <a:noFill/>
          <a:ln w="38100">
            <a:solidFill>
              <a:srgbClr val="E2B43B"/>
            </a:solidFill>
            <a:prstDash val="solid"/>
          </a:ln>
        </p:spPr>
      </p:sp>
      <p:sp>
        <p:nvSpPr>
          <p:cNvPr id="10" name="Text 8"/>
          <p:cNvSpPr txBox="1"/>
          <p:nvPr/>
        </p:nvSpPr>
        <p:spPr>
          <a:xfrm>
            <a:off x="6035040" y="2788920"/>
            <a:ext cx="2377440" cy="411480"/>
          </a:xfrm>
          <a:prstGeom prst="rect">
            <a:avLst/>
          </a:prstGeom>
          <a:noFill/>
          <a:ln/>
        </p:spPr>
        <p:txBody>
          <a:bodyPr wrap="square" lIns="0" tIns="0" rIns="0" bIns="0" rtlCol="0" anchor="t"/>
          <a:lstStyle/>
          <a:p>
            <a:pPr indent="0" marL="0">
              <a:buNone/>
            </a:pPr>
            <a:r>
              <a:rPr lang="en-US" sz="1800" b="1" dirty="0">
                <a:solidFill>
                  <a:schemeClr val="bg1"/>
                </a:solidFill>
              </a:rPr>
              <a:t>お問い合わせ</a:t>
            </a:r>
            <a:endParaRPr lang="en-US" sz="1800" dirty="0"/>
          </a:p>
        </p:txBody>
      </p:sp>
      <p:sp>
        <p:nvSpPr>
          <p:cNvPr id="11" name="Text 9"/>
          <p:cNvSpPr txBox="1"/>
          <p:nvPr/>
        </p:nvSpPr>
        <p:spPr>
          <a:xfrm>
            <a:off x="6035040" y="3291840"/>
            <a:ext cx="2377440" cy="1005840"/>
          </a:xfrm>
          <a:prstGeom prst="rect">
            <a:avLst/>
          </a:prstGeom>
          <a:noFill/>
          <a:ln/>
        </p:spPr>
        <p:txBody>
          <a:bodyPr wrap="square" lIns="0" tIns="0" rIns="0" bIns="0" rtlCol="0" anchor="t"/>
          <a:lstStyle/>
          <a:p>
            <a:pPr indent="0" marL="0">
              <a:lnSpc>
                <a:spcPct val="120000"/>
              </a:lnSpc>
              <a:buNone/>
            </a:pPr>
            <a:r>
              <a:rPr lang="en-US" sz="1400" dirty="0">
                <a:solidFill>
                  <a:schemeClr val="bg1"/>
                </a:solidFill>
              </a:rPr>
              <a:t>長野市教育委員会</a:t>
            </a:r>
            <a:endParaRPr lang="en-US" sz="1400" dirty="0"/>
          </a:p>
          <a:p>
            <a:pPr indent="0" marL="0">
              <a:lnSpc>
                <a:spcPct val="120000"/>
              </a:lnSpc>
              <a:buNone/>
            </a:pPr>
            <a:r>
              <a:rPr lang="en-US" sz="1400" dirty="0">
                <a:solidFill>
                  <a:schemeClr val="bg1"/>
                </a:solidFill>
              </a:rPr>
              <a:t>学校教育課 [電話番号]</a:t>
            </a:r>
            <a:endParaRPr lang="en-US" sz="1400" dirty="0"/>
          </a:p>
        </p:txBody>
      </p:sp>
    </p:spTree>
  </p:cSld>
  <p:clrMapOvr>
    <a:masterClrMapping/>
  </p:clrMapOvr>
</p:sld>
</file>

<file path=ppt/theme/theme1.xml><?xml version="1.0" encoding="utf-8"?>
<a:theme xmlns:a="http://schemas.openxmlformats.org/drawingml/2006/main" name="Wakaho">
  <a:themeElements>
    <a:clrScheme name="Wakaho">
      <a:dk1>
        <a:srgbClr val="222222"/>
      </a:dk1>
      <a:lt1>
        <a:srgbClr val="FFFFFF"/>
      </a:lt1>
      <a:dk2>
        <a:srgbClr val="2E4A3A"/>
      </a:dk2>
      <a:lt2>
        <a:srgbClr val="F1F3F2"/>
      </a:lt2>
      <a:accent1>
        <a:srgbClr val="E1582B"/>
      </a:accent1>
      <a:accent2>
        <a:srgbClr val="2B84C6"/>
      </a:accent2>
      <a:accent3>
        <a:srgbClr val="2E4A3A"/>
      </a:accent3>
      <a:accent4>
        <a:srgbClr val="E2B43B"/>
      </a:accent4>
      <a:accent5>
        <a:srgbClr val="8A968F"/>
      </a:accent5>
      <a:accent6>
        <a:srgbClr val="B23A2A"/>
      </a:accent6>
      <a:hlink>
        <a:srgbClr val="2B84C6"/>
      </a:hlink>
      <a:folHlink>
        <a:srgbClr val="6B4E9B"/>
      </a:folHlink>
    </a:clrScheme>
    <a:fontScheme name="Wakaho">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若穂地区住民説明会資料（案）</dc:title>
  <dc:subject>PptxGenJS Presentation</dc:subject>
  <dc:creator>若穂地区小中学校再編検討委員会</dc:creator>
  <cp:lastModifiedBy>若穂地区小中学校再編検討委員会</cp:lastModifiedBy>
  <cp:revision>1</cp:revision>
  <dcterms:created xsi:type="dcterms:W3CDTF">2026-10-27T10:52:53Z</dcterms:created>
  <dcterms:modified xsi:type="dcterms:W3CDTF">2026-10-27T10:52:53Z</dcterms:modified>
</cp:coreProperties>
</file>